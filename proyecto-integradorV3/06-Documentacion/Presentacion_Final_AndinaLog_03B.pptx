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Lecturas</c:v>
          </c:tx>
          <c:spPr>
            <a:solidFill>
              <a:srgbClr val="2E5B8A"/>
            </a:solidFill>
          </c:spPr>
          <c:invertIfNegative val="1"/>
          <c:dLbls>
            <c:spPr>
              <a:noFill/>
              <a:ln>
                <a:noFill/>
              </a:ln>
              <a:effectLst/>
            </c:spPr>
            <c:txPr>
              <a:bodyPr anchorCtr="1"/>
              <a:lstStyle/>
              <a:p>
                <a:pPr>
                  <a:defRPr sz="825" b="1">
                    <a:solidFill>
                      <a:srgbClr val="1F38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Sin desviación</c:v>
              </c:pt>
              <c:pt idx="1">
                <c:v>Con desviación</c:v>
              </c:pt>
            </c:strLit>
          </c:cat>
          <c:val>
            <c:numLit>
              <c:formatCode>General</c:formatCode>
              <c:ptCount val="2"/>
              <c:pt idx="0">
                <c:v>24501</c:v>
              </c:pt>
              <c:pt idx="1">
                <c:v>1296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F76-481E-812C-BF4C5AA1407F}"/>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E2F0"/>
            </a:solidFill>
          </a:ln>
        </c:spPr>
        <c:txPr>
          <a:bodyPr anchorCtr="1"/>
          <a:lstStyle/>
          <a:p>
            <a:pPr>
              <a:defRPr sz="825">
                <a:solidFill>
                  <a:srgbClr val="1F3864"/>
                </a:solidFill>
                <a:latin typeface="Arial"/>
                <a:ea typeface="Arial"/>
                <a:cs typeface="Arial"/>
              </a:defRPr>
            </a:pPr>
            <a:endParaRPr lang="en-US"/>
          </a:p>
        </c:txPr>
        <c:crossAx val="48650112"/>
        <c:crosses val="autoZero"/>
        <c:crossBetween val="between"/>
      </c:valAx>
      <c:spPr>
        <a:solidFill>
          <a:srgbClr val="FFFFFF"/>
        </a:solidFill>
        <a:ln w="0">
          <a:solidFill>
            <a:srgbClr val="FFFFFF"/>
          </a:solidFill>
        </a:ln>
      </c:spPr>
    </c:plotArea>
    <c:plotVisOnly val="1"/>
    <c:dispBlanksAs val="zero"/>
    <c:showDLblsOverMax val="1"/>
  </c:chart>
  <c:spPr>
    <a:solidFill>
      <a:srgbClr val="FFFFFF"/>
    </a:solidFill>
    <a:ln w="0">
      <a:solidFill>
        <a:srgbClr val="FFFFFF"/>
      </a:solid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Desviación futura</c:v>
          </c:tx>
          <c:spPr>
            <a:solidFill>
              <a:srgbClr val="2E5B8A"/>
            </a:solidFill>
          </c:spPr>
          <c:invertIfNegative val="1"/>
          <c:dLbls>
            <c:spPr>
              <a:noFill/>
              <a:ln>
                <a:noFill/>
              </a:ln>
              <a:effectLst/>
            </c:spPr>
            <c:txPr>
              <a:bodyPr anchorCtr="1"/>
              <a:lstStyle/>
              <a:p>
                <a:pPr>
                  <a:defRPr sz="825" b="1">
                    <a:solidFill>
                      <a:srgbClr val="1F38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Sin desviación actual</c:v>
              </c:pt>
              <c:pt idx="1">
                <c:v>Con desviación actual</c:v>
              </c:pt>
            </c:strLit>
          </c:cat>
          <c:val>
            <c:numLit>
              <c:formatCode>0.00%</c:formatCode>
              <c:ptCount val="2"/>
              <c:pt idx="0">
                <c:v>3.0300000000000001E-2</c:v>
              </c:pt>
              <c:pt idx="1">
                <c:v>0.59409999999999996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E80-4D29-A3B3-36915C40E1EC}"/>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0.00%" sourceLinked="1"/>
        <c:majorTickMark val="none"/>
        <c:minorTickMark val="none"/>
        <c:tickLblPos val="nextTo"/>
        <c:spPr>
          <a:ln w="9525">
            <a:solidFill>
              <a:srgbClr val="D9E2F0"/>
            </a:solidFill>
          </a:ln>
        </c:spPr>
        <c:txPr>
          <a:bodyPr anchorCtr="1"/>
          <a:lstStyle/>
          <a:p>
            <a:pPr>
              <a:defRPr sz="750">
                <a:solidFill>
                  <a:srgbClr val="1F3864"/>
                </a:solidFill>
                <a:latin typeface="Arial"/>
                <a:ea typeface="Arial"/>
                <a:cs typeface="Arial"/>
              </a:defRPr>
            </a:pPr>
            <a:endParaRPr lang="en-US"/>
          </a:p>
        </c:txPr>
        <c:crossAx val="48650112"/>
        <c:crosses val="autoZero"/>
        <c:crossBetween val="between"/>
      </c:valAx>
      <c:spPr>
        <a:solidFill>
          <a:srgbClr val="FFFFFF"/>
        </a:solidFill>
        <a:ln w="0">
          <a:solidFill>
            <a:srgbClr val="FFFFFF"/>
          </a:solidFill>
        </a:ln>
      </c:spPr>
    </c:plotArea>
    <c:plotVisOnly val="1"/>
    <c:dispBlanksAs val="zero"/>
    <c:showDLblsOverMax val="1"/>
  </c:chart>
  <c:spPr>
    <a:solidFill>
      <a:srgbClr val="FFFFFF"/>
    </a:solidFill>
    <a:ln w="0">
      <a:solidFill>
        <a:srgbClr val="FFFFFF"/>
      </a:solid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 el problema en términos operativos. AndinaLog necesita anticipar una desviación térmica durante la siguiente hora. El modelo apoya la priorización de revisiones humanas y no toma decisiones automáticas.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el contrato analítico de izquierda a derecha. Cada fila es una lectura. Solo se usan datos disponibles en ese momento para anticipar lo que ocurrirá durante los 60 minutos siguientes.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Resuma la preparación. El proceso nunca elimina evidencia sin dejar rastro. Silver y cuarentena concilian exactamente con Bronze, y Gold conserva una fila por cada lectura aprobada.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Empiece por el desbalance. Después compare el riesgo según la desviación actual. Cierre aclarando que las diferencias de temperatura y humedad ayudan a predecir, pero no prueban causas.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línea base siempre responde que no habrá desviación y por eso falla en el objetivo operativo. La regresión logística mejora la clasificación del riesgo y mantiene una interpretación sencilla.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 la matriz con un ejemplo. El modelo detectó 130 eventos y omitió 148. También produjo 331 revisiones innecesarias. El umbral 0,50 es una referencia inicial y no una regla operativa definitiva.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cada métrica sin fórmulas. Recall indica cuántos eventos reales se detectan. Precisión indica cuántas alertas aciertan. PR AUC resume la capacidad de ordenar el riesgo cuando los eventos son poco frecuentes.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Explique que el proyecto mantiene la trazabilidad. Los 455 registros en cuarentena no desaparecen. Las 2.668 ventanas sin futuro completo permanecen en Gold, aunque no participan en el entrenamiento.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Conecte cada acción con una evidencia. La primera decisión es usar el modelo como lista de prioridad. La segunda es acordar cuánto cuesta omitir un evento y cuánto cuesta revisar una falsa alerta.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con honestidad. El proyecto entrega una señal útil para priorizar revisiones, pero no sustituye al equipo operativo. El siguiente paso es definir costos, validar el umbral y monitorear el modelo con datos nuevos.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59F5DD4-DAD2-44CA-B885-174239B6A5A1}"/>
              </a:ext>
            </a:extLst>
          </p:cNvPr>
          <p:cNvSpPr>
            <a:spLocks noGrp="1"/>
          </p:cNvSpPr>
          <p:nvPr/>
        </p:nvSpPr>
        <p:spPr>
          <a:xfrm>
            <a:off x="0" y="0"/>
            <a:ext cx="7239000" cy="6858000"/>
          </a:xfrm>
          <a:prstGeom prst="rect">
            <a:avLst/>
          </a:prstGeom>
          <a:solidFill>
            <a:srgbClr val="1F3864"/>
          </a:solidFill>
          <a:ln w="0">
            <a:noFill/>
            <a:prstDash val="solid"/>
          </a:ln>
        </p:spPr>
        <p:txBody>
          <a:bodyPr/>
          <a:lstStyle/>
          <a:p>
            <a:endParaRPr/>
          </a:p>
        </p:txBody>
      </p:sp>
      <p:sp>
        <p:nvSpPr>
          <p:cNvPr id="2" name="Rectangle 1">
            <a:extLst>
              <a:ext uri="{FF2B5EF4-FFF2-40B4-BE49-F238E27FC236}">
                <a16:creationId xmlns:a16="http://schemas.microsoft.com/office/drawing/2014/main" id="{83DE07D5-96FB-4966-8A33-B2AD6C2717EA}"/>
              </a:ext>
            </a:extLst>
          </p:cNvPr>
          <p:cNvSpPr>
            <a:spLocks noGrp="1"/>
          </p:cNvSpPr>
          <p:nvPr/>
        </p:nvSpPr>
        <p:spPr>
          <a:xfrm>
            <a:off x="7239000" y="0"/>
            <a:ext cx="4953000" cy="114300"/>
          </a:xfrm>
          <a:prstGeom prst="rect">
            <a:avLst/>
          </a:prstGeom>
          <a:solidFill>
            <a:srgbClr val="2E5B8A"/>
          </a:solidFill>
          <a:ln w="0">
            <a:noFill/>
            <a:prstDash val="solid"/>
          </a:ln>
        </p:spPr>
        <p:txBody>
          <a:bodyPr/>
          <a:lstStyle/>
          <a:p>
            <a:endParaRPr/>
          </a:p>
        </p:txBody>
      </p:sp>
      <p:sp>
        <p:nvSpPr>
          <p:cNvPr id="3" name="Rectangle: Rounded Corners 2">
            <a:extLst>
              <a:ext uri="{FF2B5EF4-FFF2-40B4-BE49-F238E27FC236}">
                <a16:creationId xmlns:a16="http://schemas.microsoft.com/office/drawing/2014/main" id="{33807AC3-ECAC-4183-A22C-0EA9E6C2D9E1}"/>
              </a:ext>
            </a:extLst>
          </p:cNvPr>
          <p:cNvSpPr>
            <a:spLocks noGrp="1"/>
          </p:cNvSpPr>
          <p:nvPr/>
        </p:nvSpPr>
        <p:spPr>
          <a:xfrm>
            <a:off x="609600" y="533400"/>
            <a:ext cx="2686050" cy="285750"/>
          </a:xfrm>
          <a:prstGeom prst="roundRect">
            <a:avLst>
              <a:gd name="adj" fmla="val 50000"/>
            </a:avLst>
          </a:prstGeom>
          <a:solidFill>
            <a:srgbClr val="2E5B8A"/>
          </a:solidFill>
          <a:ln w="0">
            <a:noFill/>
            <a:prstDash val="solid"/>
          </a:ln>
        </p:spPr>
        <p:txBody>
          <a:bodyPr anchor="ctr">
            <a:no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PRESENTACIÓN FINAL</a:t>
            </a:r>
          </a:p>
        </p:txBody>
      </p:sp>
      <p:sp>
        <p:nvSpPr>
          <p:cNvPr id="4" name="Rectangle 3">
            <a:extLst>
              <a:ext uri="{FF2B5EF4-FFF2-40B4-BE49-F238E27FC236}">
                <a16:creationId xmlns:a16="http://schemas.microsoft.com/office/drawing/2014/main" id="{FBA383E0-131C-4AA5-8947-33DAACA7F7FB}"/>
              </a:ext>
            </a:extLst>
          </p:cNvPr>
          <p:cNvSpPr>
            <a:spLocks noGrp="1"/>
          </p:cNvSpPr>
          <p:nvPr/>
        </p:nvSpPr>
        <p:spPr>
          <a:xfrm>
            <a:off x="609600" y="1238250"/>
            <a:ext cx="5905500" cy="1143000"/>
          </a:xfrm>
          <a:prstGeom prst="rect">
            <a:avLst/>
          </a:prstGeom>
          <a:noFill/>
          <a:ln w="0">
            <a:noFill/>
          </a:ln>
        </p:spPr>
        <p:txBody>
          <a:bodyPr anchor="t">
            <a:noAutofit/>
          </a:bodyPr>
          <a:lstStyle/>
          <a:p>
            <a:pPr algn="l">
              <a:buNone/>
              <a:defRPr sz="3225" b="1" i="0">
                <a:solidFill>
                  <a:srgbClr val="FFFFFF"/>
                </a:solidFill>
                <a:latin typeface="Arial"/>
                <a:ea typeface="Arial"/>
                <a:cs typeface="Arial"/>
              </a:defRPr>
            </a:pPr>
            <a:r>
              <a:rPr sz="3225" b="1" i="0">
                <a:solidFill>
                  <a:srgbClr val="FFFFFF"/>
                </a:solidFill>
                <a:latin typeface="Arial"/>
                <a:ea typeface="Arial"/>
                <a:cs typeface="Arial"/>
              </a:rPr>
              <a:t>AndinaLog 03B: riesgo térmico futuro</a:t>
            </a:r>
          </a:p>
        </p:txBody>
      </p:sp>
      <p:sp>
        <p:nvSpPr>
          <p:cNvPr id="5" name="Rectangle 4">
            <a:extLst>
              <a:ext uri="{FF2B5EF4-FFF2-40B4-BE49-F238E27FC236}">
                <a16:creationId xmlns:a16="http://schemas.microsoft.com/office/drawing/2014/main" id="{0AC1FC3D-7964-4566-8398-79F27207D567}"/>
              </a:ext>
            </a:extLst>
          </p:cNvPr>
          <p:cNvSpPr>
            <a:spLocks noGrp="1"/>
          </p:cNvSpPr>
          <p:nvPr/>
        </p:nvSpPr>
        <p:spPr>
          <a:xfrm>
            <a:off x="609600" y="2543175"/>
            <a:ext cx="4953000" cy="342900"/>
          </a:xfrm>
          <a:prstGeom prst="rect">
            <a:avLst/>
          </a:prstGeom>
          <a:noFill/>
          <a:ln w="0">
            <a:noFill/>
          </a:ln>
        </p:spPr>
        <p:txBody>
          <a:bodyPr anchor="t">
            <a:noAutofit/>
          </a:bodyPr>
          <a:lstStyle/>
          <a:p>
            <a:pPr algn="l">
              <a:buNone/>
              <a:defRPr sz="1575" b="0" i="0">
                <a:solidFill>
                  <a:srgbClr val="EDF2F7"/>
                </a:solidFill>
                <a:latin typeface="Arial"/>
                <a:ea typeface="Arial"/>
                <a:cs typeface="Arial"/>
              </a:defRPr>
            </a:pPr>
            <a:r>
              <a:rPr sz="1575" b="0" i="0">
                <a:solidFill>
                  <a:srgbClr val="EDF2F7"/>
                </a:solidFill>
                <a:latin typeface="Arial"/>
                <a:ea typeface="Arial"/>
                <a:cs typeface="Arial"/>
              </a:rPr>
              <a:t>GIAD · Proyecto Integrador · Módulo 3</a:t>
            </a:r>
          </a:p>
        </p:txBody>
      </p:sp>
      <p:sp>
        <p:nvSpPr>
          <p:cNvPr id="6" name="Rectangle 5">
            <a:extLst>
              <a:ext uri="{FF2B5EF4-FFF2-40B4-BE49-F238E27FC236}">
                <a16:creationId xmlns:a16="http://schemas.microsoft.com/office/drawing/2014/main" id="{47462B59-31AF-4ADD-A266-63064225B995}"/>
              </a:ext>
            </a:extLst>
          </p:cNvPr>
          <p:cNvSpPr>
            <a:spLocks noGrp="1"/>
          </p:cNvSpPr>
          <p:nvPr/>
        </p:nvSpPr>
        <p:spPr>
          <a:xfrm>
            <a:off x="609600" y="3181350"/>
            <a:ext cx="5905500" cy="342900"/>
          </a:xfrm>
          <a:prstGeom prst="rect">
            <a:avLst/>
          </a:prstGeom>
          <a:noFill/>
          <a:ln w="0">
            <a:noFill/>
          </a:ln>
        </p:spPr>
        <p:txBody>
          <a:bodyPr anchor="t">
            <a:noAutofit/>
          </a:bodyPr>
          <a:lstStyle/>
          <a:p>
            <a:pPr algn="l">
              <a:buNone/>
              <a:defRPr sz="1500" b="1" i="0">
                <a:solidFill>
                  <a:srgbClr val="FFFFFF"/>
                </a:solidFill>
                <a:latin typeface="Arial"/>
                <a:ea typeface="Arial"/>
                <a:cs typeface="Arial"/>
              </a:defRPr>
            </a:pPr>
            <a:r>
              <a:rPr sz="1500" b="1" i="0">
                <a:solidFill>
                  <a:srgbClr val="FFFFFF"/>
                </a:solidFill>
                <a:latin typeface="Arial"/>
                <a:ea typeface="Arial"/>
                <a:cs typeface="Arial"/>
              </a:rPr>
              <a:t>Equipo 06  ·  Subcaso 03B AndinaLog</a:t>
            </a:r>
          </a:p>
        </p:txBody>
      </p:sp>
      <p:sp>
        <p:nvSpPr>
          <p:cNvPr id="7" name="Rectangle 6">
            <a:extLst>
              <a:ext uri="{FF2B5EF4-FFF2-40B4-BE49-F238E27FC236}">
                <a16:creationId xmlns:a16="http://schemas.microsoft.com/office/drawing/2014/main" id="{703FD7E7-ECD0-4E19-8F10-BFBDBC709CA8}"/>
              </a:ext>
            </a:extLst>
          </p:cNvPr>
          <p:cNvSpPr>
            <a:spLocks noGrp="1"/>
          </p:cNvSpPr>
          <p:nvPr/>
        </p:nvSpPr>
        <p:spPr>
          <a:xfrm>
            <a:off x="609600" y="3638550"/>
            <a:ext cx="5905500" cy="666750"/>
          </a:xfrm>
          <a:prstGeom prst="rect">
            <a:avLst/>
          </a:prstGeom>
          <a:noFill/>
          <a:ln w="0">
            <a:noFill/>
          </a:ln>
        </p:spPr>
        <p:txBody>
          <a:bodyPr anchor="t">
            <a:noAutofit/>
          </a:bodyPr>
          <a:lstStyle/>
          <a:p>
            <a:pPr algn="l">
              <a:buNone/>
              <a:defRPr sz="1350" b="0" i="0">
                <a:solidFill>
                  <a:srgbClr val="EDF2F7"/>
                </a:solidFill>
                <a:latin typeface="Arial"/>
                <a:ea typeface="Arial"/>
                <a:cs typeface="Arial"/>
              </a:defRPr>
            </a:pPr>
            <a:r>
              <a:rPr sz="1350" b="0" i="0">
                <a:solidFill>
                  <a:srgbClr val="EDF2F7"/>
                </a:solidFill>
                <a:latin typeface="Arial"/>
                <a:ea typeface="Arial"/>
                <a:cs typeface="Arial"/>
              </a:rPr>
              <a:t>Integrantes: completar antes de exponer</a:t>
            </a:r>
          </a:p>
        </p:txBody>
      </p:sp>
      <p:sp>
        <p:nvSpPr>
          <p:cNvPr id="8" name="Rectangle: Rounded Corners 7">
            <a:extLst>
              <a:ext uri="{FF2B5EF4-FFF2-40B4-BE49-F238E27FC236}">
                <a16:creationId xmlns:a16="http://schemas.microsoft.com/office/drawing/2014/main" id="{62486C9E-DDC7-4F27-A327-15A6629F6E02}"/>
              </a:ext>
            </a:extLst>
          </p:cNvPr>
          <p:cNvSpPr>
            <a:spLocks noGrp="1"/>
          </p:cNvSpPr>
          <p:nvPr/>
        </p:nvSpPr>
        <p:spPr>
          <a:xfrm>
            <a:off x="7620000" y="952500"/>
            <a:ext cx="3905250" cy="1219200"/>
          </a:xfrm>
          <a:prstGeom prst="roundRect">
            <a:avLst>
              <a:gd name="adj" fmla="val 14063"/>
            </a:avLst>
          </a:prstGeom>
          <a:solidFill>
            <a:srgbClr val="EDF2F7"/>
          </a:solidFill>
          <a:ln w="0">
            <a:noFill/>
            <a:prstDash val="solid"/>
          </a:ln>
        </p:spPr>
        <p:txBody>
          <a:bodyPr/>
          <a:lstStyle/>
          <a:p>
            <a:endParaRPr/>
          </a:p>
        </p:txBody>
      </p:sp>
      <p:sp>
        <p:nvSpPr>
          <p:cNvPr id="9" name="Rectangle 8">
            <a:extLst>
              <a:ext uri="{FF2B5EF4-FFF2-40B4-BE49-F238E27FC236}">
                <a16:creationId xmlns:a16="http://schemas.microsoft.com/office/drawing/2014/main" id="{68936953-8BCB-4869-9A3E-732888573134}"/>
              </a:ext>
            </a:extLst>
          </p:cNvPr>
          <p:cNvSpPr>
            <a:spLocks noGrp="1"/>
          </p:cNvSpPr>
          <p:nvPr/>
        </p:nvSpPr>
        <p:spPr>
          <a:xfrm>
            <a:off x="7867650" y="12001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1</a:t>
            </a:r>
          </a:p>
        </p:txBody>
      </p:sp>
      <p:sp>
        <p:nvSpPr>
          <p:cNvPr id="10" name="Rectangle 9">
            <a:extLst>
              <a:ext uri="{FF2B5EF4-FFF2-40B4-BE49-F238E27FC236}">
                <a16:creationId xmlns:a16="http://schemas.microsoft.com/office/drawing/2014/main" id="{8EA6C8B1-7054-4476-B5AA-EE3969D8DC73}"/>
              </a:ext>
            </a:extLst>
          </p:cNvPr>
          <p:cNvSpPr>
            <a:spLocks noGrp="1"/>
          </p:cNvSpPr>
          <p:nvPr/>
        </p:nvSpPr>
        <p:spPr>
          <a:xfrm>
            <a:off x="8362950" y="11430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Pregunta de negocio</a:t>
            </a:r>
          </a:p>
        </p:txBody>
      </p:sp>
      <p:sp>
        <p:nvSpPr>
          <p:cNvPr id="11" name="Rectangle 10">
            <a:extLst>
              <a:ext uri="{FF2B5EF4-FFF2-40B4-BE49-F238E27FC236}">
                <a16:creationId xmlns:a16="http://schemas.microsoft.com/office/drawing/2014/main" id="{8DEA0037-E482-440F-AE46-22283160F901}"/>
              </a:ext>
            </a:extLst>
          </p:cNvPr>
          <p:cNvSpPr>
            <a:spLocks noGrp="1"/>
          </p:cNvSpPr>
          <p:nvPr/>
        </p:nvSpPr>
        <p:spPr>
          <a:xfrm>
            <a:off x="8362950" y="14668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a:solidFill>
                  <a:srgbClr val="595959"/>
                </a:solidFill>
                <a:latin typeface="Arial"/>
                <a:ea typeface="Arial"/>
                <a:cs typeface="Arial"/>
              </a:rPr>
              <a:t>¿Qué viajes requieren revisión preventiva durante la próxima hora?</a:t>
            </a:r>
          </a:p>
        </p:txBody>
      </p:sp>
      <p:sp>
        <p:nvSpPr>
          <p:cNvPr id="12" name="Rectangle: Rounded Corners 11">
            <a:extLst>
              <a:ext uri="{FF2B5EF4-FFF2-40B4-BE49-F238E27FC236}">
                <a16:creationId xmlns:a16="http://schemas.microsoft.com/office/drawing/2014/main" id="{52CD3DCA-3404-428A-A152-54EEA2FEC664}"/>
              </a:ext>
            </a:extLst>
          </p:cNvPr>
          <p:cNvSpPr>
            <a:spLocks noGrp="1"/>
          </p:cNvSpPr>
          <p:nvPr/>
        </p:nvSpPr>
        <p:spPr>
          <a:xfrm>
            <a:off x="7620000" y="2400300"/>
            <a:ext cx="3905250" cy="1219200"/>
          </a:xfrm>
          <a:prstGeom prst="roundRect">
            <a:avLst>
              <a:gd name="adj" fmla="val 14063"/>
            </a:avLst>
          </a:prstGeom>
          <a:solidFill>
            <a:srgbClr val="EDF2F7"/>
          </a:solidFill>
          <a:ln w="0">
            <a:noFill/>
            <a:prstDash val="solid"/>
          </a:ln>
        </p:spPr>
        <p:txBody>
          <a:bodyPr/>
          <a:lstStyle/>
          <a:p>
            <a:endParaRPr/>
          </a:p>
        </p:txBody>
      </p:sp>
      <p:sp>
        <p:nvSpPr>
          <p:cNvPr id="13" name="Rectangle 12">
            <a:extLst>
              <a:ext uri="{FF2B5EF4-FFF2-40B4-BE49-F238E27FC236}">
                <a16:creationId xmlns:a16="http://schemas.microsoft.com/office/drawing/2014/main" id="{15E703E1-8632-4E7C-BE5B-2D55F8ADCE1D}"/>
              </a:ext>
            </a:extLst>
          </p:cNvPr>
          <p:cNvSpPr>
            <a:spLocks noGrp="1"/>
          </p:cNvSpPr>
          <p:nvPr/>
        </p:nvSpPr>
        <p:spPr>
          <a:xfrm>
            <a:off x="7867650" y="26479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2</a:t>
            </a:r>
          </a:p>
        </p:txBody>
      </p:sp>
      <p:sp>
        <p:nvSpPr>
          <p:cNvPr id="14" name="Rectangle 13">
            <a:extLst>
              <a:ext uri="{FF2B5EF4-FFF2-40B4-BE49-F238E27FC236}">
                <a16:creationId xmlns:a16="http://schemas.microsoft.com/office/drawing/2014/main" id="{BA2A0B33-C6CC-4E07-BF18-BC2C6E84904F}"/>
              </a:ext>
            </a:extLst>
          </p:cNvPr>
          <p:cNvSpPr>
            <a:spLocks noGrp="1"/>
          </p:cNvSpPr>
          <p:nvPr/>
        </p:nvSpPr>
        <p:spPr>
          <a:xfrm>
            <a:off x="8362950" y="25908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Evidencia clave</a:t>
            </a:r>
          </a:p>
        </p:txBody>
      </p:sp>
      <p:sp>
        <p:nvSpPr>
          <p:cNvPr id="15" name="Rectangle 14">
            <a:extLst>
              <a:ext uri="{FF2B5EF4-FFF2-40B4-BE49-F238E27FC236}">
                <a16:creationId xmlns:a16="http://schemas.microsoft.com/office/drawing/2014/main" id="{CBECFB0F-2560-4240-BCFF-5B5252BD56F5}"/>
              </a:ext>
            </a:extLst>
          </p:cNvPr>
          <p:cNvSpPr>
            <a:spLocks noGrp="1"/>
          </p:cNvSpPr>
          <p:nvPr/>
        </p:nvSpPr>
        <p:spPr>
          <a:xfrm>
            <a:off x="8362950" y="29146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dirty="0">
                <a:solidFill>
                  <a:srgbClr val="595959"/>
                </a:solidFill>
                <a:latin typeface="Arial"/>
                <a:ea typeface="Arial"/>
                <a:cs typeface="Arial"/>
              </a:rPr>
              <a:t>1296 </a:t>
            </a:r>
            <a:r>
              <a:rPr sz="1200" b="0" i="0" dirty="0" err="1">
                <a:solidFill>
                  <a:srgbClr val="595959"/>
                </a:solidFill>
                <a:latin typeface="Arial"/>
                <a:ea typeface="Arial"/>
                <a:cs typeface="Arial"/>
              </a:rPr>
              <a:t>eventos</a:t>
            </a:r>
            <a:r>
              <a:rPr sz="1200" b="0" i="0" dirty="0">
                <a:solidFill>
                  <a:srgbClr val="595959"/>
                </a:solidFill>
                <a:latin typeface="Arial"/>
                <a:ea typeface="Arial"/>
                <a:cs typeface="Arial"/>
              </a:rPr>
              <a:t> </a:t>
            </a:r>
            <a:r>
              <a:rPr sz="1200" b="0" i="0" dirty="0" err="1">
                <a:solidFill>
                  <a:srgbClr val="595959"/>
                </a:solidFill>
                <a:latin typeface="Arial"/>
                <a:ea typeface="Arial"/>
                <a:cs typeface="Arial"/>
              </a:rPr>
              <a:t>futuros</a:t>
            </a:r>
            <a:r>
              <a:rPr sz="1200" b="0" i="0" dirty="0">
                <a:solidFill>
                  <a:srgbClr val="595959"/>
                </a:solidFill>
                <a:latin typeface="Arial"/>
                <a:ea typeface="Arial"/>
                <a:cs typeface="Arial"/>
              </a:rPr>
              <a:t>; recall 46,76% y PR AUC 37,32%</a:t>
            </a:r>
          </a:p>
        </p:txBody>
      </p:sp>
      <p:sp>
        <p:nvSpPr>
          <p:cNvPr id="16" name="Rectangle: Rounded Corners 15">
            <a:extLst>
              <a:ext uri="{FF2B5EF4-FFF2-40B4-BE49-F238E27FC236}">
                <a16:creationId xmlns:a16="http://schemas.microsoft.com/office/drawing/2014/main" id="{4E2FA35B-3E31-4656-82EB-47EEC355DF97}"/>
              </a:ext>
            </a:extLst>
          </p:cNvPr>
          <p:cNvSpPr>
            <a:spLocks noGrp="1"/>
          </p:cNvSpPr>
          <p:nvPr/>
        </p:nvSpPr>
        <p:spPr>
          <a:xfrm>
            <a:off x="7620000" y="3848100"/>
            <a:ext cx="3905250" cy="1219200"/>
          </a:xfrm>
          <a:prstGeom prst="roundRect">
            <a:avLst>
              <a:gd name="adj" fmla="val 14063"/>
            </a:avLst>
          </a:prstGeom>
          <a:solidFill>
            <a:srgbClr val="FCE8E6"/>
          </a:solidFill>
          <a:ln w="0">
            <a:noFill/>
            <a:prstDash val="solid"/>
          </a:ln>
        </p:spPr>
        <p:txBody>
          <a:bodyPr/>
          <a:lstStyle/>
          <a:p>
            <a:endParaRPr/>
          </a:p>
        </p:txBody>
      </p:sp>
      <p:sp>
        <p:nvSpPr>
          <p:cNvPr id="17" name="Rectangle 16">
            <a:extLst>
              <a:ext uri="{FF2B5EF4-FFF2-40B4-BE49-F238E27FC236}">
                <a16:creationId xmlns:a16="http://schemas.microsoft.com/office/drawing/2014/main" id="{AE76E641-BE41-42ED-8E70-C01F35586671}"/>
              </a:ext>
            </a:extLst>
          </p:cNvPr>
          <p:cNvSpPr>
            <a:spLocks noGrp="1"/>
          </p:cNvSpPr>
          <p:nvPr/>
        </p:nvSpPr>
        <p:spPr>
          <a:xfrm>
            <a:off x="7867650" y="4095750"/>
            <a:ext cx="342900" cy="342900"/>
          </a:xfrm>
          <a:prstGeom prst="rect">
            <a:avLst/>
          </a:prstGeom>
          <a:noFill/>
          <a:ln w="0">
            <a:noFill/>
          </a:ln>
        </p:spPr>
        <p:txBody>
          <a:bodyPr anchor="t">
            <a:noAutofit/>
          </a:bodyPr>
          <a:lstStyle/>
          <a:p>
            <a:pPr algn="ctr">
              <a:buNone/>
              <a:defRPr sz="1650" b="1" i="0">
                <a:solidFill>
                  <a:srgbClr val="2E5B8A"/>
                </a:solidFill>
                <a:latin typeface="Arial"/>
                <a:ea typeface="Arial"/>
                <a:cs typeface="Arial"/>
              </a:defRPr>
            </a:pPr>
            <a:r>
              <a:rPr sz="1650" b="1" i="0">
                <a:solidFill>
                  <a:srgbClr val="2E5B8A"/>
                </a:solidFill>
                <a:latin typeface="Arial"/>
                <a:ea typeface="Arial"/>
                <a:cs typeface="Arial"/>
              </a:rPr>
              <a:t>3</a:t>
            </a:r>
          </a:p>
        </p:txBody>
      </p:sp>
      <p:sp>
        <p:nvSpPr>
          <p:cNvPr id="18" name="Rectangle 17">
            <a:extLst>
              <a:ext uri="{FF2B5EF4-FFF2-40B4-BE49-F238E27FC236}">
                <a16:creationId xmlns:a16="http://schemas.microsoft.com/office/drawing/2014/main" id="{A93A487B-6960-4C94-824D-81B822E3CA92}"/>
              </a:ext>
            </a:extLst>
          </p:cNvPr>
          <p:cNvSpPr>
            <a:spLocks noGrp="1"/>
          </p:cNvSpPr>
          <p:nvPr/>
        </p:nvSpPr>
        <p:spPr>
          <a:xfrm>
            <a:off x="8362950" y="4038600"/>
            <a:ext cx="2762250" cy="2667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Decisión habilitada</a:t>
            </a:r>
          </a:p>
        </p:txBody>
      </p:sp>
      <p:sp>
        <p:nvSpPr>
          <p:cNvPr id="19" name="Rectangle 18">
            <a:extLst>
              <a:ext uri="{FF2B5EF4-FFF2-40B4-BE49-F238E27FC236}">
                <a16:creationId xmlns:a16="http://schemas.microsoft.com/office/drawing/2014/main" id="{EC85D7C1-DA94-48B1-8EE5-802D36AD741C}"/>
              </a:ext>
            </a:extLst>
          </p:cNvPr>
          <p:cNvSpPr>
            <a:spLocks noGrp="1"/>
          </p:cNvSpPr>
          <p:nvPr/>
        </p:nvSpPr>
        <p:spPr>
          <a:xfrm>
            <a:off x="8362950" y="4362450"/>
            <a:ext cx="2762250" cy="457200"/>
          </a:xfrm>
          <a:prstGeom prst="rect">
            <a:avLst/>
          </a:prstGeom>
          <a:noFill/>
          <a:ln w="0">
            <a:noFill/>
          </a:ln>
        </p:spPr>
        <p:txBody>
          <a:bodyPr anchor="t">
            <a:noAutofit/>
          </a:bodyPr>
          <a:lstStyle/>
          <a:p>
            <a:pPr algn="l">
              <a:buNone/>
              <a:defRPr sz="1200" b="0" i="0">
                <a:solidFill>
                  <a:srgbClr val="595959"/>
                </a:solidFill>
                <a:latin typeface="Arial"/>
                <a:ea typeface="Arial"/>
                <a:cs typeface="Arial"/>
              </a:defRPr>
            </a:pPr>
            <a:r>
              <a:rPr sz="1200" b="0" i="0">
                <a:solidFill>
                  <a:srgbClr val="595959"/>
                </a:solidFill>
                <a:latin typeface="Arial"/>
                <a:ea typeface="Arial"/>
                <a:cs typeface="Arial"/>
              </a:rPr>
              <a:t>Priorizar la revisión humana de viajes con mayor riesgo estimado</a:t>
            </a:r>
          </a:p>
        </p:txBody>
      </p:sp>
      <p:sp>
        <p:nvSpPr>
          <p:cNvPr id="20" name="Rectangle 19">
            <a:extLst>
              <a:ext uri="{FF2B5EF4-FFF2-40B4-BE49-F238E27FC236}">
                <a16:creationId xmlns:a16="http://schemas.microsoft.com/office/drawing/2014/main" id="{BA2E7A42-C10A-4920-A4A2-3EAE7396102B}"/>
              </a:ext>
            </a:extLst>
          </p:cNvPr>
          <p:cNvSpPr>
            <a:spLocks noGrp="1"/>
          </p:cNvSpPr>
          <p:nvPr/>
        </p:nvSpPr>
        <p:spPr>
          <a:xfrm>
            <a:off x="0" y="6143625"/>
            <a:ext cx="12192000" cy="714375"/>
          </a:xfrm>
          <a:prstGeom prst="rect">
            <a:avLst/>
          </a:prstGeom>
          <a:solidFill>
            <a:srgbClr val="2E5B8A"/>
          </a:solidFill>
          <a:ln w="0">
            <a:noFill/>
            <a:prstDash val="solid"/>
          </a:ln>
        </p:spPr>
        <p:txBody>
          <a:bodyPr/>
          <a:lstStyle/>
          <a:p>
            <a:endParaRPr/>
          </a:p>
        </p:txBody>
      </p:sp>
      <p:sp>
        <p:nvSpPr>
          <p:cNvPr id="21" name="Rectangle 20">
            <a:extLst>
              <a:ext uri="{FF2B5EF4-FFF2-40B4-BE49-F238E27FC236}">
                <a16:creationId xmlns:a16="http://schemas.microsoft.com/office/drawing/2014/main" id="{30252364-5136-4E59-BD2D-499D71894B6A}"/>
              </a:ext>
            </a:extLst>
          </p:cNvPr>
          <p:cNvSpPr>
            <a:spLocks noGrp="1"/>
          </p:cNvSpPr>
          <p:nvPr/>
        </p:nvSpPr>
        <p:spPr>
          <a:xfrm>
            <a:off x="609600" y="6324600"/>
            <a:ext cx="10953750" cy="304800"/>
          </a:xfrm>
          <a:prstGeom prst="rect">
            <a:avLst/>
          </a:prstGeom>
          <a:noFill/>
          <a:ln w="0">
            <a:noFill/>
          </a:ln>
        </p:spPr>
        <p:txBody>
          <a:bodyPr anchor="t">
            <a:noAutofit/>
          </a:bodyPr>
          <a:lstStyle/>
          <a:p>
            <a:pPr algn="l">
              <a:buNone/>
              <a:defRPr sz="1500" b="1" i="0">
                <a:solidFill>
                  <a:srgbClr val="FFFFFF"/>
                </a:solidFill>
                <a:latin typeface="Arial"/>
                <a:ea typeface="Arial"/>
                <a:cs typeface="Arial"/>
              </a:defRPr>
            </a:pPr>
            <a:r>
              <a:rPr sz="1500" b="1" i="0">
                <a:solidFill>
                  <a:srgbClr val="FFFFFF"/>
                </a:solidFill>
                <a:latin typeface="Arial"/>
                <a:ea typeface="Arial"/>
                <a:cs typeface="Arial"/>
              </a:rPr>
              <a:t>Problema industrial: anticipar desviaciones para proteger la cadena de frío</a:t>
            </a:r>
          </a:p>
        </p:txBody>
      </p:sp>
      <p:sp>
        <p:nvSpPr>
          <p:cNvPr id="23" name="TextBox 22">
            <a:extLst>
              <a:ext uri="{FF2B5EF4-FFF2-40B4-BE49-F238E27FC236}">
                <a16:creationId xmlns:a16="http://schemas.microsoft.com/office/drawing/2014/main" id="{E63F1205-53E0-41D9-97F6-B91F18AB77EB}"/>
              </a:ext>
            </a:extLst>
          </p:cNvPr>
          <p:cNvSpPr>
            <a:spLocks noGrp="1"/>
          </p:cNvSpPr>
          <p:nvPr/>
        </p:nvSpPr>
        <p:spPr>
          <a:xfrm>
            <a:off x="7867650" y="609600"/>
            <a:ext cx="4286250" cy="396240"/>
          </a:xfrm>
          <a:prstGeom prst="rect">
            <a:avLst/>
          </a:prstGeom>
          <a:noFill/>
        </p:spPr>
        <p:txBody>
          <a:bodyPr wrap="square">
            <a:spAutoFit/>
          </a:bodyPr>
          <a:lstStyle/>
          <a:p>
            <a:r>
              <a:rPr sz="1000" b="1">
                <a:solidFill>
                  <a:srgbClr val="2E5B8A"/>
                </a:solidFill>
                <a:latin typeface="Arial"/>
                <a:ea typeface="Arial"/>
                <a:cs typeface="Arial"/>
              </a:rPr>
              <a:t>HOJA DE RUTA DE LA EXPOSICIÓN (vista previa, no reemplaza las diapositivas 2–8)</a:t>
            </a:r>
          </a:p>
        </p:txBody>
      </p:sp>
    </p:spTree>
    <p:extLst>
      <p:ext uri="{BB962C8B-B14F-4D97-AF65-F5344CB8AC3E}">
        <p14:creationId xmlns:p14="http://schemas.microsoft.com/office/powerpoint/2010/main" val="1950780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6DF3DA55-5550-404A-BE5E-C6F325FD33A2}"/>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05A25609-5B2D-4D06-8814-1DBC9B1B1FA1}"/>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01 · PROBLEMA Y VALOR</a:t>
            </a:r>
          </a:p>
        </p:txBody>
      </p:sp>
      <p:sp>
        <p:nvSpPr>
          <p:cNvPr id="3" name="Rectangle 2">
            <a:extLst>
              <a:ext uri="{FF2B5EF4-FFF2-40B4-BE49-F238E27FC236}">
                <a16:creationId xmlns:a16="http://schemas.microsoft.com/office/drawing/2014/main" id="{DD81F7FB-1F88-4AF0-A4D2-562FD8A64F6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Problema y contrato analítico</a:t>
            </a:r>
          </a:p>
        </p:txBody>
      </p:sp>
      <p:sp>
        <p:nvSpPr>
          <p:cNvPr id="4" name="Rectangle 3">
            <a:extLst>
              <a:ext uri="{FF2B5EF4-FFF2-40B4-BE49-F238E27FC236}">
                <a16:creationId xmlns:a16="http://schemas.microsoft.com/office/drawing/2014/main" id="{AD3BA3B3-649A-4035-81FE-3B16E0FC9B8E}"/>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3FD12883-5DF0-41AC-8D05-3905E47EBBC2}"/>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292912BB-D070-474D-841A-232A3E843D3B}"/>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1}" type="slidenum">
              <a:rPr sz="900" b="1" i="0">
                <a:solidFill>
                  <a:srgbClr val="2E5B8A"/>
                </a:solidFill>
                <a:latin typeface="Arial"/>
                <a:ea typeface="Arial"/>
                <a:cs typeface="Arial"/>
              </a:rPr>
              <a:t>2</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310FB407-5C08-432F-AB05-AAE0C242DC90}"/>
              </a:ext>
            </a:extLst>
          </p:cNvPr>
          <p:cNvSpPr>
            <a:spLocks noGrp="1"/>
          </p:cNvSpPr>
          <p:nvPr/>
        </p:nvSpPr>
        <p:spPr>
          <a:xfrm>
            <a:off x="533400" y="1257300"/>
            <a:ext cx="3619500" cy="4819650"/>
          </a:xfrm>
          <a:prstGeom prst="roundRect">
            <a:avLst>
              <a:gd name="adj" fmla="val 4737"/>
            </a:avLst>
          </a:prstGeom>
          <a:solidFill>
            <a:srgbClr val="1F3864"/>
          </a:solidFill>
          <a:ln w="0">
            <a:noFill/>
            <a:prstDash val="solid"/>
          </a:ln>
        </p:spPr>
        <p:txBody>
          <a:bodyPr/>
          <a:lstStyle/>
          <a:p>
            <a:endParaRPr/>
          </a:p>
        </p:txBody>
      </p:sp>
      <p:sp>
        <p:nvSpPr>
          <p:cNvPr id="8" name="Rectangle: Rounded Corners 7">
            <a:extLst>
              <a:ext uri="{FF2B5EF4-FFF2-40B4-BE49-F238E27FC236}">
                <a16:creationId xmlns:a16="http://schemas.microsoft.com/office/drawing/2014/main" id="{4CEDCA27-CD42-4F14-966C-C688E432A931}"/>
              </a:ext>
            </a:extLst>
          </p:cNvPr>
          <p:cNvSpPr>
            <a:spLocks noGrp="1"/>
          </p:cNvSpPr>
          <p:nvPr/>
        </p:nvSpPr>
        <p:spPr>
          <a:xfrm>
            <a:off x="781050" y="1504950"/>
            <a:ext cx="1066800" cy="285750"/>
          </a:xfrm>
          <a:prstGeom prst="roundRect">
            <a:avLst>
              <a:gd name="adj" fmla="val 50000"/>
            </a:avLst>
          </a:prstGeom>
          <a:solidFill>
            <a:srgbClr val="2E5B8A"/>
          </a:solidFill>
          <a:ln w="0">
            <a:noFill/>
            <a:prstDash val="solid"/>
          </a:ln>
        </p:spPr>
        <p:txBody>
          <a:bodyPr anchor="ctr">
            <a:noAutofit/>
          </a:bodyPr>
          <a:lstStyle/>
          <a:p>
            <a:pPr algn="ctr">
              <a:buNone/>
              <a:defRPr sz="975" b="1">
                <a:solidFill>
                  <a:srgbClr val="FFFFFF"/>
                </a:solidFill>
                <a:latin typeface="Arial"/>
                <a:ea typeface="Arial"/>
                <a:cs typeface="Arial"/>
              </a:defRPr>
            </a:pPr>
            <a:r>
              <a:rPr sz="975" b="1">
                <a:solidFill>
                  <a:srgbClr val="FFFFFF"/>
                </a:solidFill>
                <a:latin typeface="Arial"/>
                <a:ea typeface="Arial"/>
                <a:cs typeface="Arial"/>
              </a:rPr>
              <a:t>CONTEXTO</a:t>
            </a:r>
          </a:p>
        </p:txBody>
      </p:sp>
      <p:sp>
        <p:nvSpPr>
          <p:cNvPr id="9" name="Rectangle 8">
            <a:extLst>
              <a:ext uri="{FF2B5EF4-FFF2-40B4-BE49-F238E27FC236}">
                <a16:creationId xmlns:a16="http://schemas.microsoft.com/office/drawing/2014/main" id="{52170428-E80A-4B55-AD08-11C1C14585AF}"/>
              </a:ext>
            </a:extLst>
          </p:cNvPr>
          <p:cNvSpPr>
            <a:spLocks noGrp="1"/>
          </p:cNvSpPr>
          <p:nvPr/>
        </p:nvSpPr>
        <p:spPr>
          <a:xfrm>
            <a:off x="781050" y="2019300"/>
            <a:ext cx="3067050" cy="666750"/>
          </a:xfrm>
          <a:prstGeom prst="rect">
            <a:avLst/>
          </a:prstGeom>
          <a:noFill/>
          <a:ln w="0">
            <a:noFill/>
          </a:ln>
        </p:spPr>
        <p:txBody>
          <a:bodyPr anchor="t">
            <a:noAutofit/>
          </a:bodyPr>
          <a:lstStyle/>
          <a:p>
            <a:pPr algn="l">
              <a:buNone/>
              <a:defRPr sz="1800" b="1" i="0">
                <a:solidFill>
                  <a:srgbClr val="FFFFFF"/>
                </a:solidFill>
                <a:latin typeface="Arial"/>
                <a:ea typeface="Arial"/>
                <a:cs typeface="Arial"/>
              </a:defRPr>
            </a:pPr>
            <a:r>
              <a:rPr sz="1800" b="1" i="0">
                <a:solidFill>
                  <a:srgbClr val="FFFFFF"/>
                </a:solidFill>
                <a:latin typeface="Arial"/>
                <a:ea typeface="Arial"/>
                <a:cs typeface="Arial"/>
              </a:rPr>
              <a:t>Desviaciones sin aviso previo</a:t>
            </a:r>
          </a:p>
        </p:txBody>
      </p:sp>
      <p:sp>
        <p:nvSpPr>
          <p:cNvPr id="10" name="Rectangle 9">
            <a:extLst>
              <a:ext uri="{FF2B5EF4-FFF2-40B4-BE49-F238E27FC236}">
                <a16:creationId xmlns:a16="http://schemas.microsoft.com/office/drawing/2014/main" id="{5FA34A77-3FD2-4592-9E5B-E95DA1F2996F}"/>
              </a:ext>
            </a:extLst>
          </p:cNvPr>
          <p:cNvSpPr>
            <a:spLocks noGrp="1"/>
          </p:cNvSpPr>
          <p:nvPr/>
        </p:nvSpPr>
        <p:spPr>
          <a:xfrm>
            <a:off x="781050" y="2914650"/>
            <a:ext cx="23812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Usuario de la decisión</a:t>
            </a:r>
          </a:p>
        </p:txBody>
      </p:sp>
      <p:sp>
        <p:nvSpPr>
          <p:cNvPr id="11" name="Rectangle 10">
            <a:extLst>
              <a:ext uri="{FF2B5EF4-FFF2-40B4-BE49-F238E27FC236}">
                <a16:creationId xmlns:a16="http://schemas.microsoft.com/office/drawing/2014/main" id="{FDFB556B-4D3D-4FC8-A79A-E530C5E1B0C3}"/>
              </a:ext>
            </a:extLst>
          </p:cNvPr>
          <p:cNvSpPr>
            <a:spLocks noGrp="1"/>
          </p:cNvSpPr>
          <p:nvPr/>
        </p:nvSpPr>
        <p:spPr>
          <a:xfrm>
            <a:off x="781050" y="3181350"/>
            <a:ext cx="2857500" cy="32385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Operaciones y calidad</a:t>
            </a:r>
          </a:p>
        </p:txBody>
      </p:sp>
      <p:sp>
        <p:nvSpPr>
          <p:cNvPr id="12" name="Rectangle 11">
            <a:extLst>
              <a:ext uri="{FF2B5EF4-FFF2-40B4-BE49-F238E27FC236}">
                <a16:creationId xmlns:a16="http://schemas.microsoft.com/office/drawing/2014/main" id="{0728E776-A0AE-4571-A23F-04164F6CA1F2}"/>
              </a:ext>
            </a:extLst>
          </p:cNvPr>
          <p:cNvSpPr>
            <a:spLocks noGrp="1"/>
          </p:cNvSpPr>
          <p:nvPr/>
        </p:nvSpPr>
        <p:spPr>
          <a:xfrm>
            <a:off x="781050" y="3695700"/>
            <a:ext cx="25717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Decisión que se apoyará</a:t>
            </a:r>
          </a:p>
        </p:txBody>
      </p:sp>
      <p:sp>
        <p:nvSpPr>
          <p:cNvPr id="13" name="Rectangle 12">
            <a:extLst>
              <a:ext uri="{FF2B5EF4-FFF2-40B4-BE49-F238E27FC236}">
                <a16:creationId xmlns:a16="http://schemas.microsoft.com/office/drawing/2014/main" id="{ADB83D7D-7775-47B8-B8BF-07F03351EB1B}"/>
              </a:ext>
            </a:extLst>
          </p:cNvPr>
          <p:cNvSpPr>
            <a:spLocks noGrp="1"/>
          </p:cNvSpPr>
          <p:nvPr/>
        </p:nvSpPr>
        <p:spPr>
          <a:xfrm>
            <a:off x="781050" y="3962400"/>
            <a:ext cx="2857500" cy="49530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Priorizar viajes para revisión preventiva</a:t>
            </a:r>
          </a:p>
        </p:txBody>
      </p:sp>
      <p:sp>
        <p:nvSpPr>
          <p:cNvPr id="14" name="Rectangle 13">
            <a:extLst>
              <a:ext uri="{FF2B5EF4-FFF2-40B4-BE49-F238E27FC236}">
                <a16:creationId xmlns:a16="http://schemas.microsoft.com/office/drawing/2014/main" id="{D2E6A7B7-42BA-4B00-9867-167752AD3B8F}"/>
              </a:ext>
            </a:extLst>
          </p:cNvPr>
          <p:cNvSpPr>
            <a:spLocks noGrp="1"/>
          </p:cNvSpPr>
          <p:nvPr/>
        </p:nvSpPr>
        <p:spPr>
          <a:xfrm>
            <a:off x="781050" y="4686300"/>
            <a:ext cx="2381250" cy="209550"/>
          </a:xfrm>
          <a:prstGeom prst="rect">
            <a:avLst/>
          </a:prstGeom>
          <a:noFill/>
          <a:ln w="0">
            <a:noFill/>
          </a:ln>
        </p:spPr>
        <p:txBody>
          <a:bodyPr anchor="t">
            <a:noAutofit/>
          </a:bodyPr>
          <a:lstStyle/>
          <a:p>
            <a:pPr algn="l">
              <a:buNone/>
              <a:defRPr sz="975" b="1" i="0">
                <a:solidFill>
                  <a:srgbClr val="EDF2F7"/>
                </a:solidFill>
                <a:latin typeface="Arial"/>
                <a:ea typeface="Arial"/>
                <a:cs typeface="Arial"/>
              </a:defRPr>
            </a:pPr>
            <a:r>
              <a:rPr sz="975" b="1" i="0">
                <a:solidFill>
                  <a:srgbClr val="EDF2F7"/>
                </a:solidFill>
                <a:latin typeface="Arial"/>
                <a:ea typeface="Arial"/>
                <a:cs typeface="Arial"/>
              </a:rPr>
              <a:t>Criterio de éxito</a:t>
            </a:r>
          </a:p>
        </p:txBody>
      </p:sp>
      <p:sp>
        <p:nvSpPr>
          <p:cNvPr id="15" name="Rectangle 14">
            <a:extLst>
              <a:ext uri="{FF2B5EF4-FFF2-40B4-BE49-F238E27FC236}">
                <a16:creationId xmlns:a16="http://schemas.microsoft.com/office/drawing/2014/main" id="{2A7804A7-6BCD-435F-94BF-A2423DAAEF28}"/>
              </a:ext>
            </a:extLst>
          </p:cNvPr>
          <p:cNvSpPr>
            <a:spLocks noGrp="1"/>
          </p:cNvSpPr>
          <p:nvPr/>
        </p:nvSpPr>
        <p:spPr>
          <a:xfrm>
            <a:off x="781050" y="4953000"/>
            <a:ext cx="2857500" cy="476250"/>
          </a:xfrm>
          <a:prstGeom prst="rect">
            <a:avLst/>
          </a:prstGeom>
          <a:noFill/>
          <a:ln w="0">
            <a:noFill/>
          </a:ln>
        </p:spPr>
        <p:txBody>
          <a:bodyPr anchor="t">
            <a:noAutofit/>
          </a:bodyPr>
          <a:lstStyle/>
          <a:p>
            <a:pPr algn="l">
              <a:buNone/>
              <a:defRPr sz="1425" b="0" i="0">
                <a:solidFill>
                  <a:srgbClr val="FFFFFF"/>
                </a:solidFill>
                <a:latin typeface="Arial"/>
                <a:ea typeface="Arial"/>
                <a:cs typeface="Arial"/>
              </a:defRPr>
            </a:pPr>
            <a:r>
              <a:rPr sz="1425" b="0" i="0">
                <a:solidFill>
                  <a:srgbClr val="FFFFFF"/>
                </a:solidFill>
                <a:latin typeface="Arial"/>
                <a:ea typeface="Arial"/>
                <a:cs typeface="Arial"/>
              </a:rPr>
              <a:t>Detectar eventos y mostrar ambos tipos de error</a:t>
            </a:r>
          </a:p>
        </p:txBody>
      </p:sp>
      <p:sp>
        <p:nvSpPr>
          <p:cNvPr id="16" name="Rectangle 15">
            <a:extLst>
              <a:ext uri="{FF2B5EF4-FFF2-40B4-BE49-F238E27FC236}">
                <a16:creationId xmlns:a16="http://schemas.microsoft.com/office/drawing/2014/main" id="{1E88A70E-3388-48E1-B961-F3450D40ACD6}"/>
              </a:ext>
            </a:extLst>
          </p:cNvPr>
          <p:cNvSpPr>
            <a:spLocks noGrp="1"/>
          </p:cNvSpPr>
          <p:nvPr/>
        </p:nvSpPr>
        <p:spPr>
          <a:xfrm>
            <a:off x="4514850" y="1219200"/>
            <a:ext cx="6762750" cy="3048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Cinco líneas del contrato</a:t>
            </a:r>
          </a:p>
        </p:txBody>
      </p:sp>
      <p:sp>
        <p:nvSpPr>
          <p:cNvPr id="17" name="Rectangle: Rounded Corners 16">
            <a:extLst>
              <a:ext uri="{FF2B5EF4-FFF2-40B4-BE49-F238E27FC236}">
                <a16:creationId xmlns:a16="http://schemas.microsoft.com/office/drawing/2014/main" id="{AC079EA8-F7BB-495B-8687-BAB9382B91C9}"/>
              </a:ext>
            </a:extLst>
          </p:cNvPr>
          <p:cNvSpPr>
            <a:spLocks noGrp="1"/>
          </p:cNvSpPr>
          <p:nvPr/>
        </p:nvSpPr>
        <p:spPr>
          <a:xfrm>
            <a:off x="4514850" y="16287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18" name="Rectangle 17">
            <a:extLst>
              <a:ext uri="{FF2B5EF4-FFF2-40B4-BE49-F238E27FC236}">
                <a16:creationId xmlns:a16="http://schemas.microsoft.com/office/drawing/2014/main" id="{3FB0B479-E919-4A82-8A12-0C774AE8F8AA}"/>
              </a:ext>
            </a:extLst>
          </p:cNvPr>
          <p:cNvSpPr>
            <a:spLocks noGrp="1"/>
          </p:cNvSpPr>
          <p:nvPr/>
        </p:nvSpPr>
        <p:spPr>
          <a:xfrm>
            <a:off x="4514850" y="1628775"/>
            <a:ext cx="57150" cy="619125"/>
          </a:xfrm>
          <a:prstGeom prst="rect">
            <a:avLst/>
          </a:prstGeom>
          <a:solidFill>
            <a:srgbClr val="2E5B8A"/>
          </a:solidFill>
          <a:ln w="0">
            <a:noFill/>
            <a:prstDash val="solid"/>
          </a:ln>
        </p:spPr>
        <p:txBody>
          <a:bodyPr/>
          <a:lstStyle/>
          <a:p>
            <a:endParaRPr/>
          </a:p>
        </p:txBody>
      </p:sp>
      <p:sp>
        <p:nvSpPr>
          <p:cNvPr id="19" name="Rectangle 18">
            <a:extLst>
              <a:ext uri="{FF2B5EF4-FFF2-40B4-BE49-F238E27FC236}">
                <a16:creationId xmlns:a16="http://schemas.microsoft.com/office/drawing/2014/main" id="{55291C18-3A48-43AB-9C02-DC17A3C3C925}"/>
              </a:ext>
            </a:extLst>
          </p:cNvPr>
          <p:cNvSpPr>
            <a:spLocks noGrp="1"/>
          </p:cNvSpPr>
          <p:nvPr/>
        </p:nvSpPr>
        <p:spPr>
          <a:xfrm>
            <a:off x="4686300" y="17240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DECISIÓN</a:t>
            </a:r>
          </a:p>
        </p:txBody>
      </p:sp>
      <p:sp>
        <p:nvSpPr>
          <p:cNvPr id="20" name="Rectangle 19">
            <a:extLst>
              <a:ext uri="{FF2B5EF4-FFF2-40B4-BE49-F238E27FC236}">
                <a16:creationId xmlns:a16="http://schemas.microsoft.com/office/drawing/2014/main" id="{73140391-8B50-4D00-8E91-238F7A5824D2}"/>
              </a:ext>
            </a:extLst>
          </p:cNvPr>
          <p:cNvSpPr>
            <a:spLocks noGrp="1"/>
          </p:cNvSpPr>
          <p:nvPr/>
        </p:nvSpPr>
        <p:spPr>
          <a:xfrm>
            <a:off x="4686300" y="19050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Revisar primero los viajes con mayor riesgo estimado</a:t>
            </a:r>
          </a:p>
        </p:txBody>
      </p:sp>
      <p:sp>
        <p:nvSpPr>
          <p:cNvPr id="21" name="Rectangle: Rounded Corners 20">
            <a:extLst>
              <a:ext uri="{FF2B5EF4-FFF2-40B4-BE49-F238E27FC236}">
                <a16:creationId xmlns:a16="http://schemas.microsoft.com/office/drawing/2014/main" id="{39D01FDA-C4F8-4511-AA90-54613F2489DF}"/>
              </a:ext>
            </a:extLst>
          </p:cNvPr>
          <p:cNvSpPr>
            <a:spLocks noGrp="1"/>
          </p:cNvSpPr>
          <p:nvPr/>
        </p:nvSpPr>
        <p:spPr>
          <a:xfrm>
            <a:off x="4514850" y="23526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22" name="Rectangle 21">
            <a:extLst>
              <a:ext uri="{FF2B5EF4-FFF2-40B4-BE49-F238E27FC236}">
                <a16:creationId xmlns:a16="http://schemas.microsoft.com/office/drawing/2014/main" id="{9A5DC8F6-3D69-4795-A1F3-956DDFA69517}"/>
              </a:ext>
            </a:extLst>
          </p:cNvPr>
          <p:cNvSpPr>
            <a:spLocks noGrp="1"/>
          </p:cNvSpPr>
          <p:nvPr/>
        </p:nvSpPr>
        <p:spPr>
          <a:xfrm>
            <a:off x="4514850" y="2352675"/>
            <a:ext cx="57150" cy="619125"/>
          </a:xfrm>
          <a:prstGeom prst="rect">
            <a:avLst/>
          </a:prstGeom>
          <a:solidFill>
            <a:srgbClr val="2E5B8A"/>
          </a:solidFill>
          <a:ln w="0">
            <a:noFill/>
            <a:prstDash val="solid"/>
          </a:ln>
        </p:spPr>
        <p:txBody>
          <a:bodyPr/>
          <a:lstStyle/>
          <a:p>
            <a:endParaRPr/>
          </a:p>
        </p:txBody>
      </p:sp>
      <p:sp>
        <p:nvSpPr>
          <p:cNvPr id="23" name="Rectangle 22">
            <a:extLst>
              <a:ext uri="{FF2B5EF4-FFF2-40B4-BE49-F238E27FC236}">
                <a16:creationId xmlns:a16="http://schemas.microsoft.com/office/drawing/2014/main" id="{55F69A13-CFB4-4647-9748-29FA04AFB9C8}"/>
              </a:ext>
            </a:extLst>
          </p:cNvPr>
          <p:cNvSpPr>
            <a:spLocks noGrp="1"/>
          </p:cNvSpPr>
          <p:nvPr/>
        </p:nvSpPr>
        <p:spPr>
          <a:xfrm>
            <a:off x="4686300" y="24479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UNIDAD DE OBSERVACIÓN</a:t>
            </a:r>
          </a:p>
        </p:txBody>
      </p:sp>
      <p:sp>
        <p:nvSpPr>
          <p:cNvPr id="24" name="Rectangle 23">
            <a:extLst>
              <a:ext uri="{FF2B5EF4-FFF2-40B4-BE49-F238E27FC236}">
                <a16:creationId xmlns:a16="http://schemas.microsoft.com/office/drawing/2014/main" id="{BFBEE504-7890-453C-A433-63AA50AA8A1E}"/>
              </a:ext>
            </a:extLst>
          </p:cNvPr>
          <p:cNvSpPr>
            <a:spLocks noGrp="1"/>
          </p:cNvSpPr>
          <p:nvPr/>
        </p:nvSpPr>
        <p:spPr>
          <a:xfrm>
            <a:off x="4686300" y="26289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Una lectura de telemetría de un viaje en un instante</a:t>
            </a:r>
          </a:p>
        </p:txBody>
      </p:sp>
      <p:sp>
        <p:nvSpPr>
          <p:cNvPr id="25" name="Rectangle: Rounded Corners 24">
            <a:extLst>
              <a:ext uri="{FF2B5EF4-FFF2-40B4-BE49-F238E27FC236}">
                <a16:creationId xmlns:a16="http://schemas.microsoft.com/office/drawing/2014/main" id="{3F45714C-645B-49C1-80D1-0EE3A1AA1072}"/>
              </a:ext>
            </a:extLst>
          </p:cNvPr>
          <p:cNvSpPr>
            <a:spLocks noGrp="1"/>
          </p:cNvSpPr>
          <p:nvPr/>
        </p:nvSpPr>
        <p:spPr>
          <a:xfrm>
            <a:off x="4514850" y="30765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26" name="Rectangle 25">
            <a:extLst>
              <a:ext uri="{FF2B5EF4-FFF2-40B4-BE49-F238E27FC236}">
                <a16:creationId xmlns:a16="http://schemas.microsoft.com/office/drawing/2014/main" id="{F57A5ACF-51A9-4E80-8F49-9C6EA86569EB}"/>
              </a:ext>
            </a:extLst>
          </p:cNvPr>
          <p:cNvSpPr>
            <a:spLocks noGrp="1"/>
          </p:cNvSpPr>
          <p:nvPr/>
        </p:nvSpPr>
        <p:spPr>
          <a:xfrm>
            <a:off x="4514850" y="3076575"/>
            <a:ext cx="57150" cy="619125"/>
          </a:xfrm>
          <a:prstGeom prst="rect">
            <a:avLst/>
          </a:prstGeom>
          <a:solidFill>
            <a:srgbClr val="2E5B8A"/>
          </a:solidFill>
          <a:ln w="0">
            <a:noFill/>
            <a:prstDash val="solid"/>
          </a:ln>
        </p:spPr>
        <p:txBody>
          <a:bodyPr/>
          <a:lstStyle/>
          <a:p>
            <a:endParaRPr/>
          </a:p>
        </p:txBody>
      </p:sp>
      <p:sp>
        <p:nvSpPr>
          <p:cNvPr id="27" name="Rectangle 26">
            <a:extLst>
              <a:ext uri="{FF2B5EF4-FFF2-40B4-BE49-F238E27FC236}">
                <a16:creationId xmlns:a16="http://schemas.microsoft.com/office/drawing/2014/main" id="{BA54BFE2-1F06-4D43-822A-CC8C551EC3B4}"/>
              </a:ext>
            </a:extLst>
          </p:cNvPr>
          <p:cNvSpPr>
            <a:spLocks noGrp="1"/>
          </p:cNvSpPr>
          <p:nvPr/>
        </p:nvSpPr>
        <p:spPr>
          <a:xfrm>
            <a:off x="4686300" y="31718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HORIZONTE</a:t>
            </a:r>
          </a:p>
        </p:txBody>
      </p:sp>
      <p:sp>
        <p:nvSpPr>
          <p:cNvPr id="28" name="Rectangle 27">
            <a:extLst>
              <a:ext uri="{FF2B5EF4-FFF2-40B4-BE49-F238E27FC236}">
                <a16:creationId xmlns:a16="http://schemas.microsoft.com/office/drawing/2014/main" id="{08961BD7-86E8-4E63-BD99-B71C2632E407}"/>
              </a:ext>
            </a:extLst>
          </p:cNvPr>
          <p:cNvSpPr>
            <a:spLocks noGrp="1"/>
          </p:cNvSpPr>
          <p:nvPr/>
        </p:nvSpPr>
        <p:spPr>
          <a:xfrm>
            <a:off x="4686300" y="33528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Desviación térmica durante los siguientes 60 minutos</a:t>
            </a:r>
          </a:p>
        </p:txBody>
      </p:sp>
      <p:sp>
        <p:nvSpPr>
          <p:cNvPr id="29" name="Rectangle: Rounded Corners 28">
            <a:extLst>
              <a:ext uri="{FF2B5EF4-FFF2-40B4-BE49-F238E27FC236}">
                <a16:creationId xmlns:a16="http://schemas.microsoft.com/office/drawing/2014/main" id="{8C4DB531-1BB4-4D6E-B540-E66A4E73E64F}"/>
              </a:ext>
            </a:extLst>
          </p:cNvPr>
          <p:cNvSpPr>
            <a:spLocks noGrp="1"/>
          </p:cNvSpPr>
          <p:nvPr/>
        </p:nvSpPr>
        <p:spPr>
          <a:xfrm>
            <a:off x="4514850" y="38004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30" name="Rectangle 29">
            <a:extLst>
              <a:ext uri="{FF2B5EF4-FFF2-40B4-BE49-F238E27FC236}">
                <a16:creationId xmlns:a16="http://schemas.microsoft.com/office/drawing/2014/main" id="{DD427D38-7375-417C-AAE2-222C00F4F857}"/>
              </a:ext>
            </a:extLst>
          </p:cNvPr>
          <p:cNvSpPr>
            <a:spLocks noGrp="1"/>
          </p:cNvSpPr>
          <p:nvPr/>
        </p:nvSpPr>
        <p:spPr>
          <a:xfrm>
            <a:off x="4514850" y="3800475"/>
            <a:ext cx="57150" cy="619125"/>
          </a:xfrm>
          <a:prstGeom prst="rect">
            <a:avLst/>
          </a:prstGeom>
          <a:solidFill>
            <a:srgbClr val="2E5B8A"/>
          </a:solidFill>
          <a:ln w="0">
            <a:noFill/>
            <a:prstDash val="solid"/>
          </a:ln>
        </p:spPr>
        <p:txBody>
          <a:bodyPr/>
          <a:lstStyle/>
          <a:p>
            <a:endParaRPr/>
          </a:p>
        </p:txBody>
      </p:sp>
      <p:sp>
        <p:nvSpPr>
          <p:cNvPr id="31" name="Rectangle 30">
            <a:extLst>
              <a:ext uri="{FF2B5EF4-FFF2-40B4-BE49-F238E27FC236}">
                <a16:creationId xmlns:a16="http://schemas.microsoft.com/office/drawing/2014/main" id="{38B46C9F-A96D-47E0-B8C3-0486914B0956}"/>
              </a:ext>
            </a:extLst>
          </p:cNvPr>
          <p:cNvSpPr>
            <a:spLocks noGrp="1"/>
          </p:cNvSpPr>
          <p:nvPr/>
        </p:nvSpPr>
        <p:spPr>
          <a:xfrm>
            <a:off x="4686300" y="38957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VARIABLE OBJETIVO (Y) — CON UNIDAD</a:t>
            </a:r>
          </a:p>
        </p:txBody>
      </p:sp>
      <p:sp>
        <p:nvSpPr>
          <p:cNvPr id="32" name="Rectangle 31">
            <a:extLst>
              <a:ext uri="{FF2B5EF4-FFF2-40B4-BE49-F238E27FC236}">
                <a16:creationId xmlns:a16="http://schemas.microsoft.com/office/drawing/2014/main" id="{D386A345-7EA8-449A-B42C-FCC3B4079FF8}"/>
              </a:ext>
            </a:extLst>
          </p:cNvPr>
          <p:cNvSpPr>
            <a:spLocks noGrp="1"/>
          </p:cNvSpPr>
          <p:nvPr/>
        </p:nvSpPr>
        <p:spPr>
          <a:xfrm>
            <a:off x="4686300" y="40767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desviacion_proximos_60min_flag (0 o 1)</a:t>
            </a:r>
          </a:p>
        </p:txBody>
      </p:sp>
      <p:sp>
        <p:nvSpPr>
          <p:cNvPr id="33" name="Rectangle: Rounded Corners 32">
            <a:extLst>
              <a:ext uri="{FF2B5EF4-FFF2-40B4-BE49-F238E27FC236}">
                <a16:creationId xmlns:a16="http://schemas.microsoft.com/office/drawing/2014/main" id="{89A3ED9D-890E-42D2-AAB3-4A2886BAAC82}"/>
              </a:ext>
            </a:extLst>
          </p:cNvPr>
          <p:cNvSpPr>
            <a:spLocks noGrp="1"/>
          </p:cNvSpPr>
          <p:nvPr/>
        </p:nvSpPr>
        <p:spPr>
          <a:xfrm>
            <a:off x="4514850" y="4524375"/>
            <a:ext cx="6762750" cy="619125"/>
          </a:xfrm>
          <a:prstGeom prst="roundRect">
            <a:avLst>
              <a:gd name="adj" fmla="val 15385"/>
            </a:avLst>
          </a:prstGeom>
          <a:solidFill>
            <a:srgbClr val="FFFFFF"/>
          </a:solidFill>
          <a:ln w="9525">
            <a:solidFill>
              <a:srgbClr val="EDF2F7"/>
            </a:solidFill>
            <a:prstDash val="solid"/>
          </a:ln>
        </p:spPr>
        <p:txBody>
          <a:bodyPr/>
          <a:lstStyle/>
          <a:p>
            <a:endParaRPr/>
          </a:p>
        </p:txBody>
      </p:sp>
      <p:sp>
        <p:nvSpPr>
          <p:cNvPr id="34" name="Rectangle 33">
            <a:extLst>
              <a:ext uri="{FF2B5EF4-FFF2-40B4-BE49-F238E27FC236}">
                <a16:creationId xmlns:a16="http://schemas.microsoft.com/office/drawing/2014/main" id="{EE2AB52A-490D-43E4-B0AE-648D34D7D731}"/>
              </a:ext>
            </a:extLst>
          </p:cNvPr>
          <p:cNvSpPr>
            <a:spLocks noGrp="1"/>
          </p:cNvSpPr>
          <p:nvPr/>
        </p:nvSpPr>
        <p:spPr>
          <a:xfrm>
            <a:off x="4514850" y="4524375"/>
            <a:ext cx="57150" cy="619125"/>
          </a:xfrm>
          <a:prstGeom prst="rect">
            <a:avLst/>
          </a:prstGeom>
          <a:solidFill>
            <a:srgbClr val="2E5B8A"/>
          </a:solidFill>
          <a:ln w="0">
            <a:noFill/>
            <a:prstDash val="solid"/>
          </a:ln>
        </p:spPr>
        <p:txBody>
          <a:bodyPr/>
          <a:lstStyle/>
          <a:p>
            <a:endParaRPr/>
          </a:p>
        </p:txBody>
      </p:sp>
      <p:sp>
        <p:nvSpPr>
          <p:cNvPr id="35" name="Rectangle 34">
            <a:extLst>
              <a:ext uri="{FF2B5EF4-FFF2-40B4-BE49-F238E27FC236}">
                <a16:creationId xmlns:a16="http://schemas.microsoft.com/office/drawing/2014/main" id="{607B515F-8721-42D7-9365-9A32F255A73E}"/>
              </a:ext>
            </a:extLst>
          </p:cNvPr>
          <p:cNvSpPr>
            <a:spLocks noGrp="1"/>
          </p:cNvSpPr>
          <p:nvPr/>
        </p:nvSpPr>
        <p:spPr>
          <a:xfrm>
            <a:off x="4686300" y="4619625"/>
            <a:ext cx="645795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PREDICTORAS X DISPONIBLES</a:t>
            </a:r>
          </a:p>
        </p:txBody>
      </p:sp>
      <p:sp>
        <p:nvSpPr>
          <p:cNvPr id="36" name="Rectangle 35">
            <a:extLst>
              <a:ext uri="{FF2B5EF4-FFF2-40B4-BE49-F238E27FC236}">
                <a16:creationId xmlns:a16="http://schemas.microsoft.com/office/drawing/2014/main" id="{D083A7F5-E30C-40CB-81E1-0420328E8D98}"/>
              </a:ext>
            </a:extLst>
          </p:cNvPr>
          <p:cNvSpPr>
            <a:spLocks noGrp="1"/>
          </p:cNvSpPr>
          <p:nvPr/>
        </p:nvSpPr>
        <p:spPr>
          <a:xfrm>
            <a:off x="4686300" y="4800600"/>
            <a:ext cx="6457950" cy="295275"/>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Temperatura y humedad actuales, desviación actual y dos antecedentes térmicos</a:t>
            </a:r>
          </a:p>
        </p:txBody>
      </p:sp>
      <p:sp>
        <p:nvSpPr>
          <p:cNvPr id="37" name="Rectangle: Rounded Corners 36">
            <a:extLst>
              <a:ext uri="{FF2B5EF4-FFF2-40B4-BE49-F238E27FC236}">
                <a16:creationId xmlns:a16="http://schemas.microsoft.com/office/drawing/2014/main" id="{F5812531-6669-4AB5-9EC3-1EFF277E3EDF}"/>
              </a:ext>
            </a:extLst>
          </p:cNvPr>
          <p:cNvSpPr>
            <a:spLocks noGrp="1"/>
          </p:cNvSpPr>
          <p:nvPr/>
        </p:nvSpPr>
        <p:spPr>
          <a:xfrm>
            <a:off x="4514850" y="5314950"/>
            <a:ext cx="6762750" cy="762000"/>
          </a:xfrm>
          <a:prstGeom prst="roundRect">
            <a:avLst>
              <a:gd name="adj" fmla="val 15000"/>
            </a:avLst>
          </a:prstGeom>
          <a:solidFill>
            <a:srgbClr val="FCE8E6"/>
          </a:solidFill>
          <a:ln w="0">
            <a:noFill/>
            <a:prstDash val="solid"/>
          </a:ln>
        </p:spPr>
        <p:txBody>
          <a:bodyPr/>
          <a:lstStyle/>
          <a:p>
            <a:endParaRPr/>
          </a:p>
        </p:txBody>
      </p:sp>
      <p:sp>
        <p:nvSpPr>
          <p:cNvPr id="38" name="Rectangle 37">
            <a:extLst>
              <a:ext uri="{FF2B5EF4-FFF2-40B4-BE49-F238E27FC236}">
                <a16:creationId xmlns:a16="http://schemas.microsoft.com/office/drawing/2014/main" id="{E4ED9B45-E7E0-4964-91B5-0DD3069262C3}"/>
              </a:ext>
            </a:extLst>
          </p:cNvPr>
          <p:cNvSpPr>
            <a:spLocks noGrp="1"/>
          </p:cNvSpPr>
          <p:nvPr/>
        </p:nvSpPr>
        <p:spPr>
          <a:xfrm>
            <a:off x="4686300" y="5375148"/>
            <a:ext cx="2000250" cy="200025"/>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dirty="0" err="1">
                <a:solidFill>
                  <a:srgbClr val="2E5B8A"/>
                </a:solidFill>
                <a:latin typeface="Arial"/>
                <a:ea typeface="Arial"/>
                <a:cs typeface="Arial"/>
              </a:rPr>
              <a:t>Alcance</a:t>
            </a:r>
            <a:r>
              <a:rPr sz="900" b="1" i="0" dirty="0">
                <a:solidFill>
                  <a:srgbClr val="2E5B8A"/>
                </a:solidFill>
                <a:latin typeface="Arial"/>
                <a:ea typeface="Arial"/>
                <a:cs typeface="Arial"/>
              </a:rPr>
              <a:t> y </a:t>
            </a:r>
            <a:r>
              <a:rPr sz="900" b="1" i="0" dirty="0" err="1">
                <a:solidFill>
                  <a:srgbClr val="2E5B8A"/>
                </a:solidFill>
                <a:latin typeface="Arial"/>
                <a:ea typeface="Arial"/>
                <a:cs typeface="Arial"/>
              </a:rPr>
              <a:t>exclusiones</a:t>
            </a:r>
            <a:endParaRPr sz="900" b="1" i="0" dirty="0">
              <a:solidFill>
                <a:srgbClr val="2E5B8A"/>
              </a:solidFill>
              <a:latin typeface="Arial"/>
              <a:ea typeface="Arial"/>
              <a:cs typeface="Arial"/>
            </a:endParaRPr>
          </a:p>
        </p:txBody>
      </p:sp>
      <p:sp>
        <p:nvSpPr>
          <p:cNvPr id="39" name="Rectangle 38">
            <a:extLst>
              <a:ext uri="{FF2B5EF4-FFF2-40B4-BE49-F238E27FC236}">
                <a16:creationId xmlns:a16="http://schemas.microsoft.com/office/drawing/2014/main" id="{86290CF2-B40F-417B-819F-0A3B4EEDE25C}"/>
              </a:ext>
            </a:extLst>
          </p:cNvPr>
          <p:cNvSpPr>
            <a:spLocks noGrp="1"/>
          </p:cNvSpPr>
          <p:nvPr/>
        </p:nvSpPr>
        <p:spPr>
          <a:xfrm>
            <a:off x="4686300" y="5567553"/>
            <a:ext cx="6457950" cy="266700"/>
          </a:xfrm>
          <a:prstGeom prst="rect">
            <a:avLst/>
          </a:prstGeom>
          <a:noFill/>
          <a:ln w="0">
            <a:noFill/>
          </a:ln>
        </p:spPr>
        <p:txBody>
          <a:bodyPr anchor="t">
            <a:noAutofit/>
          </a:bodyPr>
          <a:lstStyle/>
          <a:p>
            <a:pPr algn="l">
              <a:buNone/>
              <a:defRPr sz="1200" b="0" i="0">
                <a:solidFill>
                  <a:srgbClr val="1F3864"/>
                </a:solidFill>
                <a:latin typeface="Arial"/>
                <a:ea typeface="Arial"/>
                <a:cs typeface="Arial"/>
              </a:defRPr>
            </a:pPr>
            <a:r>
              <a:rPr sz="1200" b="0" i="0" dirty="0">
                <a:solidFill>
                  <a:srgbClr val="1F3864"/>
                </a:solidFill>
                <a:latin typeface="Arial"/>
                <a:ea typeface="Arial"/>
                <a:cs typeface="Arial"/>
              </a:rPr>
              <a:t>25797 </a:t>
            </a:r>
            <a:r>
              <a:rPr sz="1200" b="0" i="0" dirty="0" err="1">
                <a:solidFill>
                  <a:srgbClr val="1F3864"/>
                </a:solidFill>
                <a:latin typeface="Arial"/>
                <a:ea typeface="Arial"/>
                <a:cs typeface="Arial"/>
              </a:rPr>
              <a:t>ventanas</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evaluables</a:t>
            </a:r>
            <a:r>
              <a:rPr sz="1200" b="0" i="0" dirty="0">
                <a:solidFill>
                  <a:srgbClr val="1F3864"/>
                </a:solidFill>
                <a:latin typeface="Arial"/>
                <a:ea typeface="Arial"/>
                <a:cs typeface="Arial"/>
              </a:rPr>
              <a:t>. Se </a:t>
            </a:r>
            <a:r>
              <a:rPr sz="1200" b="0" i="0" dirty="0" err="1">
                <a:solidFill>
                  <a:srgbClr val="1F3864"/>
                </a:solidFill>
                <a:latin typeface="Arial"/>
                <a:ea typeface="Arial"/>
                <a:cs typeface="Arial"/>
              </a:rPr>
              <a:t>excluyen</a:t>
            </a:r>
            <a:r>
              <a:rPr sz="1200" b="0" i="0" dirty="0">
                <a:solidFill>
                  <a:srgbClr val="1F3864"/>
                </a:solidFill>
                <a:latin typeface="Arial"/>
                <a:ea typeface="Arial"/>
                <a:cs typeface="Arial"/>
              </a:rPr>
              <a:t> 2668 sin </a:t>
            </a:r>
            <a:r>
              <a:rPr sz="1200" b="0" i="0" dirty="0" err="1">
                <a:solidFill>
                  <a:srgbClr val="1F3864"/>
                </a:solidFill>
                <a:latin typeface="Arial"/>
                <a:ea typeface="Arial"/>
                <a:cs typeface="Arial"/>
              </a:rPr>
              <a:t>futuro</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completo</a:t>
            </a:r>
            <a:r>
              <a:rPr sz="1200" b="0" i="0" dirty="0">
                <a:solidFill>
                  <a:srgbClr val="1F3864"/>
                </a:solidFill>
                <a:latin typeface="Arial"/>
                <a:ea typeface="Arial"/>
                <a:cs typeface="Arial"/>
              </a:rPr>
              <a:t>. El </a:t>
            </a:r>
            <a:r>
              <a:rPr sz="1200" b="0" i="0" dirty="0" err="1">
                <a:solidFill>
                  <a:srgbClr val="1F3864"/>
                </a:solidFill>
                <a:latin typeface="Arial"/>
                <a:ea typeface="Arial"/>
                <a:cs typeface="Arial"/>
              </a:rPr>
              <a:t>análisis</a:t>
            </a:r>
            <a:r>
              <a:rPr sz="1200" b="0" i="0" dirty="0">
                <a:solidFill>
                  <a:srgbClr val="1F3864"/>
                </a:solidFill>
                <a:latin typeface="Arial"/>
                <a:ea typeface="Arial"/>
                <a:cs typeface="Arial"/>
              </a:rPr>
              <a:t> no </a:t>
            </a:r>
            <a:r>
              <a:rPr sz="1200" b="0" i="0" dirty="0" err="1">
                <a:solidFill>
                  <a:srgbClr val="1F3864"/>
                </a:solidFill>
                <a:latin typeface="Arial"/>
                <a:ea typeface="Arial"/>
                <a:cs typeface="Arial"/>
              </a:rPr>
              <a:t>demuestra</a:t>
            </a:r>
            <a:r>
              <a:rPr sz="1200" b="0" i="0" dirty="0">
                <a:solidFill>
                  <a:srgbClr val="1F3864"/>
                </a:solidFill>
                <a:latin typeface="Arial"/>
                <a:ea typeface="Arial"/>
                <a:cs typeface="Arial"/>
              </a:rPr>
              <a:t> </a:t>
            </a:r>
            <a:r>
              <a:rPr sz="1200" b="0" i="0" dirty="0" err="1">
                <a:solidFill>
                  <a:srgbClr val="1F3864"/>
                </a:solidFill>
                <a:latin typeface="Arial"/>
                <a:ea typeface="Arial"/>
                <a:cs typeface="Arial"/>
              </a:rPr>
              <a:t>causalidad</a:t>
            </a:r>
            <a:r>
              <a:rPr sz="1200" b="0" i="0" dirty="0">
                <a:solidFill>
                  <a:srgbClr val="1F3864"/>
                </a:solidFill>
                <a:latin typeface="Arial"/>
                <a:ea typeface="Arial"/>
                <a:cs typeface="Arial"/>
              </a:rPr>
              <a:t>.</a:t>
            </a:r>
          </a:p>
        </p:txBody>
      </p:sp>
    </p:spTree>
    <p:extLst>
      <p:ext uri="{BB962C8B-B14F-4D97-AF65-F5344CB8AC3E}">
        <p14:creationId xmlns:p14="http://schemas.microsoft.com/office/powerpoint/2010/main" val="192323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2775936-0A3B-4535-A177-92FD3DC1D7B8}"/>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D528B9A6-EE68-49C0-ABF6-1956971E7DA4}"/>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02 · DATOS Y PREPARACIÓN</a:t>
            </a:r>
          </a:p>
        </p:txBody>
      </p:sp>
      <p:sp>
        <p:nvSpPr>
          <p:cNvPr id="3" name="Rectangle 2">
            <a:extLst>
              <a:ext uri="{FF2B5EF4-FFF2-40B4-BE49-F238E27FC236}">
                <a16:creationId xmlns:a16="http://schemas.microsoft.com/office/drawing/2014/main" id="{F64C1D8A-E3E1-4C02-9D34-291D24E08B71}"/>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Datos, alcance y calidad</a:t>
            </a:r>
          </a:p>
        </p:txBody>
      </p:sp>
      <p:sp>
        <p:nvSpPr>
          <p:cNvPr id="4" name="Rectangle 3">
            <a:extLst>
              <a:ext uri="{FF2B5EF4-FFF2-40B4-BE49-F238E27FC236}">
                <a16:creationId xmlns:a16="http://schemas.microsoft.com/office/drawing/2014/main" id="{F293FD81-A7BF-4834-A89E-DF77CC5961DF}"/>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1CAB2796-5A29-444B-9399-A0E08190EE73}"/>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7FB7884C-ADB1-4789-975F-E61C13CC131A}"/>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2}" type="slidenum">
              <a:rPr sz="900" b="1" i="0">
                <a:solidFill>
                  <a:srgbClr val="2E5B8A"/>
                </a:solidFill>
                <a:latin typeface="Arial"/>
                <a:ea typeface="Arial"/>
                <a:cs typeface="Arial"/>
              </a:rPr>
              <a:t>3</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66A25185-9C28-4F04-9177-0A71F058C431}"/>
              </a:ext>
            </a:extLst>
          </p:cNvPr>
          <p:cNvSpPr>
            <a:spLocks noGrp="1"/>
          </p:cNvSpPr>
          <p:nvPr/>
        </p:nvSpPr>
        <p:spPr>
          <a:xfrm>
            <a:off x="533400"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Rectangle 7">
            <a:extLst>
              <a:ext uri="{FF2B5EF4-FFF2-40B4-BE49-F238E27FC236}">
                <a16:creationId xmlns:a16="http://schemas.microsoft.com/office/drawing/2014/main" id="{49FEE1F9-B0EC-40F9-8569-497159C38DF5}"/>
              </a:ext>
            </a:extLst>
          </p:cNvPr>
          <p:cNvSpPr>
            <a:spLocks noGrp="1"/>
          </p:cNvSpPr>
          <p:nvPr/>
        </p:nvSpPr>
        <p:spPr>
          <a:xfrm>
            <a:off x="533400" y="1200150"/>
            <a:ext cx="76200" cy="876300"/>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3F59E2A6-D9EF-4302-B682-4293B947BE24}"/>
              </a:ext>
            </a:extLst>
          </p:cNvPr>
          <p:cNvSpPr>
            <a:spLocks noGrp="1"/>
          </p:cNvSpPr>
          <p:nvPr/>
        </p:nvSpPr>
        <p:spPr>
          <a:xfrm>
            <a:off x="762000"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FUENTES</a:t>
            </a:r>
          </a:p>
        </p:txBody>
      </p:sp>
      <p:sp>
        <p:nvSpPr>
          <p:cNvPr id="10" name="Rectangle 9">
            <a:extLst>
              <a:ext uri="{FF2B5EF4-FFF2-40B4-BE49-F238E27FC236}">
                <a16:creationId xmlns:a16="http://schemas.microsoft.com/office/drawing/2014/main" id="{D1948B95-4341-42C3-86D3-0763D86EC047}"/>
              </a:ext>
            </a:extLst>
          </p:cNvPr>
          <p:cNvSpPr>
            <a:spLocks noGrp="1"/>
          </p:cNvSpPr>
          <p:nvPr/>
        </p:nvSpPr>
        <p:spPr>
          <a:xfrm>
            <a:off x="762000"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1 archivo CSV</a:t>
            </a:r>
          </a:p>
        </p:txBody>
      </p:sp>
      <p:sp>
        <p:nvSpPr>
          <p:cNvPr id="11" name="Rectangle: Rounded Corners 10">
            <a:extLst>
              <a:ext uri="{FF2B5EF4-FFF2-40B4-BE49-F238E27FC236}">
                <a16:creationId xmlns:a16="http://schemas.microsoft.com/office/drawing/2014/main" id="{5DEC1BDC-6003-4F37-9EBC-7B4632605A6D}"/>
              </a:ext>
            </a:extLst>
          </p:cNvPr>
          <p:cNvSpPr>
            <a:spLocks noGrp="1"/>
          </p:cNvSpPr>
          <p:nvPr/>
        </p:nvSpPr>
        <p:spPr>
          <a:xfrm>
            <a:off x="4257675"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Rectangle 11">
            <a:extLst>
              <a:ext uri="{FF2B5EF4-FFF2-40B4-BE49-F238E27FC236}">
                <a16:creationId xmlns:a16="http://schemas.microsoft.com/office/drawing/2014/main" id="{68B6571B-8A0A-4C71-A761-4148CF0A3609}"/>
              </a:ext>
            </a:extLst>
          </p:cNvPr>
          <p:cNvSpPr>
            <a:spLocks noGrp="1"/>
          </p:cNvSpPr>
          <p:nvPr/>
        </p:nvSpPr>
        <p:spPr>
          <a:xfrm>
            <a:off x="4257675" y="1200150"/>
            <a:ext cx="76200" cy="876300"/>
          </a:xfrm>
          <a:prstGeom prst="rect">
            <a:avLst/>
          </a:prstGeom>
          <a:solidFill>
            <a:srgbClr val="2E5B8A"/>
          </a:solidFill>
          <a:ln w="0">
            <a:noFill/>
            <a:prstDash val="solid"/>
          </a:ln>
        </p:spPr>
        <p:txBody>
          <a:bodyPr/>
          <a:lstStyle/>
          <a:p>
            <a:endParaRPr/>
          </a:p>
        </p:txBody>
      </p:sp>
      <p:sp>
        <p:nvSpPr>
          <p:cNvPr id="13" name="Rectangle 12">
            <a:extLst>
              <a:ext uri="{FF2B5EF4-FFF2-40B4-BE49-F238E27FC236}">
                <a16:creationId xmlns:a16="http://schemas.microsoft.com/office/drawing/2014/main" id="{55DBC245-FA13-4C3E-A070-409E124294AB}"/>
              </a:ext>
            </a:extLst>
          </p:cNvPr>
          <p:cNvSpPr>
            <a:spLocks noGrp="1"/>
          </p:cNvSpPr>
          <p:nvPr/>
        </p:nvSpPr>
        <p:spPr>
          <a:xfrm>
            <a:off x="4486275"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COBERTURA</a:t>
            </a:r>
          </a:p>
        </p:txBody>
      </p:sp>
      <p:sp>
        <p:nvSpPr>
          <p:cNvPr id="14" name="Rectangle 13">
            <a:extLst>
              <a:ext uri="{FF2B5EF4-FFF2-40B4-BE49-F238E27FC236}">
                <a16:creationId xmlns:a16="http://schemas.microsoft.com/office/drawing/2014/main" id="{0718611F-8712-42FD-B1D8-2D15CBB829DE}"/>
              </a:ext>
            </a:extLst>
          </p:cNvPr>
          <p:cNvSpPr>
            <a:spLocks noGrp="1"/>
          </p:cNvSpPr>
          <p:nvPr/>
        </p:nvSpPr>
        <p:spPr>
          <a:xfrm>
            <a:off x="4486275"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Agosto de 2026</a:t>
            </a:r>
          </a:p>
        </p:txBody>
      </p:sp>
      <p:sp>
        <p:nvSpPr>
          <p:cNvPr id="15" name="Rectangle: Rounded Corners 14">
            <a:extLst>
              <a:ext uri="{FF2B5EF4-FFF2-40B4-BE49-F238E27FC236}">
                <a16:creationId xmlns:a16="http://schemas.microsoft.com/office/drawing/2014/main" id="{8A6130E9-1941-4470-9E63-51BC93C2DA6E}"/>
              </a:ext>
            </a:extLst>
          </p:cNvPr>
          <p:cNvSpPr>
            <a:spLocks noGrp="1"/>
          </p:cNvSpPr>
          <p:nvPr/>
        </p:nvSpPr>
        <p:spPr>
          <a:xfrm>
            <a:off x="7981950" y="1200150"/>
            <a:ext cx="3429000" cy="876300"/>
          </a:xfrm>
          <a:prstGeom prst="roundRect">
            <a:avLst>
              <a:gd name="adj" fmla="val 15217"/>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6" name="Rectangle 15">
            <a:extLst>
              <a:ext uri="{FF2B5EF4-FFF2-40B4-BE49-F238E27FC236}">
                <a16:creationId xmlns:a16="http://schemas.microsoft.com/office/drawing/2014/main" id="{7C376893-778A-4F89-9748-60DEF618C5D5}"/>
              </a:ext>
            </a:extLst>
          </p:cNvPr>
          <p:cNvSpPr>
            <a:spLocks noGrp="1"/>
          </p:cNvSpPr>
          <p:nvPr/>
        </p:nvSpPr>
        <p:spPr>
          <a:xfrm>
            <a:off x="7981950" y="1200150"/>
            <a:ext cx="76200" cy="876300"/>
          </a:xfrm>
          <a:prstGeom prst="rect">
            <a:avLst/>
          </a:prstGeom>
          <a:solidFill>
            <a:srgbClr val="2E5B8A"/>
          </a:solidFill>
          <a:ln w="0">
            <a:noFill/>
            <a:prstDash val="solid"/>
          </a:ln>
        </p:spPr>
        <p:txBody>
          <a:bodyPr/>
          <a:lstStyle/>
          <a:p>
            <a:endParaRPr/>
          </a:p>
        </p:txBody>
      </p:sp>
      <p:sp>
        <p:nvSpPr>
          <p:cNvPr id="17" name="Rectangle 16">
            <a:extLst>
              <a:ext uri="{FF2B5EF4-FFF2-40B4-BE49-F238E27FC236}">
                <a16:creationId xmlns:a16="http://schemas.microsoft.com/office/drawing/2014/main" id="{1FB0042E-A597-4A5B-8F5A-3AC05DB93EBE}"/>
              </a:ext>
            </a:extLst>
          </p:cNvPr>
          <p:cNvSpPr>
            <a:spLocks noGrp="1"/>
          </p:cNvSpPr>
          <p:nvPr/>
        </p:nvSpPr>
        <p:spPr>
          <a:xfrm>
            <a:off x="8210550" y="1333500"/>
            <a:ext cx="14287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VOLUMEN</a:t>
            </a:r>
          </a:p>
        </p:txBody>
      </p:sp>
      <p:sp>
        <p:nvSpPr>
          <p:cNvPr id="18" name="Rectangle 17">
            <a:extLst>
              <a:ext uri="{FF2B5EF4-FFF2-40B4-BE49-F238E27FC236}">
                <a16:creationId xmlns:a16="http://schemas.microsoft.com/office/drawing/2014/main" id="{EFD07CE7-A0EB-4B63-9F14-03A179488405}"/>
              </a:ext>
            </a:extLst>
          </p:cNvPr>
          <p:cNvSpPr>
            <a:spLocks noGrp="1"/>
          </p:cNvSpPr>
          <p:nvPr/>
        </p:nvSpPr>
        <p:spPr>
          <a:xfrm>
            <a:off x="8210550" y="1581150"/>
            <a:ext cx="2952750" cy="304800"/>
          </a:xfrm>
          <a:prstGeom prst="rect">
            <a:avLst/>
          </a:prstGeom>
          <a:noFill/>
          <a:ln w="0">
            <a:noFill/>
          </a:ln>
        </p:spPr>
        <p:txBody>
          <a:bodyPr anchor="t">
            <a:noAutofit/>
          </a:bodyPr>
          <a:lstStyle/>
          <a:p>
            <a:pPr algn="l">
              <a:buNone/>
              <a:defRPr sz="1575" b="1" i="0">
                <a:solidFill>
                  <a:srgbClr val="1F3864"/>
                </a:solidFill>
                <a:latin typeface="Arial"/>
                <a:ea typeface="Arial"/>
                <a:cs typeface="Arial"/>
              </a:defRPr>
            </a:pPr>
            <a:r>
              <a:rPr sz="1575" b="1" i="0">
                <a:solidFill>
                  <a:srgbClr val="1F3864"/>
                </a:solidFill>
                <a:latin typeface="Arial"/>
                <a:ea typeface="Arial"/>
                <a:cs typeface="Arial"/>
              </a:rPr>
              <a:t>28.920 lecturas Bronze</a:t>
            </a:r>
          </a:p>
        </p:txBody>
      </p:sp>
      <p:sp>
        <p:nvSpPr>
          <p:cNvPr id="19" name="Rectangle: Rounded Corners 18">
            <a:extLst>
              <a:ext uri="{FF2B5EF4-FFF2-40B4-BE49-F238E27FC236}">
                <a16:creationId xmlns:a16="http://schemas.microsoft.com/office/drawing/2014/main" id="{BBEC98C2-AD72-481F-9D70-306D289CB83E}"/>
              </a:ext>
            </a:extLst>
          </p:cNvPr>
          <p:cNvSpPr>
            <a:spLocks noGrp="1"/>
          </p:cNvSpPr>
          <p:nvPr/>
        </p:nvSpPr>
        <p:spPr>
          <a:xfrm>
            <a:off x="533400" y="2324100"/>
            <a:ext cx="3676650" cy="3371850"/>
          </a:xfrm>
          <a:prstGeom prst="roundRect">
            <a:avLst>
              <a:gd name="adj" fmla="val 4520"/>
            </a:avLst>
          </a:prstGeom>
          <a:solidFill>
            <a:srgbClr val="EDF2F7"/>
          </a:solidFill>
          <a:ln w="0">
            <a:noFill/>
            <a:prstDash val="solid"/>
          </a:ln>
        </p:spPr>
        <p:txBody>
          <a:bodyPr/>
          <a:lstStyle/>
          <a:p>
            <a:endParaRPr/>
          </a:p>
        </p:txBody>
      </p:sp>
      <p:sp>
        <p:nvSpPr>
          <p:cNvPr id="20" name="Rectangle 19">
            <a:extLst>
              <a:ext uri="{FF2B5EF4-FFF2-40B4-BE49-F238E27FC236}">
                <a16:creationId xmlns:a16="http://schemas.microsoft.com/office/drawing/2014/main" id="{B417571B-2449-41BD-9A0A-BF3F6C7C48D3}"/>
              </a:ext>
            </a:extLst>
          </p:cNvPr>
          <p:cNvSpPr>
            <a:spLocks noGrp="1"/>
          </p:cNvSpPr>
          <p:nvPr/>
        </p:nvSpPr>
        <p:spPr>
          <a:xfrm>
            <a:off x="762000" y="2533650"/>
            <a:ext cx="3048000" cy="2667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Fuentes y alcance</a:t>
            </a:r>
          </a:p>
        </p:txBody>
      </p:sp>
      <p:sp>
        <p:nvSpPr>
          <p:cNvPr id="21" name="Rectangle 20">
            <a:extLst>
              <a:ext uri="{FF2B5EF4-FFF2-40B4-BE49-F238E27FC236}">
                <a16:creationId xmlns:a16="http://schemas.microsoft.com/office/drawing/2014/main" id="{E73E84BD-49C6-45BF-9C60-EA3E84DBFBC2}"/>
              </a:ext>
            </a:extLst>
          </p:cNvPr>
          <p:cNvSpPr>
            <a:spLocks noGrp="1"/>
          </p:cNvSpPr>
          <p:nvPr/>
        </p:nvSpPr>
        <p:spPr>
          <a:xfrm>
            <a:off x="762000" y="2952750"/>
            <a:ext cx="3048000" cy="19621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Fuente: telemetría IoT de AndinaLog</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Una lectura por viaje y momento</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1.200 viajes observados</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Temperatura y humedad de cabina</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Identificadores operativos, sin nombres personales</a:t>
            </a:r>
          </a:p>
        </p:txBody>
      </p:sp>
      <p:sp>
        <p:nvSpPr>
          <p:cNvPr id="22" name="Rectangle: Rounded Corners 21">
            <a:extLst>
              <a:ext uri="{FF2B5EF4-FFF2-40B4-BE49-F238E27FC236}">
                <a16:creationId xmlns:a16="http://schemas.microsoft.com/office/drawing/2014/main" id="{BF8BDB8C-8E6E-4867-9D15-5B5BE4EB33A5}"/>
              </a:ext>
            </a:extLst>
          </p:cNvPr>
          <p:cNvSpPr>
            <a:spLocks noGrp="1"/>
          </p:cNvSpPr>
          <p:nvPr/>
        </p:nvSpPr>
        <p:spPr>
          <a:xfrm>
            <a:off x="762000" y="5010150"/>
            <a:ext cx="3219450" cy="457200"/>
          </a:xfrm>
          <a:prstGeom prst="roundRect">
            <a:avLst>
              <a:gd name="adj" fmla="val 18750"/>
            </a:avLst>
          </a:prstGeom>
          <a:solidFill>
            <a:srgbClr val="FFFFFF"/>
          </a:solidFill>
          <a:ln w="9525">
            <a:solidFill>
              <a:srgbClr val="EDF2F7"/>
            </a:solidFill>
            <a:prstDash val="solid"/>
          </a:ln>
        </p:spPr>
        <p:txBody>
          <a:bodyPr/>
          <a:lstStyle/>
          <a:p>
            <a:endParaRPr/>
          </a:p>
        </p:txBody>
      </p:sp>
      <p:sp>
        <p:nvSpPr>
          <p:cNvPr id="23" name="Rectangle 22">
            <a:extLst>
              <a:ext uri="{FF2B5EF4-FFF2-40B4-BE49-F238E27FC236}">
                <a16:creationId xmlns:a16="http://schemas.microsoft.com/office/drawing/2014/main" id="{33FA929A-FBFE-4EE8-AB67-22A2AAAC5E68}"/>
              </a:ext>
            </a:extLst>
          </p:cNvPr>
          <p:cNvSpPr>
            <a:spLocks noGrp="1"/>
          </p:cNvSpPr>
          <p:nvPr/>
        </p:nvSpPr>
        <p:spPr>
          <a:xfrm>
            <a:off x="914400" y="5133975"/>
            <a:ext cx="3048000" cy="20955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Trazabilidad: Bronze 28.920 → Silver 28.465 + cuarentena 455 → Gold 28.465</a:t>
            </a:r>
          </a:p>
        </p:txBody>
      </p:sp>
      <p:graphicFrame>
        <p:nvGraphicFramePr>
          <p:cNvPr id="53" name="Table 50"/>
          <p:cNvGraphicFramePr/>
          <p:nvPr/>
        </p:nvGraphicFramePr>
        <p:xfrm>
          <a:off x="4476750" y="2324100"/>
          <a:ext cx="7181851" cy="2792730"/>
        </p:xfrm>
        <a:graphic>
          <a:graphicData uri="http://schemas.openxmlformats.org/drawingml/2006/table">
            <a:tbl>
              <a:tblPr/>
              <a:tblGrid>
                <a:gridCol w="2198526">
                  <a:extLst>
                    <a:ext uri="{9D8B030D-6E8A-4147-A177-3AD203B41FA5}">
                      <a16:colId xmlns:a16="http://schemas.microsoft.com/office/drawing/2014/main" val="20000"/>
                    </a:ext>
                  </a:extLst>
                </a:gridCol>
                <a:gridCol w="1465684">
                  <a:extLst>
                    <a:ext uri="{9D8B030D-6E8A-4147-A177-3AD203B41FA5}">
                      <a16:colId xmlns:a16="http://schemas.microsoft.com/office/drawing/2014/main" val="20001"/>
                    </a:ext>
                  </a:extLst>
                </a:gridCol>
                <a:gridCol w="3517641">
                  <a:extLst>
                    <a:ext uri="{9D8B030D-6E8A-4147-A177-3AD203B41FA5}">
                      <a16:colId xmlns:a16="http://schemas.microsoft.com/office/drawing/2014/main" val="20002"/>
                    </a:ext>
                  </a:extLst>
                </a:gridCol>
              </a:tblGrid>
              <a:tr h="544830">
                <a:tc>
                  <a:txBody>
                    <a:bodyPr/>
                    <a:lstStyle/>
                    <a:p>
                      <a:r>
                        <a:rPr sz="1050" b="1">
                          <a:solidFill>
                            <a:srgbClr val="FFFFFF"/>
                          </a:solidFill>
                          <a:latin typeface="Arial"/>
                          <a:ea typeface="Arial"/>
                          <a:cs typeface="Arial"/>
                        </a:rPr>
                        <a:t>Control de calidad</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Resultado</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Regla o decisión</a:t>
                      </a:r>
                    </a:p>
                  </a:txBody>
                  <a:tcPr marL="95250" marR="95250" marT="66675" marB="66675" anchor="ctr">
                    <a:solidFill>
                      <a:srgbClr val="1F3864"/>
                    </a:solidFill>
                  </a:tcPr>
                </a:tc>
                <a:extLst>
                  <a:ext uri="{0D108BD9-81ED-4DB2-BD59-A6C34878D82A}">
                    <a16:rowId xmlns:a16="http://schemas.microsoft.com/office/drawing/2014/main" val="10000"/>
                  </a:ext>
                </a:extLst>
              </a:tr>
              <a:tr h="544830">
                <a:tc>
                  <a:txBody>
                    <a:bodyPr/>
                    <a:lstStyle/>
                    <a:p>
                      <a:r>
                        <a:rPr sz="1050">
                          <a:solidFill>
                            <a:srgbClr val="1F3864"/>
                          </a:solidFill>
                          <a:latin typeface="Arial"/>
                          <a:ea typeface="Arial"/>
                          <a:cs typeface="Arial"/>
                        </a:rPr>
                        <a:t>Faltantes</a:t>
                      </a:r>
                    </a:p>
                  </a:txBody>
                  <a:tcPr marL="95250" marR="95250" marT="66675" marB="66675" anchor="ctr">
                    <a:solidFill>
                      <a:srgbClr val="FFFFFF"/>
                    </a:solidFill>
                  </a:tcPr>
                </a:tc>
                <a:tc>
                  <a:txBody>
                    <a:bodyPr/>
                    <a:lstStyle/>
                    <a:p>
                      <a:r>
                        <a:rPr sz="1050">
                          <a:solidFill>
                            <a:srgbClr val="1F3864"/>
                          </a:solidFill>
                          <a:latin typeface="Arial"/>
                          <a:ea typeface="Arial"/>
                          <a:cs typeface="Arial"/>
                        </a:rPr>
                        <a:t>80 temperaturas; 100 humedades</a:t>
                      </a:r>
                    </a:p>
                  </a:txBody>
                  <a:tcPr marL="95250" marR="95250" marT="66675" marB="66675" anchor="ctr">
                    <a:solidFill>
                      <a:srgbClr val="FFFFFF"/>
                    </a:solidFill>
                  </a:tcPr>
                </a:tc>
                <a:tc>
                  <a:txBody>
                    <a:bodyPr/>
                    <a:lstStyle/>
                    <a:p>
                      <a:r>
                        <a:rPr sz="1050">
                          <a:solidFill>
                            <a:srgbClr val="1F3864"/>
                          </a:solidFill>
                          <a:latin typeface="Arial"/>
                          <a:ea typeface="Arial"/>
                          <a:cs typeface="Arial"/>
                        </a:rPr>
                        <a:t>No imputar mediciones físicas; cuarentena</a:t>
                      </a:r>
                    </a:p>
                  </a:txBody>
                  <a:tcPr marL="95250" marR="95250" marT="66675" marB="66675" anchor="ctr">
                    <a:solidFill>
                      <a:srgbClr val="FFFFFF"/>
                    </a:solidFill>
                  </a:tcPr>
                </a:tc>
                <a:extLst>
                  <a:ext uri="{0D108BD9-81ED-4DB2-BD59-A6C34878D82A}">
                    <a16:rowId xmlns:a16="http://schemas.microsoft.com/office/drawing/2014/main" val="10001"/>
                  </a:ext>
                </a:extLst>
              </a:tr>
              <a:tr h="544830">
                <a:tc>
                  <a:txBody>
                    <a:bodyPr/>
                    <a:lstStyle/>
                    <a:p>
                      <a:r>
                        <a:rPr sz="1050">
                          <a:solidFill>
                            <a:srgbClr val="1F3864"/>
                          </a:solidFill>
                          <a:latin typeface="Arial"/>
                          <a:ea typeface="Arial"/>
                          <a:cs typeface="Arial"/>
                        </a:rPr>
                        <a:t>Duplicados</a:t>
                      </a:r>
                    </a:p>
                  </a:txBody>
                  <a:tcPr marL="95250" marR="95250" marT="66675" marB="66675" anchor="ctr">
                    <a:solidFill>
                      <a:srgbClr val="EDF2F7"/>
                    </a:solidFill>
                  </a:tcPr>
                </a:tc>
                <a:tc>
                  <a:txBody>
                    <a:bodyPr/>
                    <a:lstStyle/>
                    <a:p>
                      <a:r>
                        <a:rPr sz="1050">
                          <a:solidFill>
                            <a:srgbClr val="1F3864"/>
                          </a:solidFill>
                          <a:latin typeface="Arial"/>
                          <a:ea typeface="Arial"/>
                          <a:cs typeface="Arial"/>
                        </a:rPr>
                        <a:t>115 exactos; 120 por viaje y hora</a:t>
                      </a:r>
                    </a:p>
                  </a:txBody>
                  <a:tcPr marL="95250" marR="95250" marT="66675" marB="66675" anchor="ctr">
                    <a:solidFill>
                      <a:srgbClr val="EDF2F7"/>
                    </a:solidFill>
                  </a:tcPr>
                </a:tc>
                <a:tc>
                  <a:txBody>
                    <a:bodyPr/>
                    <a:lstStyle/>
                    <a:p>
                      <a:r>
                        <a:rPr sz="1050">
                          <a:solidFill>
                            <a:srgbClr val="1F3864"/>
                          </a:solidFill>
                          <a:latin typeface="Arial"/>
                          <a:ea typeface="Arial"/>
                          <a:cs typeface="Arial"/>
                        </a:rPr>
                        <a:t>Conservar trazabilidad y separar duplicados</a:t>
                      </a:r>
                    </a:p>
                  </a:txBody>
                  <a:tcPr marL="95250" marR="95250" marT="66675" marB="66675" anchor="ctr">
                    <a:solidFill>
                      <a:srgbClr val="EDF2F7"/>
                    </a:solidFill>
                  </a:tcPr>
                </a:tc>
                <a:extLst>
                  <a:ext uri="{0D108BD9-81ED-4DB2-BD59-A6C34878D82A}">
                    <a16:rowId xmlns:a16="http://schemas.microsoft.com/office/drawing/2014/main" val="10002"/>
                  </a:ext>
                </a:extLst>
              </a:tr>
              <a:tr h="544830">
                <a:tc>
                  <a:txBody>
                    <a:bodyPr/>
                    <a:lstStyle/>
                    <a:p>
                      <a:r>
                        <a:rPr sz="1050">
                          <a:solidFill>
                            <a:srgbClr val="1F3864"/>
                          </a:solidFill>
                          <a:latin typeface="Arial"/>
                          <a:ea typeface="Arial"/>
                          <a:cs typeface="Arial"/>
                        </a:rPr>
                        <a:t>Valores imposibles</a:t>
                      </a:r>
                    </a:p>
                  </a:txBody>
                  <a:tcPr marL="95250" marR="95250" marT="66675" marB="66675" anchor="ctr">
                    <a:solidFill>
                      <a:srgbClr val="FFFFFF"/>
                    </a:solidFill>
                  </a:tcPr>
                </a:tc>
                <a:tc>
                  <a:txBody>
                    <a:bodyPr/>
                    <a:lstStyle/>
                    <a:p>
                      <a:r>
                        <a:rPr sz="1050">
                          <a:solidFill>
                            <a:srgbClr val="1F3864"/>
                          </a:solidFill>
                          <a:latin typeface="Arial"/>
                          <a:ea typeface="Arial"/>
                          <a:cs typeface="Arial"/>
                        </a:rPr>
                        <a:t>120 valores -999; 15 fechas; 15 humedades</a:t>
                      </a:r>
                    </a:p>
                  </a:txBody>
                  <a:tcPr marL="95250" marR="95250" marT="66675" marB="66675" anchor="ctr">
                    <a:solidFill>
                      <a:srgbClr val="FFFFFF"/>
                    </a:solidFill>
                  </a:tcPr>
                </a:tc>
                <a:tc>
                  <a:txBody>
                    <a:bodyPr/>
                    <a:lstStyle/>
                    <a:p>
                      <a:r>
                        <a:rPr sz="1050">
                          <a:solidFill>
                            <a:srgbClr val="1F3864"/>
                          </a:solidFill>
                          <a:latin typeface="Arial"/>
                          <a:ea typeface="Arial"/>
                          <a:cs typeface="Arial"/>
                        </a:rPr>
                        <a:t>Convertir unidades seguras; cuarentena del resto</a:t>
                      </a:r>
                    </a:p>
                  </a:txBody>
                  <a:tcPr marL="95250" marR="95250" marT="66675" marB="66675" anchor="ctr">
                    <a:solidFill>
                      <a:srgbClr val="FFFFFF"/>
                    </a:solidFill>
                  </a:tcPr>
                </a:tc>
                <a:extLst>
                  <a:ext uri="{0D108BD9-81ED-4DB2-BD59-A6C34878D82A}">
                    <a16:rowId xmlns:a16="http://schemas.microsoft.com/office/drawing/2014/main" val="10003"/>
                  </a:ext>
                </a:extLst>
              </a:tr>
              <a:tr h="544830">
                <a:tc>
                  <a:txBody>
                    <a:bodyPr/>
                    <a:lstStyle/>
                    <a:p>
                      <a:r>
                        <a:rPr sz="1050">
                          <a:solidFill>
                            <a:srgbClr val="1F3864"/>
                          </a:solidFill>
                          <a:latin typeface="Arial"/>
                          <a:ea typeface="Arial"/>
                          <a:cs typeface="Arial"/>
                        </a:rPr>
                        <a:t>Cobertura futura</a:t>
                      </a:r>
                    </a:p>
                  </a:txBody>
                  <a:tcPr marL="95250" marR="95250" marT="66675" marB="66675" anchor="ctr">
                    <a:solidFill>
                      <a:srgbClr val="EDF2F7"/>
                    </a:solidFill>
                  </a:tcPr>
                </a:tc>
                <a:tc>
                  <a:txBody>
                    <a:bodyPr/>
                    <a:lstStyle/>
                    <a:p>
                      <a:r>
                        <a:rPr sz="1050">
                          <a:solidFill>
                            <a:srgbClr val="1F3864"/>
                          </a:solidFill>
                          <a:latin typeface="Arial"/>
                          <a:ea typeface="Arial"/>
                          <a:cs typeface="Arial"/>
                        </a:rPr>
                        <a:t>2.668 ventanas no evaluables</a:t>
                      </a:r>
                    </a:p>
                  </a:txBody>
                  <a:tcPr marL="95250" marR="95250" marT="66675" marB="66675" anchor="ctr">
                    <a:solidFill>
                      <a:srgbClr val="EDF2F7"/>
                    </a:solidFill>
                  </a:tcPr>
                </a:tc>
                <a:tc>
                  <a:txBody>
                    <a:bodyPr/>
                    <a:lstStyle/>
                    <a:p>
                      <a:r>
                        <a:rPr sz="1050">
                          <a:solidFill>
                            <a:srgbClr val="1F3864"/>
                          </a:solidFill>
                          <a:latin typeface="Arial"/>
                          <a:ea typeface="Arial"/>
                          <a:cs typeface="Arial"/>
                        </a:rPr>
                        <a:t>Conservar en Gold; excluir del objetivo y modelo</a:t>
                      </a:r>
                    </a:p>
                  </a:txBody>
                  <a:tcPr marL="95250" marR="95250" marT="66675" marB="66675" anchor="ctr">
                    <a:solidFill>
                      <a:srgbClr val="EDF2F7"/>
                    </a:solidFill>
                  </a:tcPr>
                </a:tc>
                <a:extLst>
                  <a:ext uri="{0D108BD9-81ED-4DB2-BD59-A6C34878D82A}">
                    <a16:rowId xmlns:a16="http://schemas.microsoft.com/office/drawing/2014/main" val="10004"/>
                  </a:ext>
                </a:extLst>
              </a:tr>
            </a:tbl>
          </a:graphicData>
        </a:graphic>
      </p:graphicFrame>
      <p:sp>
        <p:nvSpPr>
          <p:cNvPr id="25" name="Rectangle: Rounded Corners 24">
            <a:extLst>
              <a:ext uri="{FF2B5EF4-FFF2-40B4-BE49-F238E27FC236}">
                <a16:creationId xmlns:a16="http://schemas.microsoft.com/office/drawing/2014/main" id="{53B40353-FD31-411A-91E7-6D7775294C81}"/>
              </a:ext>
            </a:extLst>
          </p:cNvPr>
          <p:cNvSpPr>
            <a:spLocks noGrp="1"/>
          </p:cNvSpPr>
          <p:nvPr/>
        </p:nvSpPr>
        <p:spPr>
          <a:xfrm>
            <a:off x="4476750" y="5219700"/>
            <a:ext cx="7181850" cy="476250"/>
          </a:xfrm>
          <a:prstGeom prst="roundRect">
            <a:avLst>
              <a:gd name="adj" fmla="val 20000"/>
            </a:avLst>
          </a:prstGeom>
          <a:solidFill>
            <a:srgbClr val="EDF2F7"/>
          </a:solidFill>
          <a:ln w="0">
            <a:noFill/>
            <a:prstDash val="solid"/>
          </a:ln>
        </p:spPr>
        <p:txBody>
          <a:bodyPr/>
          <a:lstStyle/>
          <a:p>
            <a:endParaRPr/>
          </a:p>
        </p:txBody>
      </p:sp>
      <p:sp>
        <p:nvSpPr>
          <p:cNvPr id="26" name="Rectangle 25">
            <a:extLst>
              <a:ext uri="{FF2B5EF4-FFF2-40B4-BE49-F238E27FC236}">
                <a16:creationId xmlns:a16="http://schemas.microsoft.com/office/drawing/2014/main" id="{C32F5721-B796-4201-AAB9-755A24844A78}"/>
              </a:ext>
            </a:extLst>
          </p:cNvPr>
          <p:cNvSpPr>
            <a:spLocks noGrp="1"/>
          </p:cNvSpPr>
          <p:nvPr/>
        </p:nvSpPr>
        <p:spPr>
          <a:xfrm>
            <a:off x="4486275" y="5343525"/>
            <a:ext cx="7191375" cy="180975"/>
          </a:xfrm>
          <a:prstGeom prst="rect">
            <a:avLst/>
          </a:prstGeom>
          <a:noFill/>
          <a:ln w="0">
            <a:noFill/>
          </a:ln>
        </p:spPr>
        <p:txBody>
          <a:bodyPr anchor="t">
            <a:noAutofit/>
          </a:bodyPr>
          <a:lstStyle/>
          <a:p>
            <a:pPr algn="l">
              <a:buNone/>
              <a:defRPr sz="1125" b="1" i="0">
                <a:solidFill>
                  <a:srgbClr val="2E5B8A"/>
                </a:solidFill>
                <a:latin typeface="Arial"/>
                <a:ea typeface="Arial"/>
                <a:cs typeface="Arial"/>
              </a:defRPr>
            </a:pPr>
            <a:r>
              <a:rPr sz="1125" b="1" i="0">
                <a:solidFill>
                  <a:srgbClr val="2E5B8A"/>
                </a:solidFill>
                <a:latin typeface="Arial"/>
                <a:ea typeface="Arial"/>
                <a:cs typeface="Arial"/>
              </a:rPr>
              <a:t>Conclusión de calidad: los datos permiten modelar el riesgo con trazabilidad y límites explícitos</a:t>
            </a:r>
          </a:p>
        </p:txBody>
      </p:sp>
      <p:sp>
        <p:nvSpPr>
          <p:cNvPr id="27" name="Rectangle 26">
            <a:extLst>
              <a:ext uri="{FF2B5EF4-FFF2-40B4-BE49-F238E27FC236}">
                <a16:creationId xmlns:a16="http://schemas.microsoft.com/office/drawing/2014/main" id="{DD3718F0-EC62-4263-B6D8-1C396C2CEA73}"/>
              </a:ext>
            </a:extLst>
          </p:cNvPr>
          <p:cNvSpPr>
            <a:spLocks noGrp="1"/>
          </p:cNvSpPr>
          <p:nvPr/>
        </p:nvSpPr>
        <p:spPr>
          <a:xfrm>
            <a:off x="4476750" y="5848350"/>
            <a:ext cx="7181850" cy="228600"/>
          </a:xfrm>
          <a:prstGeom prst="rect">
            <a:avLst/>
          </a:prstGeom>
          <a:noFill/>
          <a:ln w="0">
            <a:noFill/>
          </a:ln>
        </p:spPr>
        <p:txBody>
          <a:bodyPr anchor="t">
            <a:noAutofit/>
          </a:bodyPr>
          <a:lstStyle/>
          <a:p>
            <a:pPr algn="l">
              <a:buNone/>
              <a:defRPr sz="975" b="0" i="1">
                <a:solidFill>
                  <a:srgbClr val="595959"/>
                </a:solidFill>
                <a:latin typeface="Arial"/>
                <a:ea typeface="Arial"/>
                <a:cs typeface="Arial"/>
              </a:defRPr>
            </a:pPr>
            <a:r>
              <a:rPr sz="975" b="0" i="1">
                <a:solidFill>
                  <a:srgbClr val="595959"/>
                </a:solidFill>
                <a:latin typeface="Arial"/>
                <a:ea typeface="Arial"/>
                <a:cs typeface="Arial"/>
              </a:rPr>
              <a:t>No confunda ausencia de errores técnicos con calidad para la decisión.</a:t>
            </a:r>
          </a:p>
        </p:txBody>
      </p:sp>
    </p:spTree>
    <p:extLst>
      <p:ext uri="{BB962C8B-B14F-4D97-AF65-F5344CB8AC3E}">
        <p14:creationId xmlns:p14="http://schemas.microsoft.com/office/powerpoint/2010/main" val="154633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61898A7-2045-463F-8A8D-D6A2A5FDE87B}"/>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DF3FFE2D-9DA6-4360-8DCB-76BF4996FDD3}"/>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03 · EVIDENCIA EXPLORATORIA</a:t>
            </a:r>
          </a:p>
        </p:txBody>
      </p:sp>
      <p:sp>
        <p:nvSpPr>
          <p:cNvPr id="3" name="Rectangle 2">
            <a:extLst>
              <a:ext uri="{FF2B5EF4-FFF2-40B4-BE49-F238E27FC236}">
                <a16:creationId xmlns:a16="http://schemas.microsoft.com/office/drawing/2014/main" id="{5FC0295A-343D-49CE-8B68-622AFF75929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Preparación y hallazgos del EDA</a:t>
            </a:r>
          </a:p>
        </p:txBody>
      </p:sp>
      <p:sp>
        <p:nvSpPr>
          <p:cNvPr id="4" name="Rectangle 3">
            <a:extLst>
              <a:ext uri="{FF2B5EF4-FFF2-40B4-BE49-F238E27FC236}">
                <a16:creationId xmlns:a16="http://schemas.microsoft.com/office/drawing/2014/main" id="{0A658491-823D-45C9-84A6-83BA45FFF8B6}"/>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65E104E7-6416-4242-8C59-09EA8191B9F5}"/>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06BD3584-11A0-43F8-82D7-BC2FA15DB31A}"/>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3}" type="slidenum">
              <a:rPr sz="900" b="1" i="0">
                <a:solidFill>
                  <a:srgbClr val="2E5B8A"/>
                </a:solidFill>
                <a:latin typeface="Arial"/>
                <a:ea typeface="Arial"/>
                <a:cs typeface="Arial"/>
              </a:rPr>
              <a:t>4</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E40E7812-143B-44E8-9E06-6FFEC030AAC6}"/>
              </a:ext>
            </a:extLst>
          </p:cNvPr>
          <p:cNvSpPr>
            <a:spLocks noGrp="1"/>
          </p:cNvSpPr>
          <p:nvPr/>
        </p:nvSpPr>
        <p:spPr>
          <a:xfrm>
            <a:off x="1257300"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8" name="Rectangle 7">
            <a:extLst>
              <a:ext uri="{FF2B5EF4-FFF2-40B4-BE49-F238E27FC236}">
                <a16:creationId xmlns:a16="http://schemas.microsoft.com/office/drawing/2014/main" id="{AD14E66A-DE61-4725-B46A-F6AB5A569625}"/>
              </a:ext>
            </a:extLst>
          </p:cNvPr>
          <p:cNvSpPr>
            <a:spLocks noGrp="1"/>
          </p:cNvSpPr>
          <p:nvPr/>
        </p:nvSpPr>
        <p:spPr>
          <a:xfrm>
            <a:off x="1257300" y="1209675"/>
            <a:ext cx="76200" cy="647700"/>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F8F71EBA-2C2B-4AC9-8B2E-14AD06EB7911}"/>
              </a:ext>
            </a:extLst>
          </p:cNvPr>
          <p:cNvSpPr>
            <a:spLocks noGrp="1"/>
          </p:cNvSpPr>
          <p:nvPr/>
        </p:nvSpPr>
        <p:spPr>
          <a:xfrm>
            <a:off x="1466850"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BRONZE</a:t>
            </a:r>
          </a:p>
        </p:txBody>
      </p:sp>
      <p:sp>
        <p:nvSpPr>
          <p:cNvPr id="10" name="Rectangle 9">
            <a:extLst>
              <a:ext uri="{FF2B5EF4-FFF2-40B4-BE49-F238E27FC236}">
                <a16:creationId xmlns:a16="http://schemas.microsoft.com/office/drawing/2014/main" id="{5EE3E458-054C-43E1-9CE1-DB5159ABCBC2}"/>
              </a:ext>
            </a:extLst>
          </p:cNvPr>
          <p:cNvSpPr>
            <a:spLocks noGrp="1"/>
          </p:cNvSpPr>
          <p:nvPr/>
        </p:nvSpPr>
        <p:spPr>
          <a:xfrm>
            <a:off x="1466850"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Dato recibido</a:t>
            </a:r>
          </a:p>
        </p:txBody>
      </p:sp>
      <p:sp>
        <p:nvSpPr>
          <p:cNvPr id="11" name="Rectangle: Rounded Corners 10">
            <a:extLst>
              <a:ext uri="{FF2B5EF4-FFF2-40B4-BE49-F238E27FC236}">
                <a16:creationId xmlns:a16="http://schemas.microsoft.com/office/drawing/2014/main" id="{DD982C8E-D5EF-4970-9191-AE599991F8DD}"/>
              </a:ext>
            </a:extLst>
          </p:cNvPr>
          <p:cNvSpPr>
            <a:spLocks noGrp="1"/>
          </p:cNvSpPr>
          <p:nvPr/>
        </p:nvSpPr>
        <p:spPr>
          <a:xfrm>
            <a:off x="4733925"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12" name="Rectangle 11">
            <a:extLst>
              <a:ext uri="{FF2B5EF4-FFF2-40B4-BE49-F238E27FC236}">
                <a16:creationId xmlns:a16="http://schemas.microsoft.com/office/drawing/2014/main" id="{2BE8386D-CE6F-4B23-B89E-FC45FF05DCE7}"/>
              </a:ext>
            </a:extLst>
          </p:cNvPr>
          <p:cNvSpPr>
            <a:spLocks noGrp="1"/>
          </p:cNvSpPr>
          <p:nvPr/>
        </p:nvSpPr>
        <p:spPr>
          <a:xfrm>
            <a:off x="4733925" y="1209675"/>
            <a:ext cx="76200" cy="647700"/>
          </a:xfrm>
          <a:prstGeom prst="rect">
            <a:avLst/>
          </a:prstGeom>
          <a:solidFill>
            <a:srgbClr val="2E5B8A"/>
          </a:solidFill>
          <a:ln w="0">
            <a:noFill/>
            <a:prstDash val="solid"/>
          </a:ln>
        </p:spPr>
        <p:txBody>
          <a:bodyPr/>
          <a:lstStyle/>
          <a:p>
            <a:endParaRPr/>
          </a:p>
        </p:txBody>
      </p:sp>
      <p:sp>
        <p:nvSpPr>
          <p:cNvPr id="13" name="Rectangle 12">
            <a:extLst>
              <a:ext uri="{FF2B5EF4-FFF2-40B4-BE49-F238E27FC236}">
                <a16:creationId xmlns:a16="http://schemas.microsoft.com/office/drawing/2014/main" id="{06CC392C-9929-4958-9E4D-6F79EAA9F7C0}"/>
              </a:ext>
            </a:extLst>
          </p:cNvPr>
          <p:cNvSpPr>
            <a:spLocks noGrp="1"/>
          </p:cNvSpPr>
          <p:nvPr/>
        </p:nvSpPr>
        <p:spPr>
          <a:xfrm>
            <a:off x="4943475"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SILVER</a:t>
            </a:r>
          </a:p>
        </p:txBody>
      </p:sp>
      <p:sp>
        <p:nvSpPr>
          <p:cNvPr id="14" name="Rectangle 13">
            <a:extLst>
              <a:ext uri="{FF2B5EF4-FFF2-40B4-BE49-F238E27FC236}">
                <a16:creationId xmlns:a16="http://schemas.microsoft.com/office/drawing/2014/main" id="{BD05E880-9253-4745-8436-F630A536C5E1}"/>
              </a:ext>
            </a:extLst>
          </p:cNvPr>
          <p:cNvSpPr>
            <a:spLocks noGrp="1"/>
          </p:cNvSpPr>
          <p:nvPr/>
        </p:nvSpPr>
        <p:spPr>
          <a:xfrm>
            <a:off x="4943475"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Calidad y cuarentena</a:t>
            </a:r>
          </a:p>
        </p:txBody>
      </p:sp>
      <p:sp>
        <p:nvSpPr>
          <p:cNvPr id="15" name="Rectangle: Rounded Corners 14">
            <a:extLst>
              <a:ext uri="{FF2B5EF4-FFF2-40B4-BE49-F238E27FC236}">
                <a16:creationId xmlns:a16="http://schemas.microsoft.com/office/drawing/2014/main" id="{DD2ACEC5-591A-4B1D-9D91-813021A5F196}"/>
              </a:ext>
            </a:extLst>
          </p:cNvPr>
          <p:cNvSpPr>
            <a:spLocks noGrp="1"/>
          </p:cNvSpPr>
          <p:nvPr/>
        </p:nvSpPr>
        <p:spPr>
          <a:xfrm>
            <a:off x="8210550" y="1209675"/>
            <a:ext cx="2619375" cy="647700"/>
          </a:xfrm>
          <a:prstGeom prst="roundRect">
            <a:avLst>
              <a:gd name="adj" fmla="val 17647"/>
            </a:avLst>
          </a:prstGeom>
          <a:solidFill>
            <a:srgbClr val="FFFFFF"/>
          </a:solidFill>
          <a:ln w="9525">
            <a:solidFill>
              <a:srgbClr val="2E5B8A"/>
            </a:solidFill>
            <a:prstDash val="solid"/>
          </a:ln>
        </p:spPr>
        <p:txBody>
          <a:bodyPr/>
          <a:lstStyle/>
          <a:p>
            <a:endParaRPr/>
          </a:p>
        </p:txBody>
      </p:sp>
      <p:sp>
        <p:nvSpPr>
          <p:cNvPr id="16" name="Rectangle 15">
            <a:extLst>
              <a:ext uri="{FF2B5EF4-FFF2-40B4-BE49-F238E27FC236}">
                <a16:creationId xmlns:a16="http://schemas.microsoft.com/office/drawing/2014/main" id="{4F3E2FD1-8E4F-4746-A899-4BA6306952F7}"/>
              </a:ext>
            </a:extLst>
          </p:cNvPr>
          <p:cNvSpPr>
            <a:spLocks noGrp="1"/>
          </p:cNvSpPr>
          <p:nvPr/>
        </p:nvSpPr>
        <p:spPr>
          <a:xfrm>
            <a:off x="8210550" y="1209675"/>
            <a:ext cx="76200" cy="647700"/>
          </a:xfrm>
          <a:prstGeom prst="rect">
            <a:avLst/>
          </a:prstGeom>
          <a:solidFill>
            <a:srgbClr val="2E5B8A"/>
          </a:solidFill>
          <a:ln w="0">
            <a:noFill/>
            <a:prstDash val="solid"/>
          </a:ln>
        </p:spPr>
        <p:txBody>
          <a:bodyPr/>
          <a:lstStyle/>
          <a:p>
            <a:endParaRPr/>
          </a:p>
        </p:txBody>
      </p:sp>
      <p:sp>
        <p:nvSpPr>
          <p:cNvPr id="17" name="Rectangle 16">
            <a:extLst>
              <a:ext uri="{FF2B5EF4-FFF2-40B4-BE49-F238E27FC236}">
                <a16:creationId xmlns:a16="http://schemas.microsoft.com/office/drawing/2014/main" id="{5FB61224-E866-4ADC-8B2E-24837C0611FE}"/>
              </a:ext>
            </a:extLst>
          </p:cNvPr>
          <p:cNvSpPr>
            <a:spLocks noGrp="1"/>
          </p:cNvSpPr>
          <p:nvPr/>
        </p:nvSpPr>
        <p:spPr>
          <a:xfrm>
            <a:off x="8420100" y="1304925"/>
            <a:ext cx="952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GOLD</a:t>
            </a:r>
          </a:p>
        </p:txBody>
      </p:sp>
      <p:sp>
        <p:nvSpPr>
          <p:cNvPr id="18" name="Rectangle 17">
            <a:extLst>
              <a:ext uri="{FF2B5EF4-FFF2-40B4-BE49-F238E27FC236}">
                <a16:creationId xmlns:a16="http://schemas.microsoft.com/office/drawing/2014/main" id="{62A9B7DB-4CBE-46F1-972D-73EA592D184B}"/>
              </a:ext>
            </a:extLst>
          </p:cNvPr>
          <p:cNvSpPr>
            <a:spLocks noGrp="1"/>
          </p:cNvSpPr>
          <p:nvPr/>
        </p:nvSpPr>
        <p:spPr>
          <a:xfrm>
            <a:off x="8420100" y="1504950"/>
            <a:ext cx="2190750" cy="22860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Variables y objetivo futuro</a:t>
            </a:r>
          </a:p>
        </p:txBody>
      </p:sp>
      <p:cxnSp>
        <p:nvCxnSpPr>
          <p:cNvPr id="124" name="Straight Arrow Connector 61"/>
          <p:cNvCxnSpPr>
            <a:stCxn id="7" idx="3"/>
            <a:endCxn id="11" idx="1"/>
          </p:cNvCxnSpPr>
          <p:nvPr/>
        </p:nvCxnSpPr>
        <p:spPr>
          <a:xfrm>
            <a:off x="3876675" y="1533525"/>
            <a:ext cx="857250" cy="0"/>
          </a:xfrm>
          <a:prstGeom prst="straightConnector1">
            <a:avLst/>
          </a:prstGeom>
          <a:ln w="19050">
            <a:solidFill>
              <a:srgbClr val="595959"/>
            </a:solidFill>
            <a:prstDash val="solid"/>
            <a:tailEnd type="arrow" w="sm" len="sm"/>
          </a:ln>
        </p:spPr>
      </p:cxnSp>
      <p:cxnSp>
        <p:nvCxnSpPr>
          <p:cNvPr id="125" name="Straight Arrow Connector 62"/>
          <p:cNvCxnSpPr>
            <a:stCxn id="11" idx="3"/>
            <a:endCxn id="15" idx="1"/>
          </p:cNvCxnSpPr>
          <p:nvPr/>
        </p:nvCxnSpPr>
        <p:spPr>
          <a:xfrm>
            <a:off x="7353300" y="1533525"/>
            <a:ext cx="857250" cy="0"/>
          </a:xfrm>
          <a:prstGeom prst="straightConnector1">
            <a:avLst/>
          </a:prstGeom>
          <a:ln w="19050">
            <a:solidFill>
              <a:srgbClr val="595959"/>
            </a:solidFill>
            <a:prstDash val="solid"/>
            <a:tailEnd type="arrow" w="sm" len="sm"/>
          </a:ln>
        </p:spPr>
      </p:cxnSp>
      <p:sp>
        <p:nvSpPr>
          <p:cNvPr id="21" name="Rectangle: Rounded Corners 20">
            <a:extLst>
              <a:ext uri="{FF2B5EF4-FFF2-40B4-BE49-F238E27FC236}">
                <a16:creationId xmlns:a16="http://schemas.microsoft.com/office/drawing/2014/main" id="{EF8757D7-DFF5-4F2D-8905-8234194F40D8}"/>
              </a:ext>
            </a:extLst>
          </p:cNvPr>
          <p:cNvSpPr>
            <a:spLocks noGrp="1"/>
          </p:cNvSpPr>
          <p:nvPr/>
        </p:nvSpPr>
        <p:spPr>
          <a:xfrm>
            <a:off x="533400" y="2171700"/>
            <a:ext cx="5467350" cy="2590800"/>
          </a:xfrm>
          <a:prstGeom prst="roundRect">
            <a:avLst>
              <a:gd name="adj" fmla="val 5147"/>
            </a:avLst>
          </a:prstGeom>
          <a:solidFill>
            <a:srgbClr val="EDF2F7"/>
          </a:solidFill>
          <a:ln w="9525">
            <a:solidFill>
              <a:srgbClr val="EDF2F7"/>
            </a:solidFill>
            <a:prstDash val="solid"/>
          </a:ln>
        </p:spPr>
        <p:txBody>
          <a:bodyPr/>
          <a:lstStyle/>
          <a:p>
            <a:endParaRPr/>
          </a:p>
        </p:txBody>
      </p:sp>
      <p:sp>
        <p:nvSpPr>
          <p:cNvPr id="22" name="Rectangle 21">
            <a:extLst>
              <a:ext uri="{FF2B5EF4-FFF2-40B4-BE49-F238E27FC236}">
                <a16:creationId xmlns:a16="http://schemas.microsoft.com/office/drawing/2014/main" id="{791216F9-018D-4C37-978E-9464CBBD52AE}"/>
              </a:ext>
            </a:extLst>
          </p:cNvPr>
          <p:cNvSpPr>
            <a:spLocks noGrp="1"/>
          </p:cNvSpPr>
          <p:nvPr/>
        </p:nvSpPr>
        <p:spPr>
          <a:xfrm>
            <a:off x="742950" y="2343150"/>
            <a:ext cx="4953000" cy="247650"/>
          </a:xfrm>
          <a:prstGeom prst="rect">
            <a:avLst/>
          </a:prstGeom>
          <a:noFill/>
          <a:ln w="0">
            <a:noFill/>
          </a:ln>
        </p:spPr>
        <p:txBody>
          <a:bodyPr anchor="t">
            <a:noAutofit/>
          </a:bodyPr>
          <a:lstStyle/>
          <a:p>
            <a:pPr algn="l">
              <a:buNone/>
              <a:defRPr sz="1275" b="1" i="0">
                <a:solidFill>
                  <a:srgbClr val="1F3864"/>
                </a:solidFill>
                <a:latin typeface="Arial"/>
                <a:ea typeface="Arial"/>
                <a:cs typeface="Arial"/>
              </a:defRPr>
            </a:pPr>
            <a:r>
              <a:rPr sz="1275" b="1" i="0">
                <a:solidFill>
                  <a:srgbClr val="1F3864"/>
                </a:solidFill>
                <a:latin typeface="Arial"/>
                <a:ea typeface="Arial"/>
                <a:cs typeface="Arial"/>
              </a:rPr>
              <a:t>Gráfico 1 · Frecuencia del objetivo</a:t>
            </a:r>
          </a:p>
        </p:txBody>
      </p:sp>
      <p:sp>
        <p:nvSpPr>
          <p:cNvPr id="26" name="Rectangle: Rounded Corners 25">
            <a:extLst>
              <a:ext uri="{FF2B5EF4-FFF2-40B4-BE49-F238E27FC236}">
                <a16:creationId xmlns:a16="http://schemas.microsoft.com/office/drawing/2014/main" id="{B494D331-B2C0-47EA-A243-A0F040DAB4A3}"/>
              </a:ext>
            </a:extLst>
          </p:cNvPr>
          <p:cNvSpPr>
            <a:spLocks noGrp="1"/>
          </p:cNvSpPr>
          <p:nvPr/>
        </p:nvSpPr>
        <p:spPr>
          <a:xfrm>
            <a:off x="6191250" y="2171700"/>
            <a:ext cx="5467350" cy="2590800"/>
          </a:xfrm>
          <a:prstGeom prst="roundRect">
            <a:avLst>
              <a:gd name="adj" fmla="val 5147"/>
            </a:avLst>
          </a:prstGeom>
          <a:solidFill>
            <a:srgbClr val="EDF2F7"/>
          </a:solidFill>
          <a:ln w="9525">
            <a:solidFill>
              <a:srgbClr val="EDF2F7"/>
            </a:solidFill>
            <a:prstDash val="solid"/>
          </a:ln>
        </p:spPr>
        <p:txBody>
          <a:bodyPr/>
          <a:lstStyle/>
          <a:p>
            <a:endParaRPr/>
          </a:p>
        </p:txBody>
      </p:sp>
      <p:sp>
        <p:nvSpPr>
          <p:cNvPr id="27" name="Rectangle 26">
            <a:extLst>
              <a:ext uri="{FF2B5EF4-FFF2-40B4-BE49-F238E27FC236}">
                <a16:creationId xmlns:a16="http://schemas.microsoft.com/office/drawing/2014/main" id="{8499767B-4BB8-4819-B964-FB1DC1695B3D}"/>
              </a:ext>
            </a:extLst>
          </p:cNvPr>
          <p:cNvSpPr>
            <a:spLocks noGrp="1"/>
          </p:cNvSpPr>
          <p:nvPr/>
        </p:nvSpPr>
        <p:spPr>
          <a:xfrm>
            <a:off x="6400800" y="2343150"/>
            <a:ext cx="4953000" cy="247650"/>
          </a:xfrm>
          <a:prstGeom prst="rect">
            <a:avLst/>
          </a:prstGeom>
          <a:noFill/>
          <a:ln w="0">
            <a:noFill/>
          </a:ln>
        </p:spPr>
        <p:txBody>
          <a:bodyPr anchor="t">
            <a:noAutofit/>
          </a:bodyPr>
          <a:lstStyle/>
          <a:p>
            <a:pPr algn="l">
              <a:buNone/>
              <a:defRPr sz="1275" b="1" i="0">
                <a:solidFill>
                  <a:srgbClr val="1F3864"/>
                </a:solidFill>
                <a:latin typeface="Arial"/>
                <a:ea typeface="Arial"/>
                <a:cs typeface="Arial"/>
              </a:defRPr>
            </a:pPr>
            <a:r>
              <a:rPr sz="1275" b="1" i="0">
                <a:solidFill>
                  <a:srgbClr val="1F3864"/>
                </a:solidFill>
                <a:latin typeface="Arial"/>
                <a:ea typeface="Arial"/>
                <a:cs typeface="Arial"/>
              </a:rPr>
              <a:t>Gráfico 2 · Desviación actual y riesgo futuro</a:t>
            </a:r>
          </a:p>
        </p:txBody>
      </p:sp>
      <p:sp>
        <p:nvSpPr>
          <p:cNvPr id="31" name="Rectangle 30">
            <a:extLst>
              <a:ext uri="{FF2B5EF4-FFF2-40B4-BE49-F238E27FC236}">
                <a16:creationId xmlns:a16="http://schemas.microsoft.com/office/drawing/2014/main" id="{4AE5DFBD-D085-430D-B3E1-5BF32E0B7F58}"/>
              </a:ext>
            </a:extLst>
          </p:cNvPr>
          <p:cNvSpPr>
            <a:spLocks noGrp="1"/>
          </p:cNvSpPr>
          <p:nvPr/>
        </p:nvSpPr>
        <p:spPr>
          <a:xfrm>
            <a:off x="533400" y="4972050"/>
            <a:ext cx="6858000" cy="26670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Tres hallazgos que cambian la comprensión del problema</a:t>
            </a:r>
          </a:p>
        </p:txBody>
      </p:sp>
      <p:sp>
        <p:nvSpPr>
          <p:cNvPr id="32" name="Rectangle: Rounded Corners 31">
            <a:extLst>
              <a:ext uri="{FF2B5EF4-FFF2-40B4-BE49-F238E27FC236}">
                <a16:creationId xmlns:a16="http://schemas.microsoft.com/office/drawing/2014/main" id="{199C4F7D-6F34-4E03-941E-1FA66AE6EF4F}"/>
              </a:ext>
            </a:extLst>
          </p:cNvPr>
          <p:cNvSpPr>
            <a:spLocks noGrp="1"/>
          </p:cNvSpPr>
          <p:nvPr/>
        </p:nvSpPr>
        <p:spPr>
          <a:xfrm>
            <a:off x="533400"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33" name="Rectangle 32">
            <a:extLst>
              <a:ext uri="{FF2B5EF4-FFF2-40B4-BE49-F238E27FC236}">
                <a16:creationId xmlns:a16="http://schemas.microsoft.com/office/drawing/2014/main" id="{86F37A72-DA95-45CE-ABE2-170CB3C41078}"/>
              </a:ext>
            </a:extLst>
          </p:cNvPr>
          <p:cNvSpPr>
            <a:spLocks noGrp="1"/>
          </p:cNvSpPr>
          <p:nvPr/>
        </p:nvSpPr>
        <p:spPr>
          <a:xfrm>
            <a:off x="533400" y="5334000"/>
            <a:ext cx="57150" cy="628650"/>
          </a:xfrm>
          <a:prstGeom prst="rect">
            <a:avLst/>
          </a:prstGeom>
          <a:solidFill>
            <a:srgbClr val="2E5B8A"/>
          </a:solidFill>
          <a:ln w="0">
            <a:noFill/>
            <a:prstDash val="solid"/>
          </a:ln>
        </p:spPr>
        <p:txBody>
          <a:bodyPr/>
          <a:lstStyle/>
          <a:p>
            <a:endParaRPr/>
          </a:p>
        </p:txBody>
      </p:sp>
      <p:sp>
        <p:nvSpPr>
          <p:cNvPr id="34" name="Rectangle 33">
            <a:extLst>
              <a:ext uri="{FF2B5EF4-FFF2-40B4-BE49-F238E27FC236}">
                <a16:creationId xmlns:a16="http://schemas.microsoft.com/office/drawing/2014/main" id="{E8C7D814-B3B3-4E58-86E0-FA44D7B44625}"/>
              </a:ext>
            </a:extLst>
          </p:cNvPr>
          <p:cNvSpPr>
            <a:spLocks noGrp="1"/>
          </p:cNvSpPr>
          <p:nvPr/>
        </p:nvSpPr>
        <p:spPr>
          <a:xfrm>
            <a:off x="704850"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1</a:t>
            </a:r>
          </a:p>
        </p:txBody>
      </p:sp>
      <p:sp>
        <p:nvSpPr>
          <p:cNvPr id="35" name="Rectangle 34">
            <a:extLst>
              <a:ext uri="{FF2B5EF4-FFF2-40B4-BE49-F238E27FC236}">
                <a16:creationId xmlns:a16="http://schemas.microsoft.com/office/drawing/2014/main" id="{7805B157-CAC4-4AA8-A4D9-B7734D800EAB}"/>
              </a:ext>
            </a:extLst>
          </p:cNvPr>
          <p:cNvSpPr>
            <a:spLocks noGrp="1"/>
          </p:cNvSpPr>
          <p:nvPr/>
        </p:nvSpPr>
        <p:spPr>
          <a:xfrm>
            <a:off x="704850" y="5610225"/>
            <a:ext cx="312420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Eventos futuros: 5,02% de las ventanas evaluables</a:t>
            </a:r>
          </a:p>
        </p:txBody>
      </p:sp>
      <p:sp>
        <p:nvSpPr>
          <p:cNvPr id="36" name="Rectangle: Rounded Corners 35">
            <a:extLst>
              <a:ext uri="{FF2B5EF4-FFF2-40B4-BE49-F238E27FC236}">
                <a16:creationId xmlns:a16="http://schemas.microsoft.com/office/drawing/2014/main" id="{ECD1CB10-798D-4D7B-A47E-CB354ECB2C32}"/>
              </a:ext>
            </a:extLst>
          </p:cNvPr>
          <p:cNvSpPr>
            <a:spLocks noGrp="1"/>
          </p:cNvSpPr>
          <p:nvPr/>
        </p:nvSpPr>
        <p:spPr>
          <a:xfrm>
            <a:off x="4238625"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37" name="Rectangle 36">
            <a:extLst>
              <a:ext uri="{FF2B5EF4-FFF2-40B4-BE49-F238E27FC236}">
                <a16:creationId xmlns:a16="http://schemas.microsoft.com/office/drawing/2014/main" id="{05C5F7D4-2D47-4300-8E8D-A6702F9BBC31}"/>
              </a:ext>
            </a:extLst>
          </p:cNvPr>
          <p:cNvSpPr>
            <a:spLocks noGrp="1"/>
          </p:cNvSpPr>
          <p:nvPr/>
        </p:nvSpPr>
        <p:spPr>
          <a:xfrm>
            <a:off x="4238625" y="5334000"/>
            <a:ext cx="57150" cy="628650"/>
          </a:xfrm>
          <a:prstGeom prst="rect">
            <a:avLst/>
          </a:prstGeom>
          <a:solidFill>
            <a:srgbClr val="2E5B8A"/>
          </a:solidFill>
          <a:ln w="0">
            <a:noFill/>
            <a:prstDash val="solid"/>
          </a:ln>
        </p:spPr>
        <p:txBody>
          <a:bodyPr/>
          <a:lstStyle/>
          <a:p>
            <a:endParaRPr/>
          </a:p>
        </p:txBody>
      </p:sp>
      <p:sp>
        <p:nvSpPr>
          <p:cNvPr id="38" name="Rectangle 37">
            <a:extLst>
              <a:ext uri="{FF2B5EF4-FFF2-40B4-BE49-F238E27FC236}">
                <a16:creationId xmlns:a16="http://schemas.microsoft.com/office/drawing/2014/main" id="{E9CCF00C-1C07-4DFD-A20B-5626FBE5ECE9}"/>
              </a:ext>
            </a:extLst>
          </p:cNvPr>
          <p:cNvSpPr>
            <a:spLocks noGrp="1"/>
          </p:cNvSpPr>
          <p:nvPr/>
        </p:nvSpPr>
        <p:spPr>
          <a:xfrm>
            <a:off x="4410075"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2</a:t>
            </a:r>
          </a:p>
        </p:txBody>
      </p:sp>
      <p:sp>
        <p:nvSpPr>
          <p:cNvPr id="39" name="Rectangle 38">
            <a:extLst>
              <a:ext uri="{FF2B5EF4-FFF2-40B4-BE49-F238E27FC236}">
                <a16:creationId xmlns:a16="http://schemas.microsoft.com/office/drawing/2014/main" id="{82DB381A-0FAF-42AD-A2DC-D0756571892B}"/>
              </a:ext>
            </a:extLst>
          </p:cNvPr>
          <p:cNvSpPr>
            <a:spLocks noGrp="1"/>
          </p:cNvSpPr>
          <p:nvPr/>
        </p:nvSpPr>
        <p:spPr>
          <a:xfrm>
            <a:off x="4410075" y="5610225"/>
            <a:ext cx="312420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Con desviación actual, el riesgo futuro sube a 59,41%</a:t>
            </a:r>
          </a:p>
        </p:txBody>
      </p:sp>
      <p:sp>
        <p:nvSpPr>
          <p:cNvPr id="40" name="Rectangle: Rounded Corners 39">
            <a:extLst>
              <a:ext uri="{FF2B5EF4-FFF2-40B4-BE49-F238E27FC236}">
                <a16:creationId xmlns:a16="http://schemas.microsoft.com/office/drawing/2014/main" id="{FF5DA023-D550-4414-BD9F-86F82AA9038D}"/>
              </a:ext>
            </a:extLst>
          </p:cNvPr>
          <p:cNvSpPr>
            <a:spLocks noGrp="1"/>
          </p:cNvSpPr>
          <p:nvPr/>
        </p:nvSpPr>
        <p:spPr>
          <a:xfrm>
            <a:off x="7943850" y="5334000"/>
            <a:ext cx="3429000" cy="628650"/>
          </a:xfrm>
          <a:prstGeom prst="roundRect">
            <a:avLst>
              <a:gd name="adj" fmla="val 15152"/>
            </a:avLst>
          </a:prstGeom>
          <a:solidFill>
            <a:srgbClr val="FFFFFF"/>
          </a:solidFill>
          <a:ln w="9525">
            <a:solidFill>
              <a:srgbClr val="EDF2F7"/>
            </a:solidFill>
            <a:prstDash val="solid"/>
          </a:ln>
        </p:spPr>
        <p:txBody>
          <a:bodyPr/>
          <a:lstStyle/>
          <a:p>
            <a:endParaRPr/>
          </a:p>
        </p:txBody>
      </p:sp>
      <p:sp>
        <p:nvSpPr>
          <p:cNvPr id="41" name="Rectangle 40">
            <a:extLst>
              <a:ext uri="{FF2B5EF4-FFF2-40B4-BE49-F238E27FC236}">
                <a16:creationId xmlns:a16="http://schemas.microsoft.com/office/drawing/2014/main" id="{F36DDB51-CFB7-4503-927D-3AD21CC78A88}"/>
              </a:ext>
            </a:extLst>
          </p:cNvPr>
          <p:cNvSpPr>
            <a:spLocks noGrp="1"/>
          </p:cNvSpPr>
          <p:nvPr/>
        </p:nvSpPr>
        <p:spPr>
          <a:xfrm>
            <a:off x="7943850" y="5334000"/>
            <a:ext cx="57150" cy="628650"/>
          </a:xfrm>
          <a:prstGeom prst="rect">
            <a:avLst/>
          </a:prstGeom>
          <a:solidFill>
            <a:srgbClr val="2E5B8A"/>
          </a:solidFill>
          <a:ln w="0">
            <a:noFill/>
            <a:prstDash val="solid"/>
          </a:ln>
        </p:spPr>
        <p:txBody>
          <a:bodyPr/>
          <a:lstStyle/>
          <a:p>
            <a:endParaRPr/>
          </a:p>
        </p:txBody>
      </p:sp>
      <p:sp>
        <p:nvSpPr>
          <p:cNvPr id="42" name="Rectangle 41">
            <a:extLst>
              <a:ext uri="{FF2B5EF4-FFF2-40B4-BE49-F238E27FC236}">
                <a16:creationId xmlns:a16="http://schemas.microsoft.com/office/drawing/2014/main" id="{1DCF2F3E-2150-4749-A9B3-DB318A51D37A}"/>
              </a:ext>
            </a:extLst>
          </p:cNvPr>
          <p:cNvSpPr>
            <a:spLocks noGrp="1"/>
          </p:cNvSpPr>
          <p:nvPr/>
        </p:nvSpPr>
        <p:spPr>
          <a:xfrm>
            <a:off x="8115300" y="5429250"/>
            <a:ext cx="3124200" cy="171450"/>
          </a:xfrm>
          <a:prstGeom prst="rect">
            <a:avLst/>
          </a:prstGeom>
          <a:noFill/>
          <a:ln w="0">
            <a:noFill/>
          </a:ln>
        </p:spPr>
        <p:txBody>
          <a:bodyPr anchor="t">
            <a:noAutofit/>
          </a:bodyPr>
          <a:lstStyle/>
          <a:p>
            <a:pPr algn="l">
              <a:buNone/>
              <a:defRPr sz="825" b="1" i="0">
                <a:solidFill>
                  <a:srgbClr val="2E5B8A"/>
                </a:solidFill>
                <a:latin typeface="Arial"/>
                <a:ea typeface="Arial"/>
                <a:cs typeface="Arial"/>
              </a:defRPr>
            </a:pPr>
            <a:r>
              <a:rPr sz="825" b="1" i="0">
                <a:solidFill>
                  <a:srgbClr val="2E5B8A"/>
                </a:solidFill>
                <a:latin typeface="Arial"/>
                <a:ea typeface="Arial"/>
                <a:cs typeface="Arial"/>
              </a:rPr>
              <a:t>3</a:t>
            </a:r>
          </a:p>
        </p:txBody>
      </p:sp>
      <p:sp>
        <p:nvSpPr>
          <p:cNvPr id="43" name="Rectangle 42">
            <a:extLst>
              <a:ext uri="{FF2B5EF4-FFF2-40B4-BE49-F238E27FC236}">
                <a16:creationId xmlns:a16="http://schemas.microsoft.com/office/drawing/2014/main" id="{EF4E876E-E31F-4134-8CCA-261D655E3F91}"/>
              </a:ext>
            </a:extLst>
          </p:cNvPr>
          <p:cNvSpPr>
            <a:spLocks noGrp="1"/>
          </p:cNvSpPr>
          <p:nvPr/>
        </p:nvSpPr>
        <p:spPr>
          <a:xfrm>
            <a:off x="8115300" y="5610225"/>
            <a:ext cx="3124200" cy="3048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Temperatura y humedad cambian, pero las clases se superponen</a:t>
            </a:r>
          </a:p>
        </p:txBody>
      </p:sp>
      <p:graphicFrame>
        <p:nvGraphicFramePr>
          <p:cNvPr id="143" name="Chart"/>
          <p:cNvGraphicFramePr/>
          <p:nvPr/>
        </p:nvGraphicFramePr>
        <p:xfrm>
          <a:off x="876300" y="2781300"/>
          <a:ext cx="4762500" cy="1428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4" name="Chart"/>
          <p:cNvGraphicFramePr/>
          <p:nvPr/>
        </p:nvGraphicFramePr>
        <p:xfrm>
          <a:off x="6534150" y="2781300"/>
          <a:ext cx="4762500" cy="14287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899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5FE99C2-AC92-49E0-844F-0B9A9F7B175E}"/>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2D36D383-02F3-4835-A719-B1B23BB26C43}"/>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04 · MODELO Y BASELINE</a:t>
            </a:r>
          </a:p>
        </p:txBody>
      </p:sp>
      <p:sp>
        <p:nvSpPr>
          <p:cNvPr id="3" name="Rectangle 2">
            <a:extLst>
              <a:ext uri="{FF2B5EF4-FFF2-40B4-BE49-F238E27FC236}">
                <a16:creationId xmlns:a16="http://schemas.microsoft.com/office/drawing/2014/main" id="{2C1BA6DD-CDA2-444F-836B-E14B4581BACF}"/>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Modelo elegido y comparación</a:t>
            </a:r>
          </a:p>
        </p:txBody>
      </p:sp>
      <p:sp>
        <p:nvSpPr>
          <p:cNvPr id="4" name="Rectangle 3">
            <a:extLst>
              <a:ext uri="{FF2B5EF4-FFF2-40B4-BE49-F238E27FC236}">
                <a16:creationId xmlns:a16="http://schemas.microsoft.com/office/drawing/2014/main" id="{DF8A80A2-3152-4AED-BC71-3E95567464FF}"/>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B58F422D-3690-4100-A27C-AC92231022C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25B39077-CBD3-4398-91D2-5C101C42247C}"/>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4}" type="slidenum">
              <a:rPr sz="900" b="1" i="0">
                <a:solidFill>
                  <a:srgbClr val="2E5B8A"/>
                </a:solidFill>
                <a:latin typeface="Arial"/>
                <a:ea typeface="Arial"/>
                <a:cs typeface="Arial"/>
              </a:rPr>
              <a:t>5</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8EEE7EC4-47F8-41D8-A0DD-C334C8FD2223}"/>
              </a:ext>
            </a:extLst>
          </p:cNvPr>
          <p:cNvSpPr>
            <a:spLocks noGrp="1"/>
          </p:cNvSpPr>
          <p:nvPr/>
        </p:nvSpPr>
        <p:spPr>
          <a:xfrm>
            <a:off x="533400" y="1200150"/>
            <a:ext cx="4953000" cy="1219200"/>
          </a:xfrm>
          <a:prstGeom prst="roundRect">
            <a:avLst>
              <a:gd name="adj" fmla="val 11719"/>
            </a:avLst>
          </a:prstGeom>
          <a:solidFill>
            <a:srgbClr val="EDF2F7"/>
          </a:solidFill>
          <a:ln w="0">
            <a:noFill/>
            <a:prstDash val="solid"/>
          </a:ln>
        </p:spPr>
        <p:txBody>
          <a:bodyPr/>
          <a:lstStyle/>
          <a:p>
            <a:endParaRPr/>
          </a:p>
        </p:txBody>
      </p:sp>
      <p:sp>
        <p:nvSpPr>
          <p:cNvPr id="8" name="Rectangle 7">
            <a:extLst>
              <a:ext uri="{FF2B5EF4-FFF2-40B4-BE49-F238E27FC236}">
                <a16:creationId xmlns:a16="http://schemas.microsoft.com/office/drawing/2014/main" id="{4100732E-3EC0-4E1A-8852-A948D4619BA0}"/>
              </a:ext>
            </a:extLst>
          </p:cNvPr>
          <p:cNvSpPr>
            <a:spLocks noGrp="1"/>
          </p:cNvSpPr>
          <p:nvPr/>
        </p:nvSpPr>
        <p:spPr>
          <a:xfrm>
            <a:off x="762000" y="1371600"/>
            <a:ext cx="18097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Tarea analítica</a:t>
            </a:r>
          </a:p>
        </p:txBody>
      </p:sp>
      <p:sp>
        <p:nvSpPr>
          <p:cNvPr id="9" name="Rectangle 8">
            <a:extLst>
              <a:ext uri="{FF2B5EF4-FFF2-40B4-BE49-F238E27FC236}">
                <a16:creationId xmlns:a16="http://schemas.microsoft.com/office/drawing/2014/main" id="{E65E8DDD-5C59-433B-AE78-0B62EE624CB4}"/>
              </a:ext>
            </a:extLst>
          </p:cNvPr>
          <p:cNvSpPr>
            <a:spLocks noGrp="1"/>
          </p:cNvSpPr>
          <p:nvPr/>
        </p:nvSpPr>
        <p:spPr>
          <a:xfrm>
            <a:off x="762000" y="1676400"/>
            <a:ext cx="4381500" cy="26670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Clasificación binaria con regresión logística</a:t>
            </a:r>
          </a:p>
        </p:txBody>
      </p:sp>
      <p:sp>
        <p:nvSpPr>
          <p:cNvPr id="10" name="Rectangle 9">
            <a:extLst>
              <a:ext uri="{FF2B5EF4-FFF2-40B4-BE49-F238E27FC236}">
                <a16:creationId xmlns:a16="http://schemas.microsoft.com/office/drawing/2014/main" id="{7E812335-526E-4309-81B6-169F85FD21AA}"/>
              </a:ext>
            </a:extLst>
          </p:cNvPr>
          <p:cNvSpPr>
            <a:spLocks noGrp="1"/>
          </p:cNvSpPr>
          <p:nvPr/>
        </p:nvSpPr>
        <p:spPr>
          <a:xfrm>
            <a:off x="762000" y="2057400"/>
            <a:ext cx="4381500" cy="228600"/>
          </a:xfrm>
          <a:prstGeom prst="rect">
            <a:avLst/>
          </a:prstGeom>
          <a:noFill/>
          <a:ln w="0">
            <a:noFill/>
          </a:ln>
        </p:spPr>
        <p:txBody>
          <a:bodyPr anchor="t">
            <a:noAutofit/>
          </a:bodyPr>
          <a:lstStyle/>
          <a:p>
            <a:pPr algn="l">
              <a:buNone/>
              <a:defRPr sz="1125" b="0" i="0">
                <a:solidFill>
                  <a:srgbClr val="595959"/>
                </a:solidFill>
                <a:latin typeface="Arial"/>
                <a:ea typeface="Arial"/>
                <a:cs typeface="Arial"/>
              </a:defRPr>
            </a:pPr>
            <a:r>
              <a:rPr sz="1125" b="0" i="0">
                <a:solidFill>
                  <a:srgbClr val="595959"/>
                </a:solidFill>
                <a:latin typeface="Arial"/>
                <a:ea typeface="Arial"/>
                <a:cs typeface="Arial"/>
              </a:rPr>
              <a:t>Objetivo: desviación térmica durante los próximos 60 minutos</a:t>
            </a:r>
          </a:p>
        </p:txBody>
      </p:sp>
      <p:sp>
        <p:nvSpPr>
          <p:cNvPr id="11" name="Rectangle: Rounded Corners 10">
            <a:extLst>
              <a:ext uri="{FF2B5EF4-FFF2-40B4-BE49-F238E27FC236}">
                <a16:creationId xmlns:a16="http://schemas.microsoft.com/office/drawing/2014/main" id="{726C7201-B7D8-4DC1-89B0-C33A588FE4FA}"/>
              </a:ext>
            </a:extLst>
          </p:cNvPr>
          <p:cNvSpPr>
            <a:spLocks noGrp="1"/>
          </p:cNvSpPr>
          <p:nvPr/>
        </p:nvSpPr>
        <p:spPr>
          <a:xfrm>
            <a:off x="5734050" y="1200150"/>
            <a:ext cx="5924550" cy="1219200"/>
          </a:xfrm>
          <a:prstGeom prst="roundRect">
            <a:avLst>
              <a:gd name="adj" fmla="val 11719"/>
            </a:avLst>
          </a:prstGeom>
          <a:solidFill>
            <a:srgbClr val="FCE8E6"/>
          </a:solidFill>
          <a:ln w="0">
            <a:noFill/>
            <a:prstDash val="solid"/>
          </a:ln>
        </p:spPr>
        <p:txBody>
          <a:bodyPr/>
          <a:lstStyle/>
          <a:p>
            <a:endParaRPr/>
          </a:p>
        </p:txBody>
      </p:sp>
      <p:sp>
        <p:nvSpPr>
          <p:cNvPr id="12" name="Rectangle 11">
            <a:extLst>
              <a:ext uri="{FF2B5EF4-FFF2-40B4-BE49-F238E27FC236}">
                <a16:creationId xmlns:a16="http://schemas.microsoft.com/office/drawing/2014/main" id="{995808D2-F26C-423F-9E4A-9EF102D4EDB8}"/>
              </a:ext>
            </a:extLst>
          </p:cNvPr>
          <p:cNvSpPr>
            <a:spLocks noGrp="1"/>
          </p:cNvSpPr>
          <p:nvPr/>
        </p:nvSpPr>
        <p:spPr>
          <a:xfrm>
            <a:off x="5962650" y="1371600"/>
            <a:ext cx="20955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Diseño de evaluación</a:t>
            </a:r>
          </a:p>
        </p:txBody>
      </p:sp>
      <p:sp>
        <p:nvSpPr>
          <p:cNvPr id="13" name="Rectangle 12">
            <a:extLst>
              <a:ext uri="{FF2B5EF4-FFF2-40B4-BE49-F238E27FC236}">
                <a16:creationId xmlns:a16="http://schemas.microsoft.com/office/drawing/2014/main" id="{775079D4-3B41-4CF3-A9AA-B10B401F78F4}"/>
              </a:ext>
            </a:extLst>
          </p:cNvPr>
          <p:cNvSpPr>
            <a:spLocks noGrp="1"/>
          </p:cNvSpPr>
          <p:nvPr/>
        </p:nvSpPr>
        <p:spPr>
          <a:xfrm>
            <a:off x="5734050" y="1647824"/>
            <a:ext cx="5943600" cy="523875"/>
          </a:xfrm>
          <a:prstGeom prst="rect">
            <a:avLst/>
          </a:prstGeom>
          <a:noFill/>
          <a:ln w="0">
            <a:noFill/>
          </a:ln>
        </p:spPr>
        <p:txBody>
          <a:bodyPr anchor="t">
            <a:noAutofit/>
          </a:bodyPr>
          <a:lstStyle/>
          <a:p>
            <a:pPr algn="l">
              <a:buNone/>
              <a:defRPr sz="1500" b="1" i="0">
                <a:solidFill>
                  <a:srgbClr val="1F3864"/>
                </a:solidFill>
                <a:latin typeface="Arial"/>
                <a:ea typeface="Arial"/>
                <a:cs typeface="Arial"/>
              </a:defRPr>
            </a:pPr>
            <a:r>
              <a:rPr sz="1500" b="1" i="0">
                <a:solidFill>
                  <a:srgbClr val="1F3864"/>
                </a:solidFill>
                <a:latin typeface="Arial"/>
                <a:ea typeface="Arial"/>
                <a:cs typeface="Arial"/>
              </a:rPr>
              <a:t>División 80/20 por viaje: 960 viajes de entrenamiento y 240 de prueba</a:t>
            </a:r>
          </a:p>
        </p:txBody>
      </p:sp>
      <p:sp>
        <p:nvSpPr>
          <p:cNvPr id="14" name="Rectangle 13">
            <a:extLst>
              <a:ext uri="{FF2B5EF4-FFF2-40B4-BE49-F238E27FC236}">
                <a16:creationId xmlns:a16="http://schemas.microsoft.com/office/drawing/2014/main" id="{18E0C71F-A163-466C-A593-201B2487051D}"/>
              </a:ext>
            </a:extLst>
          </p:cNvPr>
          <p:cNvSpPr>
            <a:spLocks noGrp="1"/>
          </p:cNvSpPr>
          <p:nvPr/>
        </p:nvSpPr>
        <p:spPr>
          <a:xfrm>
            <a:off x="5962650" y="2114550"/>
            <a:ext cx="5143500" cy="209550"/>
          </a:xfrm>
          <a:prstGeom prst="rect">
            <a:avLst/>
          </a:prstGeom>
          <a:noFill/>
          <a:ln w="0">
            <a:noFill/>
          </a:ln>
        </p:spPr>
        <p:txBody>
          <a:bodyPr anchor="t">
            <a:noAutofit/>
          </a:bodyPr>
          <a:lstStyle/>
          <a:p>
            <a:pPr algn="l">
              <a:buNone/>
              <a:defRPr sz="1050" b="0" i="0">
                <a:solidFill>
                  <a:srgbClr val="595959"/>
                </a:solidFill>
                <a:latin typeface="Arial"/>
                <a:ea typeface="Arial"/>
                <a:cs typeface="Arial"/>
              </a:defRPr>
            </a:pPr>
            <a:r>
              <a:rPr sz="1050" b="0" i="0">
                <a:solidFill>
                  <a:srgbClr val="595959"/>
                </a:solidFill>
                <a:latin typeface="Arial"/>
                <a:ea typeface="Arial"/>
                <a:cs typeface="Arial"/>
              </a:rPr>
              <a:t>Evitar fuga: ningún viaje aparece en ambas particiones</a:t>
            </a:r>
          </a:p>
        </p:txBody>
      </p:sp>
      <p:sp>
        <p:nvSpPr>
          <p:cNvPr id="15" name="Rectangle 14">
            <a:extLst>
              <a:ext uri="{FF2B5EF4-FFF2-40B4-BE49-F238E27FC236}">
                <a16:creationId xmlns:a16="http://schemas.microsoft.com/office/drawing/2014/main" id="{6E8E487C-866A-4C9D-85F4-CD1C52490FC7}"/>
              </a:ext>
            </a:extLst>
          </p:cNvPr>
          <p:cNvSpPr>
            <a:spLocks noGrp="1"/>
          </p:cNvSpPr>
          <p:nvPr/>
        </p:nvSpPr>
        <p:spPr>
          <a:xfrm>
            <a:off x="533400" y="2647950"/>
            <a:ext cx="2857500" cy="266700"/>
          </a:xfrm>
          <a:prstGeom prst="rect">
            <a:avLst/>
          </a:prstGeom>
          <a:noFill/>
          <a:ln w="0">
            <a:noFill/>
          </a:ln>
        </p:spPr>
        <p:txBody>
          <a:bodyPr anchor="t">
            <a:noAutofit/>
          </a:bodyPr>
          <a:lstStyle/>
          <a:p>
            <a:pPr algn="l">
              <a:buNone/>
              <a:defRPr sz="1425" b="1" i="0">
                <a:solidFill>
                  <a:srgbClr val="1F3864"/>
                </a:solidFill>
                <a:latin typeface="Arial"/>
                <a:ea typeface="Arial"/>
                <a:cs typeface="Arial"/>
              </a:defRPr>
            </a:pPr>
            <a:r>
              <a:rPr sz="1425" b="1" i="0">
                <a:solidFill>
                  <a:srgbClr val="1F3864"/>
                </a:solidFill>
                <a:latin typeface="Arial"/>
                <a:ea typeface="Arial"/>
                <a:cs typeface="Arial"/>
              </a:rPr>
              <a:t>Comparación mínima</a:t>
            </a:r>
          </a:p>
        </p:txBody>
      </p:sp>
      <p:graphicFrame>
        <p:nvGraphicFramePr>
          <p:cNvPr id="36" name="Table 33"/>
          <p:cNvGraphicFramePr/>
          <p:nvPr>
            <p:extLst>
              <p:ext uri="{D42A27DB-BD31-4B8C-83A1-F6EECF244321}">
                <p14:modId xmlns:p14="http://schemas.microsoft.com/office/powerpoint/2010/main" val="2779402257"/>
              </p:ext>
            </p:extLst>
          </p:nvPr>
        </p:nvGraphicFramePr>
        <p:xfrm>
          <a:off x="533400" y="3028950"/>
          <a:ext cx="11125200" cy="2286000"/>
        </p:xfrm>
        <a:graphic>
          <a:graphicData uri="http://schemas.openxmlformats.org/drawingml/2006/table">
            <a:tbl>
              <a:tblPr/>
              <a:tblGrid>
                <a:gridCol w="2225040">
                  <a:extLst>
                    <a:ext uri="{9D8B030D-6E8A-4147-A177-3AD203B41FA5}">
                      <a16:colId xmlns:a16="http://schemas.microsoft.com/office/drawing/2014/main" val="20000"/>
                    </a:ext>
                  </a:extLst>
                </a:gridCol>
                <a:gridCol w="2595880">
                  <a:extLst>
                    <a:ext uri="{9D8B030D-6E8A-4147-A177-3AD203B41FA5}">
                      <a16:colId xmlns:a16="http://schemas.microsoft.com/office/drawing/2014/main" val="20001"/>
                    </a:ext>
                  </a:extLst>
                </a:gridCol>
                <a:gridCol w="2410460">
                  <a:extLst>
                    <a:ext uri="{9D8B030D-6E8A-4147-A177-3AD203B41FA5}">
                      <a16:colId xmlns:a16="http://schemas.microsoft.com/office/drawing/2014/main" val="20002"/>
                    </a:ext>
                  </a:extLst>
                </a:gridCol>
                <a:gridCol w="3893820">
                  <a:extLst>
                    <a:ext uri="{9D8B030D-6E8A-4147-A177-3AD203B41FA5}">
                      <a16:colId xmlns:a16="http://schemas.microsoft.com/office/drawing/2014/main" val="20003"/>
                    </a:ext>
                  </a:extLst>
                </a:gridCol>
              </a:tblGrid>
              <a:tr h="571500">
                <a:tc>
                  <a:txBody>
                    <a:bodyPr/>
                    <a:lstStyle/>
                    <a:p>
                      <a:r>
                        <a:rPr sz="1125" b="1">
                          <a:solidFill>
                            <a:srgbClr val="FFFFFF"/>
                          </a:solidFill>
                          <a:latin typeface="Arial"/>
                          <a:ea typeface="Arial"/>
                          <a:cs typeface="Arial"/>
                        </a:rPr>
                        <a:t>Opción</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Métrica principal</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Resultado</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Lectura y decisión</a:t>
                      </a:r>
                    </a:p>
                  </a:txBody>
                  <a:tcPr marL="95250" marR="95250" marT="66675" marB="66675" anchor="ctr">
                    <a:solidFill>
                      <a:srgbClr val="1F3864"/>
                    </a:solidFill>
                  </a:tcPr>
                </a:tc>
                <a:extLst>
                  <a:ext uri="{0D108BD9-81ED-4DB2-BD59-A6C34878D82A}">
                    <a16:rowId xmlns:a16="http://schemas.microsoft.com/office/drawing/2014/main" val="10000"/>
                  </a:ext>
                </a:extLst>
              </a:tr>
              <a:tr h="571500">
                <a:tc>
                  <a:txBody>
                    <a:bodyPr/>
                    <a:lstStyle/>
                    <a:p>
                      <a:r>
                        <a:rPr sz="1125">
                          <a:solidFill>
                            <a:srgbClr val="1F3864"/>
                          </a:solidFill>
                          <a:latin typeface="Arial"/>
                          <a:ea typeface="Arial"/>
                          <a:cs typeface="Arial"/>
                        </a:rPr>
                        <a:t>Baseline: siempre 0</a:t>
                      </a:r>
                    </a:p>
                  </a:txBody>
                  <a:tcPr marL="95250" marR="95250" marT="66675" marB="66675" anchor="ctr">
                    <a:solidFill>
                      <a:srgbClr val="FFFFFF"/>
                    </a:solidFill>
                  </a:tcPr>
                </a:tc>
                <a:tc>
                  <a:txBody>
                    <a:bodyPr/>
                    <a:lstStyle/>
                    <a:p>
                      <a:r>
                        <a:rPr sz="1125">
                          <a:solidFill>
                            <a:srgbClr val="1F3864"/>
                          </a:solidFill>
                          <a:latin typeface="Arial"/>
                          <a:ea typeface="Arial"/>
                          <a:cs typeface="Arial"/>
                        </a:rPr>
                        <a:t>Recall / F1</a:t>
                      </a:r>
                    </a:p>
                  </a:txBody>
                  <a:tcPr marL="95250" marR="95250" marT="66675" marB="66675" anchor="ctr">
                    <a:solidFill>
                      <a:srgbClr val="FFFFFF"/>
                    </a:solidFill>
                  </a:tcPr>
                </a:tc>
                <a:tc>
                  <a:txBody>
                    <a:bodyPr/>
                    <a:lstStyle/>
                    <a:p>
                      <a:r>
                        <a:rPr sz="1125">
                          <a:solidFill>
                            <a:srgbClr val="1F3864"/>
                          </a:solidFill>
                          <a:latin typeface="Arial"/>
                          <a:ea typeface="Arial"/>
                          <a:cs typeface="Arial"/>
                        </a:rPr>
                        <a:t>0% / 0%</a:t>
                      </a:r>
                    </a:p>
                  </a:txBody>
                  <a:tcPr marL="95250" marR="95250" marT="66675" marB="66675" anchor="ctr">
                    <a:solidFill>
                      <a:srgbClr val="FFFFFF"/>
                    </a:solidFill>
                  </a:tcPr>
                </a:tc>
                <a:tc>
                  <a:txBody>
                    <a:bodyPr/>
                    <a:lstStyle/>
                    <a:p>
                      <a:r>
                        <a:rPr sz="1125">
                          <a:solidFill>
                            <a:srgbClr val="1F3864"/>
                          </a:solidFill>
                          <a:latin typeface="Arial"/>
                          <a:ea typeface="Arial"/>
                          <a:cs typeface="Arial"/>
                        </a:rPr>
                        <a:t>No detecta ninguna desviación</a:t>
                      </a:r>
                    </a:p>
                  </a:txBody>
                  <a:tcPr marL="95250" marR="95250" marT="66675" marB="66675" anchor="ctr">
                    <a:solidFill>
                      <a:srgbClr val="FFFFFF"/>
                    </a:solidFill>
                  </a:tcPr>
                </a:tc>
                <a:extLst>
                  <a:ext uri="{0D108BD9-81ED-4DB2-BD59-A6C34878D82A}">
                    <a16:rowId xmlns:a16="http://schemas.microsoft.com/office/drawing/2014/main" val="10001"/>
                  </a:ext>
                </a:extLst>
              </a:tr>
              <a:tr h="571500">
                <a:tc>
                  <a:txBody>
                    <a:bodyPr/>
                    <a:lstStyle/>
                    <a:p>
                      <a:r>
                        <a:rPr lang="en-US" sz="1125" dirty="0" err="1">
                          <a:solidFill>
                            <a:srgbClr val="1F3864"/>
                          </a:solidFill>
                          <a:latin typeface="Arial"/>
                          <a:ea typeface="Arial"/>
                          <a:cs typeface="Arial"/>
                        </a:rPr>
                        <a:t>Candidato</a:t>
                      </a:r>
                      <a:r>
                        <a:rPr lang="en-US" sz="1125" dirty="0">
                          <a:solidFill>
                            <a:srgbClr val="1F3864"/>
                          </a:solidFill>
                          <a:latin typeface="Arial"/>
                          <a:ea typeface="Arial"/>
                          <a:cs typeface="Arial"/>
                        </a:rPr>
                        <a:t>: </a:t>
                      </a:r>
                      <a:r>
                        <a:rPr sz="1125" dirty="0" err="1">
                          <a:solidFill>
                            <a:srgbClr val="1F3864"/>
                          </a:solidFill>
                          <a:latin typeface="Arial"/>
                          <a:ea typeface="Arial"/>
                          <a:cs typeface="Arial"/>
                        </a:rPr>
                        <a:t>Regresión</a:t>
                      </a:r>
                      <a:r>
                        <a:rPr sz="1125" dirty="0">
                          <a:solidFill>
                            <a:srgbClr val="1F3864"/>
                          </a:solidFill>
                          <a:latin typeface="Arial"/>
                          <a:ea typeface="Arial"/>
                          <a:cs typeface="Arial"/>
                        </a:rPr>
                        <a:t> </a:t>
                      </a:r>
                      <a:r>
                        <a:rPr sz="1125" dirty="0" err="1">
                          <a:solidFill>
                            <a:srgbClr val="1F3864"/>
                          </a:solidFill>
                          <a:latin typeface="Arial"/>
                          <a:ea typeface="Arial"/>
                          <a:cs typeface="Arial"/>
                        </a:rPr>
                        <a:t>logística</a:t>
                      </a:r>
                      <a:endParaRPr sz="1125" dirty="0">
                        <a:solidFill>
                          <a:srgbClr val="1F3864"/>
                        </a:solidFill>
                        <a:latin typeface="Arial"/>
                        <a:ea typeface="Arial"/>
                        <a:cs typeface="Arial"/>
                      </a:endParaRPr>
                    </a:p>
                  </a:txBody>
                  <a:tcPr marL="95250" marR="95250" marT="66675" marB="66675" anchor="ctr">
                    <a:solidFill>
                      <a:srgbClr val="EDF2F7"/>
                    </a:solidFill>
                  </a:tcPr>
                </a:tc>
                <a:tc>
                  <a:txBody>
                    <a:bodyPr/>
                    <a:lstStyle/>
                    <a:p>
                      <a:r>
                        <a:rPr sz="1125">
                          <a:solidFill>
                            <a:srgbClr val="1F3864"/>
                          </a:solidFill>
                          <a:latin typeface="Arial"/>
                          <a:ea typeface="Arial"/>
                          <a:cs typeface="Arial"/>
                        </a:rPr>
                        <a:t>PR AUC</a:t>
                      </a:r>
                    </a:p>
                  </a:txBody>
                  <a:tcPr marL="95250" marR="95250" marT="66675" marB="66675" anchor="ctr">
                    <a:solidFill>
                      <a:srgbClr val="EDF2F7"/>
                    </a:solidFill>
                  </a:tcPr>
                </a:tc>
                <a:tc>
                  <a:txBody>
                    <a:bodyPr/>
                    <a:lstStyle/>
                    <a:p>
                      <a:r>
                        <a:rPr sz="1125">
                          <a:solidFill>
                            <a:srgbClr val="1F3864"/>
                          </a:solidFill>
                          <a:latin typeface="Arial"/>
                          <a:ea typeface="Arial"/>
                          <a:cs typeface="Arial"/>
                        </a:rPr>
                        <a:t>37,32% vs. 5,37%</a:t>
                      </a:r>
                    </a:p>
                  </a:txBody>
                  <a:tcPr marL="95250" marR="95250" marT="66675" marB="66675" anchor="ctr">
                    <a:solidFill>
                      <a:srgbClr val="EDF2F7"/>
                    </a:solidFill>
                  </a:tcPr>
                </a:tc>
                <a:tc>
                  <a:txBody>
                    <a:bodyPr/>
                    <a:lstStyle/>
                    <a:p>
                      <a:r>
                        <a:rPr sz="1125">
                          <a:solidFill>
                            <a:srgbClr val="1F3864"/>
                          </a:solidFill>
                          <a:latin typeface="Arial"/>
                          <a:ea typeface="Arial"/>
                          <a:cs typeface="Arial"/>
                        </a:rPr>
                        <a:t>Ordena mejor el riesgo de una clase poco frecuente</a:t>
                      </a:r>
                    </a:p>
                  </a:txBody>
                  <a:tcPr marL="95250" marR="95250" marT="66675" marB="66675" anchor="ctr">
                    <a:solidFill>
                      <a:srgbClr val="EDF2F7"/>
                    </a:solidFill>
                  </a:tcPr>
                </a:tc>
                <a:extLst>
                  <a:ext uri="{0D108BD9-81ED-4DB2-BD59-A6C34878D82A}">
                    <a16:rowId xmlns:a16="http://schemas.microsoft.com/office/drawing/2014/main" val="10002"/>
                  </a:ext>
                </a:extLst>
              </a:tr>
              <a:tr h="571500">
                <a:tc>
                  <a:txBody>
                    <a:bodyPr/>
                    <a:lstStyle/>
                    <a:p>
                      <a:r>
                        <a:rPr sz="1125" dirty="0">
                          <a:solidFill>
                            <a:srgbClr val="1F3864"/>
                          </a:solidFill>
                          <a:latin typeface="Arial"/>
                          <a:ea typeface="Arial"/>
                          <a:cs typeface="Arial"/>
                        </a:rPr>
                        <a:t>Modelo </a:t>
                      </a:r>
                      <a:r>
                        <a:rPr sz="1125" dirty="0" err="1">
                          <a:solidFill>
                            <a:srgbClr val="1F3864"/>
                          </a:solidFill>
                          <a:latin typeface="Arial"/>
                          <a:ea typeface="Arial"/>
                          <a:cs typeface="Arial"/>
                        </a:rPr>
                        <a:t>elegido</a:t>
                      </a:r>
                      <a:endParaRPr sz="1125" dirty="0">
                        <a:solidFill>
                          <a:srgbClr val="1F3864"/>
                        </a:solidFill>
                        <a:latin typeface="Arial"/>
                        <a:ea typeface="Arial"/>
                        <a:cs typeface="Arial"/>
                      </a:endParaRPr>
                    </a:p>
                  </a:txBody>
                  <a:tcPr marL="95250" marR="95250" marT="66675" marB="66675" anchor="ctr">
                    <a:solidFill>
                      <a:srgbClr val="FFFFFF"/>
                    </a:solidFill>
                  </a:tcPr>
                </a:tc>
                <a:tc>
                  <a:txBody>
                    <a:bodyPr/>
                    <a:lstStyle/>
                    <a:p>
                      <a:r>
                        <a:rPr sz="1125">
                          <a:solidFill>
                            <a:srgbClr val="1F3864"/>
                          </a:solidFill>
                          <a:latin typeface="Arial"/>
                          <a:ea typeface="Arial"/>
                          <a:cs typeface="Arial"/>
                        </a:rPr>
                        <a:t>Recall / precisión</a:t>
                      </a:r>
                    </a:p>
                  </a:txBody>
                  <a:tcPr marL="95250" marR="95250" marT="66675" marB="66675" anchor="ctr">
                    <a:solidFill>
                      <a:srgbClr val="FFFFFF"/>
                    </a:solidFill>
                  </a:tcPr>
                </a:tc>
                <a:tc>
                  <a:txBody>
                    <a:bodyPr/>
                    <a:lstStyle/>
                    <a:p>
                      <a:r>
                        <a:rPr sz="1125">
                          <a:solidFill>
                            <a:srgbClr val="1F3864"/>
                          </a:solidFill>
                          <a:latin typeface="Arial"/>
                          <a:ea typeface="Arial"/>
                          <a:cs typeface="Arial"/>
                        </a:rPr>
                        <a:t>46,76% / 28,20%</a:t>
                      </a:r>
                    </a:p>
                  </a:txBody>
                  <a:tcPr marL="95250" marR="95250" marT="66675" marB="66675" anchor="ctr">
                    <a:solidFill>
                      <a:srgbClr val="FFFFFF"/>
                    </a:solidFill>
                  </a:tcPr>
                </a:tc>
                <a:tc>
                  <a:txBody>
                    <a:bodyPr/>
                    <a:lstStyle/>
                    <a:p>
                      <a:r>
                        <a:rPr sz="1125" dirty="0" err="1">
                          <a:solidFill>
                            <a:srgbClr val="1F3864"/>
                          </a:solidFill>
                          <a:latin typeface="Arial"/>
                          <a:ea typeface="Arial"/>
                          <a:cs typeface="Arial"/>
                        </a:rPr>
                        <a:t>Útil</a:t>
                      </a:r>
                      <a:r>
                        <a:rPr sz="1125" dirty="0">
                          <a:solidFill>
                            <a:srgbClr val="1F3864"/>
                          </a:solidFill>
                          <a:latin typeface="Arial"/>
                          <a:ea typeface="Arial"/>
                          <a:cs typeface="Arial"/>
                        </a:rPr>
                        <a:t> para </a:t>
                      </a:r>
                      <a:r>
                        <a:rPr sz="1125" dirty="0" err="1">
                          <a:solidFill>
                            <a:srgbClr val="1F3864"/>
                          </a:solidFill>
                          <a:latin typeface="Arial"/>
                          <a:ea typeface="Arial"/>
                          <a:cs typeface="Arial"/>
                        </a:rPr>
                        <a:t>priorizar</a:t>
                      </a:r>
                      <a:r>
                        <a:rPr sz="1125" dirty="0">
                          <a:solidFill>
                            <a:srgbClr val="1F3864"/>
                          </a:solidFill>
                          <a:latin typeface="Arial"/>
                          <a:ea typeface="Arial"/>
                          <a:cs typeface="Arial"/>
                        </a:rPr>
                        <a:t>, con </a:t>
                      </a:r>
                      <a:r>
                        <a:rPr sz="1125" dirty="0" err="1">
                          <a:solidFill>
                            <a:srgbClr val="1F3864"/>
                          </a:solidFill>
                          <a:latin typeface="Arial"/>
                          <a:ea typeface="Arial"/>
                          <a:cs typeface="Arial"/>
                        </a:rPr>
                        <a:t>supervisión</a:t>
                      </a:r>
                      <a:r>
                        <a:rPr sz="1125" dirty="0">
                          <a:solidFill>
                            <a:srgbClr val="1F3864"/>
                          </a:solidFill>
                          <a:latin typeface="Arial"/>
                          <a:ea typeface="Arial"/>
                          <a:cs typeface="Arial"/>
                        </a:rPr>
                        <a:t> humana</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17" name="Rectangle: Rounded Corners 16">
            <a:extLst>
              <a:ext uri="{FF2B5EF4-FFF2-40B4-BE49-F238E27FC236}">
                <a16:creationId xmlns:a16="http://schemas.microsoft.com/office/drawing/2014/main" id="{DF3522B5-26C1-4FF2-A3FD-E0E6D44300ED}"/>
              </a:ext>
            </a:extLst>
          </p:cNvPr>
          <p:cNvSpPr>
            <a:spLocks noGrp="1"/>
          </p:cNvSpPr>
          <p:nvPr/>
        </p:nvSpPr>
        <p:spPr>
          <a:xfrm>
            <a:off x="533400" y="5524500"/>
            <a:ext cx="11125200" cy="523875"/>
          </a:xfrm>
          <a:prstGeom prst="roundRect">
            <a:avLst>
              <a:gd name="adj" fmla="val 18182"/>
            </a:avLst>
          </a:prstGeom>
          <a:solidFill>
            <a:srgbClr val="EDF2F7"/>
          </a:solidFill>
          <a:ln w="0">
            <a:noFill/>
            <a:prstDash val="solid"/>
          </a:ln>
        </p:spPr>
        <p:txBody>
          <a:bodyPr/>
          <a:lstStyle/>
          <a:p>
            <a:endParaRPr/>
          </a:p>
        </p:txBody>
      </p:sp>
      <p:sp>
        <p:nvSpPr>
          <p:cNvPr id="18" name="Rectangle 17">
            <a:extLst>
              <a:ext uri="{FF2B5EF4-FFF2-40B4-BE49-F238E27FC236}">
                <a16:creationId xmlns:a16="http://schemas.microsoft.com/office/drawing/2014/main" id="{D4F3E818-7733-41B5-B55E-5F827930DB5A}"/>
              </a:ext>
            </a:extLst>
          </p:cNvPr>
          <p:cNvSpPr>
            <a:spLocks noGrp="1"/>
          </p:cNvSpPr>
          <p:nvPr/>
        </p:nvSpPr>
        <p:spPr>
          <a:xfrm>
            <a:off x="742950" y="5676900"/>
            <a:ext cx="10706100" cy="247650"/>
          </a:xfrm>
          <a:prstGeom prst="rect">
            <a:avLst/>
          </a:prstGeom>
          <a:noFill/>
          <a:ln w="0">
            <a:noFill/>
          </a:ln>
        </p:spPr>
        <p:txBody>
          <a:bodyPr anchor="t">
            <a:noAutofit/>
          </a:bodyPr>
          <a:lstStyle/>
          <a:p>
            <a:pPr algn="l">
              <a:buNone/>
              <a:defRPr sz="1200" b="1" i="0">
                <a:solidFill>
                  <a:srgbClr val="1F3864"/>
                </a:solidFill>
                <a:latin typeface="Arial"/>
                <a:ea typeface="Arial"/>
                <a:cs typeface="Arial"/>
              </a:defRPr>
            </a:pPr>
            <a:r>
              <a:rPr sz="1200" b="1" i="0">
                <a:solidFill>
                  <a:srgbClr val="1F3864"/>
                </a:solidFill>
                <a:latin typeface="Arial"/>
                <a:ea typeface="Arial"/>
                <a:cs typeface="Arial"/>
              </a:rPr>
              <a:t>Criterio de elección: mejora frente al baseline, interpretación clara y evaluación en viajes no vistos</a:t>
            </a:r>
          </a:p>
        </p:txBody>
      </p:sp>
    </p:spTree>
    <p:extLst>
      <p:ext uri="{BB962C8B-B14F-4D97-AF65-F5344CB8AC3E}">
        <p14:creationId xmlns:p14="http://schemas.microsoft.com/office/powerpoint/2010/main" val="1782957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ED61BAE6-4095-4336-908C-B402C7402444}"/>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1A0C2CF6-3105-4DF9-BA17-40F7A7D9D3B0}"/>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05 · VALIDACIÓN — CLASIFICACIÓN</a:t>
            </a:r>
          </a:p>
        </p:txBody>
      </p:sp>
      <p:sp>
        <p:nvSpPr>
          <p:cNvPr id="3" name="Rectangle 2">
            <a:extLst>
              <a:ext uri="{FF2B5EF4-FFF2-40B4-BE49-F238E27FC236}">
                <a16:creationId xmlns:a16="http://schemas.microsoft.com/office/drawing/2014/main" id="{A670035F-8F02-4ED3-8B39-A547786606B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Matriz de confusión y costo del error</a:t>
            </a:r>
          </a:p>
        </p:txBody>
      </p:sp>
      <p:sp>
        <p:nvSpPr>
          <p:cNvPr id="4" name="Rectangle 3">
            <a:extLst>
              <a:ext uri="{FF2B5EF4-FFF2-40B4-BE49-F238E27FC236}">
                <a16:creationId xmlns:a16="http://schemas.microsoft.com/office/drawing/2014/main" id="{7A66FF98-4CC2-4392-B58A-A5252A87E12A}"/>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B74FFB28-369C-4BCA-8DCB-FCD02F45FFFE}"/>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3EF7A81E-8D1C-4A7C-ABE5-0E241F62D513}"/>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2E7F1B3A-9C1D-4E5A-8B6A-000000001005}" type="slidenum">
              <a:rPr sz="900" b="1" i="0">
                <a:solidFill>
                  <a:srgbClr val="2E5B8A"/>
                </a:solidFill>
                <a:latin typeface="Arial"/>
                <a:ea typeface="Arial"/>
                <a:cs typeface="Arial"/>
              </a:rPr>
              <a:t>6</a:t>
            </a:fld>
            <a:endParaRPr sz="900" b="1" i="0">
              <a:solidFill>
                <a:srgbClr val="2E5B8A"/>
              </a:solidFill>
              <a:latin typeface="Arial"/>
              <a:ea typeface="Arial"/>
              <a:cs typeface="Arial"/>
            </a:endParaRPr>
          </a:p>
        </p:txBody>
      </p:sp>
      <p:sp>
        <p:nvSpPr>
          <p:cNvPr id="7" name="Rectangle 6">
            <a:extLst>
              <a:ext uri="{FF2B5EF4-FFF2-40B4-BE49-F238E27FC236}">
                <a16:creationId xmlns:a16="http://schemas.microsoft.com/office/drawing/2014/main" id="{3F7F19F0-D3F2-4073-9467-85549D8088F7}"/>
              </a:ext>
            </a:extLst>
          </p:cNvPr>
          <p:cNvSpPr>
            <a:spLocks noGrp="1"/>
          </p:cNvSpPr>
          <p:nvPr/>
        </p:nvSpPr>
        <p:spPr>
          <a:xfrm>
            <a:off x="533400" y="1200150"/>
            <a:ext cx="476250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Resultados en datos no vistos</a:t>
            </a:r>
          </a:p>
        </p:txBody>
      </p:sp>
      <p:sp>
        <p:nvSpPr>
          <p:cNvPr id="8" name="Rectangle 7">
            <a:extLst>
              <a:ext uri="{FF2B5EF4-FFF2-40B4-BE49-F238E27FC236}">
                <a16:creationId xmlns:a16="http://schemas.microsoft.com/office/drawing/2014/main" id="{82569EFB-7F28-44F4-8BE6-44685C936356}"/>
              </a:ext>
            </a:extLst>
          </p:cNvPr>
          <p:cNvSpPr>
            <a:spLocks noGrp="1"/>
          </p:cNvSpPr>
          <p:nvPr/>
        </p:nvSpPr>
        <p:spPr>
          <a:xfrm>
            <a:off x="533400" y="1438275"/>
            <a:ext cx="4762500" cy="171450"/>
          </a:xfrm>
          <a:prstGeom prst="rect">
            <a:avLst/>
          </a:prstGeom>
          <a:noFill/>
          <a:ln w="0">
            <a:noFill/>
          </a:ln>
        </p:spPr>
        <p:txBody>
          <a:bodyPr anchor="t">
            <a:noAutofit/>
          </a:bodyPr>
          <a:lstStyle/>
          <a:p>
            <a:pPr algn="l">
              <a:buNone/>
              <a:defRPr sz="825" b="1" i="0">
                <a:solidFill>
                  <a:srgbClr val="595959"/>
                </a:solidFill>
                <a:latin typeface="Arial"/>
                <a:ea typeface="Arial"/>
                <a:cs typeface="Arial"/>
              </a:defRPr>
            </a:pPr>
            <a:r>
              <a:rPr sz="825" b="1" i="0">
                <a:solidFill>
                  <a:srgbClr val="595959"/>
                </a:solidFill>
                <a:latin typeface="Arial"/>
                <a:ea typeface="Arial"/>
                <a:cs typeface="Arial"/>
              </a:rPr>
              <a:t>FILAS = realidad  ·  COLUMNAS = predicción</a:t>
            </a:r>
          </a:p>
        </p:txBody>
      </p:sp>
      <p:graphicFrame>
        <p:nvGraphicFramePr>
          <p:cNvPr id="42" name="Table 41"/>
          <p:cNvGraphicFramePr/>
          <p:nvPr/>
        </p:nvGraphicFramePr>
        <p:xfrm>
          <a:off x="533400" y="1695450"/>
          <a:ext cx="6572250" cy="2647950"/>
        </p:xfrm>
        <a:graphic>
          <a:graphicData uri="http://schemas.openxmlformats.org/drawingml/2006/table">
            <a:tbl>
              <a:tblPr/>
              <a:tblGrid>
                <a:gridCol w="171450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tblGrid>
              <a:tr h="882650">
                <a:tc>
                  <a:txBody>
                    <a:bodyPr/>
                    <a:lstStyle/>
                    <a:p>
                      <a:r>
                        <a:rPr sz="1050" b="1">
                          <a:solidFill>
                            <a:srgbClr val="FFFFFF"/>
                          </a:solidFill>
                          <a:latin typeface="Arial"/>
                          <a:ea typeface="Arial"/>
                          <a:cs typeface="Arial"/>
                        </a:rPr>
                        <a:t>Real ↓ / Pred. →</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NO evento (0)</a:t>
                      </a:r>
                    </a:p>
                  </a:txBody>
                  <a:tcPr marL="95250" marR="95250" marT="66675" marB="66675" anchor="ctr">
                    <a:solidFill>
                      <a:srgbClr val="1F3864"/>
                    </a:solidFill>
                  </a:tcPr>
                </a:tc>
                <a:tc>
                  <a:txBody>
                    <a:bodyPr/>
                    <a:lstStyle/>
                    <a:p>
                      <a:r>
                        <a:rPr sz="1050" b="1">
                          <a:solidFill>
                            <a:srgbClr val="FFFFFF"/>
                          </a:solidFill>
                          <a:latin typeface="Arial"/>
                          <a:ea typeface="Arial"/>
                          <a:cs typeface="Arial"/>
                        </a:rPr>
                        <a:t>EVENTO (1)</a:t>
                      </a:r>
                    </a:p>
                  </a:txBody>
                  <a:tcPr marL="95250" marR="95250" marT="66675" marB="66675" anchor="ctr">
                    <a:solidFill>
                      <a:srgbClr val="1F3864"/>
                    </a:solidFill>
                  </a:tcPr>
                </a:tc>
                <a:extLst>
                  <a:ext uri="{0D108BD9-81ED-4DB2-BD59-A6C34878D82A}">
                    <a16:rowId xmlns:a16="http://schemas.microsoft.com/office/drawing/2014/main" val="10000"/>
                  </a:ext>
                </a:extLst>
              </a:tr>
              <a:tr h="882650">
                <a:tc>
                  <a:txBody>
                    <a:bodyPr/>
                    <a:lstStyle/>
                    <a:p>
                      <a:r>
                        <a:rPr sz="1050" b="1">
                          <a:solidFill>
                            <a:srgbClr val="1F3864"/>
                          </a:solidFill>
                          <a:latin typeface="Arial"/>
                          <a:ea typeface="Arial"/>
                          <a:cs typeface="Arial"/>
                        </a:rPr>
                        <a:t>NO evento (0)</a:t>
                      </a:r>
                    </a:p>
                  </a:txBody>
                  <a:tcPr marL="95250" marR="95250" marT="66675" marB="66675" anchor="ctr">
                    <a:solidFill>
                      <a:srgbClr val="EDF2F7"/>
                    </a:solidFill>
                  </a:tcPr>
                </a:tc>
                <a:tc>
                  <a:txBody>
                    <a:bodyPr/>
                    <a:lstStyle/>
                    <a:p>
                      <a:r>
                        <a:rPr sz="1275" b="1">
                          <a:solidFill>
                            <a:srgbClr val="1F3864"/>
                          </a:solidFill>
                          <a:latin typeface="Arial"/>
                          <a:ea typeface="Arial"/>
                          <a:cs typeface="Arial"/>
                        </a:rPr>
                        <a:t>VN 4.565</a:t>
                      </a:r>
                    </a:p>
                    <a:p>
                      <a:r>
                        <a:rPr sz="1275" b="1">
                          <a:solidFill>
                            <a:srgbClr val="1F3864"/>
                          </a:solidFill>
                          <a:latin typeface="Arial"/>
                          <a:ea typeface="Arial"/>
                          <a:cs typeface="Arial"/>
                        </a:rPr>
                        <a:t>Correcto</a:t>
                      </a:r>
                    </a:p>
                  </a:txBody>
                  <a:tcPr marL="95250" marR="95250" marT="66675" marB="66675" anchor="ctr">
                    <a:solidFill>
                      <a:srgbClr val="DCE6F1"/>
                    </a:solidFill>
                  </a:tcPr>
                </a:tc>
                <a:tc>
                  <a:txBody>
                    <a:bodyPr/>
                    <a:lstStyle/>
                    <a:p>
                      <a:r>
                        <a:rPr sz="1275" b="1">
                          <a:solidFill>
                            <a:srgbClr val="1F3864"/>
                          </a:solidFill>
                          <a:latin typeface="Arial"/>
                          <a:ea typeface="Arial"/>
                          <a:cs typeface="Arial"/>
                        </a:rPr>
                        <a:t>FP 331</a:t>
                      </a:r>
                    </a:p>
                    <a:p>
                      <a:r>
                        <a:rPr sz="1275" b="1">
                          <a:solidFill>
                            <a:srgbClr val="1F3864"/>
                          </a:solidFill>
                          <a:latin typeface="Arial"/>
                          <a:ea typeface="Arial"/>
                          <a:cs typeface="Arial"/>
                        </a:rPr>
                        <a:t>Revisión innecesaria</a:t>
                      </a:r>
                    </a:p>
                  </a:txBody>
                  <a:tcPr marL="95250" marR="95250" marT="66675" marB="66675" anchor="ctr">
                    <a:solidFill>
                      <a:srgbClr val="FCE8E6"/>
                    </a:solidFill>
                  </a:tcPr>
                </a:tc>
                <a:extLst>
                  <a:ext uri="{0D108BD9-81ED-4DB2-BD59-A6C34878D82A}">
                    <a16:rowId xmlns:a16="http://schemas.microsoft.com/office/drawing/2014/main" val="10001"/>
                  </a:ext>
                </a:extLst>
              </a:tr>
              <a:tr h="882650">
                <a:tc>
                  <a:txBody>
                    <a:bodyPr/>
                    <a:lstStyle/>
                    <a:p>
                      <a:r>
                        <a:rPr sz="1050" b="1">
                          <a:solidFill>
                            <a:srgbClr val="1F3864"/>
                          </a:solidFill>
                          <a:latin typeface="Arial"/>
                          <a:ea typeface="Arial"/>
                          <a:cs typeface="Arial"/>
                        </a:rPr>
                        <a:t>EVENTO (1)</a:t>
                      </a:r>
                    </a:p>
                  </a:txBody>
                  <a:tcPr marL="95250" marR="95250" marT="66675" marB="66675" anchor="ctr">
                    <a:solidFill>
                      <a:srgbClr val="EDF2F7"/>
                    </a:solidFill>
                  </a:tcPr>
                </a:tc>
                <a:tc>
                  <a:txBody>
                    <a:bodyPr/>
                    <a:lstStyle/>
                    <a:p>
                      <a:r>
                        <a:rPr sz="1275" b="1">
                          <a:solidFill>
                            <a:srgbClr val="1F3864"/>
                          </a:solidFill>
                          <a:latin typeface="Arial"/>
                          <a:ea typeface="Arial"/>
                          <a:cs typeface="Arial"/>
                        </a:rPr>
                        <a:t>FN 148</a:t>
                      </a:r>
                    </a:p>
                    <a:p>
                      <a:r>
                        <a:rPr sz="1275" b="1">
                          <a:solidFill>
                            <a:srgbClr val="1F3864"/>
                          </a:solidFill>
                          <a:latin typeface="Arial"/>
                          <a:ea typeface="Arial"/>
                          <a:cs typeface="Arial"/>
                        </a:rPr>
                        <a:t>Evento no detectado</a:t>
                      </a:r>
                    </a:p>
                  </a:txBody>
                  <a:tcPr marL="95250" marR="95250" marT="66675" marB="66675" anchor="ctr">
                    <a:solidFill>
                      <a:srgbClr val="FCE8E6"/>
                    </a:solidFill>
                  </a:tcPr>
                </a:tc>
                <a:tc>
                  <a:txBody>
                    <a:bodyPr/>
                    <a:lstStyle/>
                    <a:p>
                      <a:r>
                        <a:rPr sz="1275" b="1">
                          <a:solidFill>
                            <a:srgbClr val="1F3864"/>
                          </a:solidFill>
                          <a:latin typeface="Arial"/>
                          <a:ea typeface="Arial"/>
                          <a:cs typeface="Arial"/>
                        </a:rPr>
                        <a:t>VP 130</a:t>
                      </a:r>
                    </a:p>
                    <a:p>
                      <a:r>
                        <a:rPr sz="1275" b="1">
                          <a:solidFill>
                            <a:srgbClr val="1F3864"/>
                          </a:solidFill>
                          <a:latin typeface="Arial"/>
                          <a:ea typeface="Arial"/>
                          <a:cs typeface="Arial"/>
                        </a:rPr>
                        <a:t>Detectado</a:t>
                      </a:r>
                    </a:p>
                  </a:txBody>
                  <a:tcPr marL="95250" marR="95250" marT="66675" marB="66675" anchor="ctr">
                    <a:solidFill>
                      <a:srgbClr val="DCE6F1"/>
                    </a:solidFill>
                  </a:tcPr>
                </a:tc>
                <a:extLst>
                  <a:ext uri="{0D108BD9-81ED-4DB2-BD59-A6C34878D82A}">
                    <a16:rowId xmlns:a16="http://schemas.microsoft.com/office/drawing/2014/main" val="10002"/>
                  </a:ext>
                </a:extLst>
              </a:tr>
            </a:tbl>
          </a:graphicData>
        </a:graphic>
      </p:graphicFrame>
      <p:sp>
        <p:nvSpPr>
          <p:cNvPr id="10" name="Rectangle: Rounded Corners 9">
            <a:extLst>
              <a:ext uri="{FF2B5EF4-FFF2-40B4-BE49-F238E27FC236}">
                <a16:creationId xmlns:a16="http://schemas.microsoft.com/office/drawing/2014/main" id="{6D702BFD-1295-4CF9-BC48-C53D7B4A6C1C}"/>
              </a:ext>
            </a:extLst>
          </p:cNvPr>
          <p:cNvSpPr>
            <a:spLocks noGrp="1"/>
          </p:cNvSpPr>
          <p:nvPr/>
        </p:nvSpPr>
        <p:spPr>
          <a:xfrm>
            <a:off x="7429500" y="1200150"/>
            <a:ext cx="4229100" cy="3143250"/>
          </a:xfrm>
          <a:prstGeom prst="roundRect">
            <a:avLst>
              <a:gd name="adj" fmla="val 4545"/>
            </a:avLst>
          </a:prstGeom>
          <a:solidFill>
            <a:srgbClr val="EDF2F7"/>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970B711A-4A14-4F85-9A65-87E28C525551}"/>
              </a:ext>
            </a:extLst>
          </p:cNvPr>
          <p:cNvSpPr>
            <a:spLocks noGrp="1"/>
          </p:cNvSpPr>
          <p:nvPr/>
        </p:nvSpPr>
        <p:spPr>
          <a:xfrm>
            <a:off x="7677150" y="1409700"/>
            <a:ext cx="3714750" cy="190500"/>
          </a:xfrm>
          <a:prstGeom prst="rect">
            <a:avLst/>
          </a:prstGeom>
          <a:noFill/>
          <a:ln w="0">
            <a:noFill/>
          </a:ln>
        </p:spPr>
        <p:txBody>
          <a:bodyPr anchor="t">
            <a:noAutofit/>
          </a:bodyPr>
          <a:lstStyle/>
          <a:p>
            <a:pPr algn="l">
              <a:buNone/>
              <a:defRPr sz="975" b="1" i="0">
                <a:solidFill>
                  <a:srgbClr val="1F3864"/>
                </a:solidFill>
                <a:latin typeface="Arial"/>
                <a:ea typeface="Arial"/>
                <a:cs typeface="Arial"/>
              </a:defRPr>
            </a:pPr>
            <a:r>
              <a:rPr sz="975" b="1" i="0">
                <a:solidFill>
                  <a:srgbClr val="1F3864"/>
                </a:solidFill>
                <a:latin typeface="Arial"/>
                <a:ea typeface="Arial"/>
                <a:cs typeface="Arial"/>
              </a:rPr>
              <a:t>¿QUÉ SIGNIFICA CADA ERROR?</a:t>
            </a:r>
          </a:p>
        </p:txBody>
      </p:sp>
      <p:sp>
        <p:nvSpPr>
          <p:cNvPr id="12" name="Rectangle: Rounded Corners 11">
            <a:extLst>
              <a:ext uri="{FF2B5EF4-FFF2-40B4-BE49-F238E27FC236}">
                <a16:creationId xmlns:a16="http://schemas.microsoft.com/office/drawing/2014/main" id="{C3093212-32A9-4E3B-A12A-89D12F8B5A74}"/>
              </a:ext>
            </a:extLst>
          </p:cNvPr>
          <p:cNvSpPr>
            <a:spLocks noGrp="1"/>
          </p:cNvSpPr>
          <p:nvPr/>
        </p:nvSpPr>
        <p:spPr>
          <a:xfrm>
            <a:off x="7677150" y="1752600"/>
            <a:ext cx="3733800" cy="819150"/>
          </a:xfrm>
          <a:prstGeom prst="roundRect">
            <a:avLst>
              <a:gd name="adj" fmla="val 11628"/>
            </a:avLst>
          </a:prstGeom>
          <a:solidFill>
            <a:srgbClr val="FCE8E6"/>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F0811C4B-533F-4721-99DE-F832E4D6C6C7}"/>
              </a:ext>
            </a:extLst>
          </p:cNvPr>
          <p:cNvSpPr>
            <a:spLocks noGrp="1"/>
          </p:cNvSpPr>
          <p:nvPr/>
        </p:nvSpPr>
        <p:spPr>
          <a:xfrm>
            <a:off x="7848600" y="1895475"/>
            <a:ext cx="238125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FALSO POSITIVO (FP)</a:t>
            </a:r>
          </a:p>
        </p:txBody>
      </p:sp>
      <p:sp>
        <p:nvSpPr>
          <p:cNvPr id="14" name="Rectangle 13">
            <a:extLst>
              <a:ext uri="{FF2B5EF4-FFF2-40B4-BE49-F238E27FC236}">
                <a16:creationId xmlns:a16="http://schemas.microsoft.com/office/drawing/2014/main" id="{FFDB643F-F497-49D6-AE1E-CF99A8617303}"/>
              </a:ext>
            </a:extLst>
          </p:cNvPr>
          <p:cNvSpPr>
            <a:spLocks noGrp="1"/>
          </p:cNvSpPr>
          <p:nvPr/>
        </p:nvSpPr>
        <p:spPr>
          <a:xfrm>
            <a:off x="7848600" y="2133600"/>
            <a:ext cx="3333750" cy="34290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Se revisa un viaje que no tendrá desviación. Consume tiempo operativo.</a:t>
            </a:r>
          </a:p>
        </p:txBody>
      </p:sp>
      <p:sp>
        <p:nvSpPr>
          <p:cNvPr id="15" name="Rectangle: Rounded Corners 14">
            <a:extLst>
              <a:ext uri="{FF2B5EF4-FFF2-40B4-BE49-F238E27FC236}">
                <a16:creationId xmlns:a16="http://schemas.microsoft.com/office/drawing/2014/main" id="{222C9C99-D8F4-44A8-967E-5C27855581AD}"/>
              </a:ext>
            </a:extLst>
          </p:cNvPr>
          <p:cNvSpPr>
            <a:spLocks noGrp="1"/>
          </p:cNvSpPr>
          <p:nvPr/>
        </p:nvSpPr>
        <p:spPr>
          <a:xfrm>
            <a:off x="7677150" y="2667000"/>
            <a:ext cx="3733800" cy="819150"/>
          </a:xfrm>
          <a:prstGeom prst="roundRect">
            <a:avLst>
              <a:gd name="adj" fmla="val 11628"/>
            </a:avLst>
          </a:prstGeom>
          <a:solidFill>
            <a:srgbClr val="FCE8E6"/>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1AB76C9D-C944-40D8-8028-BDBBD4DA60BA}"/>
              </a:ext>
            </a:extLst>
          </p:cNvPr>
          <p:cNvSpPr>
            <a:spLocks noGrp="1"/>
          </p:cNvSpPr>
          <p:nvPr/>
        </p:nvSpPr>
        <p:spPr>
          <a:xfrm>
            <a:off x="7848600" y="2809875"/>
            <a:ext cx="2381250" cy="171450"/>
          </a:xfrm>
          <a:prstGeom prst="rect">
            <a:avLst/>
          </a:prstGeom>
          <a:noFill/>
          <a:ln w="0">
            <a:noFill/>
          </a:ln>
        </p:spPr>
        <p:txBody>
          <a:bodyPr anchor="t">
            <a:noAutofit/>
          </a:bodyPr>
          <a:lstStyle/>
          <a:p>
            <a:pPr algn="l">
              <a:buNone/>
              <a:defRPr sz="900" b="1" i="0">
                <a:solidFill>
                  <a:srgbClr val="1F3864"/>
                </a:solidFill>
                <a:latin typeface="Arial"/>
                <a:ea typeface="Arial"/>
                <a:cs typeface="Arial"/>
              </a:defRPr>
            </a:pPr>
            <a:r>
              <a:rPr sz="900" b="1" i="0">
                <a:solidFill>
                  <a:srgbClr val="1F3864"/>
                </a:solidFill>
                <a:latin typeface="Arial"/>
                <a:ea typeface="Arial"/>
                <a:cs typeface="Arial"/>
              </a:rPr>
              <a:t>FALSO NEGATIVO (FN)</a:t>
            </a:r>
          </a:p>
        </p:txBody>
      </p:sp>
      <p:sp>
        <p:nvSpPr>
          <p:cNvPr id="17" name="Rectangle 16">
            <a:extLst>
              <a:ext uri="{FF2B5EF4-FFF2-40B4-BE49-F238E27FC236}">
                <a16:creationId xmlns:a16="http://schemas.microsoft.com/office/drawing/2014/main" id="{A0E20109-51A8-4B92-90B6-E3AF5CC7849E}"/>
              </a:ext>
            </a:extLst>
          </p:cNvPr>
          <p:cNvSpPr>
            <a:spLocks noGrp="1"/>
          </p:cNvSpPr>
          <p:nvPr/>
        </p:nvSpPr>
        <p:spPr>
          <a:xfrm>
            <a:off x="7848600" y="3048000"/>
            <a:ext cx="3333750" cy="34290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No se alerta una desviación real. Puede comprometer la cadena de frío.</a:t>
            </a:r>
          </a:p>
        </p:txBody>
      </p:sp>
      <p:sp>
        <p:nvSpPr>
          <p:cNvPr id="18" name="Rectangle: Rounded Corners 17">
            <a:extLst>
              <a:ext uri="{FF2B5EF4-FFF2-40B4-BE49-F238E27FC236}">
                <a16:creationId xmlns:a16="http://schemas.microsoft.com/office/drawing/2014/main" id="{F02B9ECE-6CC2-4774-8A2F-47DB8D27C23F}"/>
              </a:ext>
            </a:extLst>
          </p:cNvPr>
          <p:cNvSpPr>
            <a:spLocks noGrp="1"/>
          </p:cNvSpPr>
          <p:nvPr/>
        </p:nvSpPr>
        <p:spPr>
          <a:xfrm>
            <a:off x="7677150" y="3600450"/>
            <a:ext cx="3733800" cy="552450"/>
          </a:xfrm>
          <a:prstGeom prst="roundRect">
            <a:avLst>
              <a:gd name="adj" fmla="val 17241"/>
            </a:avLst>
          </a:prstGeom>
          <a:solidFill>
            <a:srgbClr val="1F3864"/>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CB90A80-1F45-4DDF-A3BA-9970AF806D7F}"/>
              </a:ext>
            </a:extLst>
          </p:cNvPr>
          <p:cNvSpPr>
            <a:spLocks noGrp="1"/>
          </p:cNvSpPr>
          <p:nvPr/>
        </p:nvSpPr>
        <p:spPr>
          <a:xfrm>
            <a:off x="7848600" y="3714750"/>
            <a:ext cx="3333750" cy="190500"/>
          </a:xfrm>
          <a:prstGeom prst="rect">
            <a:avLst/>
          </a:prstGeom>
          <a:noFill/>
          <a:ln w="0">
            <a:noFill/>
          </a:ln>
        </p:spPr>
        <p:txBody>
          <a:bodyPr anchor="t">
            <a:noAutofit/>
          </a:bodyPr>
          <a:lstStyle/>
          <a:p>
            <a:pPr algn="l">
              <a:buNone/>
              <a:defRPr sz="1050" b="1" i="0">
                <a:solidFill>
                  <a:srgbClr val="FFFFFF"/>
                </a:solidFill>
                <a:latin typeface="Arial"/>
                <a:ea typeface="Arial"/>
                <a:cs typeface="Arial"/>
              </a:defRPr>
            </a:pPr>
            <a:r>
              <a:rPr sz="1050" b="1" i="0">
                <a:solidFill>
                  <a:srgbClr val="FFFFFF"/>
                </a:solidFill>
                <a:latin typeface="Arial"/>
                <a:ea typeface="Arial"/>
                <a:cs typeface="Arial"/>
              </a:rPr>
              <a:t>Error más costoso: falso negativo</a:t>
            </a:r>
          </a:p>
        </p:txBody>
      </p:sp>
      <p:sp>
        <p:nvSpPr>
          <p:cNvPr id="20" name="Rectangle 19">
            <a:extLst>
              <a:ext uri="{FF2B5EF4-FFF2-40B4-BE49-F238E27FC236}">
                <a16:creationId xmlns:a16="http://schemas.microsoft.com/office/drawing/2014/main" id="{F2BFAFDE-CB5F-4129-855E-5F65D70EC62A}"/>
              </a:ext>
            </a:extLst>
          </p:cNvPr>
          <p:cNvSpPr>
            <a:spLocks noGrp="1"/>
          </p:cNvSpPr>
          <p:nvPr/>
        </p:nvSpPr>
        <p:spPr>
          <a:xfrm>
            <a:off x="7848600" y="3924300"/>
            <a:ext cx="3333750" cy="171450"/>
          </a:xfrm>
          <a:prstGeom prst="rect">
            <a:avLst/>
          </a:prstGeom>
          <a:noFill/>
          <a:ln w="0">
            <a:noFill/>
          </a:ln>
        </p:spPr>
        <p:txBody>
          <a:bodyPr anchor="t">
            <a:noAutofit/>
          </a:bodyPr>
          <a:lstStyle/>
          <a:p>
            <a:pPr algn="l">
              <a:buNone/>
              <a:defRPr sz="900" b="0" i="0">
                <a:solidFill>
                  <a:srgbClr val="EDF2F7"/>
                </a:solidFill>
                <a:latin typeface="Arial"/>
                <a:ea typeface="Arial"/>
                <a:cs typeface="Arial"/>
              </a:defRPr>
            </a:pPr>
            <a:r>
              <a:rPr sz="900" b="0" i="0">
                <a:solidFill>
                  <a:srgbClr val="EDF2F7"/>
                </a:solidFill>
                <a:latin typeface="Arial"/>
                <a:ea typeface="Arial"/>
                <a:cs typeface="Arial"/>
              </a:rPr>
              <a:t>Razón: puede dejar una desviación sin revisión preventiva</a:t>
            </a:r>
          </a:p>
        </p:txBody>
      </p:sp>
      <p:sp>
        <p:nvSpPr>
          <p:cNvPr id="21" name="Rectangle: Rounded Corners 20">
            <a:extLst>
              <a:ext uri="{FF2B5EF4-FFF2-40B4-BE49-F238E27FC236}">
                <a16:creationId xmlns:a16="http://schemas.microsoft.com/office/drawing/2014/main" id="{11AA6C17-B8DC-4035-9A48-0E0FF94A6D27}"/>
              </a:ext>
            </a:extLst>
          </p:cNvPr>
          <p:cNvSpPr>
            <a:spLocks noGrp="1"/>
          </p:cNvSpPr>
          <p:nvPr/>
        </p:nvSpPr>
        <p:spPr>
          <a:xfrm>
            <a:off x="533400" y="4572000"/>
            <a:ext cx="3429000" cy="838200"/>
          </a:xfrm>
          <a:prstGeom prst="roundRect">
            <a:avLst>
              <a:gd name="adj" fmla="val 13636"/>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5B9186EC-ACA4-43E0-8FC6-336D985AD16D}"/>
              </a:ext>
            </a:extLst>
          </p:cNvPr>
          <p:cNvSpPr>
            <a:spLocks noGrp="1"/>
          </p:cNvSpPr>
          <p:nvPr/>
        </p:nvSpPr>
        <p:spPr>
          <a:xfrm>
            <a:off x="723900" y="4705350"/>
            <a:ext cx="30480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RECALL = VP / (VP + FN)</a:t>
            </a:r>
          </a:p>
        </p:txBody>
      </p:sp>
      <p:sp>
        <p:nvSpPr>
          <p:cNvPr id="23" name="Rectangle 22">
            <a:extLst>
              <a:ext uri="{FF2B5EF4-FFF2-40B4-BE49-F238E27FC236}">
                <a16:creationId xmlns:a16="http://schemas.microsoft.com/office/drawing/2014/main" id="{7B77D0EB-3162-4379-9075-77DBB2C306AF}"/>
              </a:ext>
            </a:extLst>
          </p:cNvPr>
          <p:cNvSpPr>
            <a:spLocks noGrp="1"/>
          </p:cNvSpPr>
          <p:nvPr/>
        </p:nvSpPr>
        <p:spPr>
          <a:xfrm>
            <a:off x="723900" y="4972050"/>
            <a:ext cx="3048000" cy="3238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46,76% de las desviaciones reales fueron detectadas</a:t>
            </a:r>
          </a:p>
        </p:txBody>
      </p:sp>
      <p:sp>
        <p:nvSpPr>
          <p:cNvPr id="24" name="Rectangle: Rounded Corners 23">
            <a:extLst>
              <a:ext uri="{FF2B5EF4-FFF2-40B4-BE49-F238E27FC236}">
                <a16:creationId xmlns:a16="http://schemas.microsoft.com/office/drawing/2014/main" id="{62BD7E5C-1CB8-43B5-BDDD-822FB480BF73}"/>
              </a:ext>
            </a:extLst>
          </p:cNvPr>
          <p:cNvSpPr>
            <a:spLocks noGrp="1"/>
          </p:cNvSpPr>
          <p:nvPr/>
        </p:nvSpPr>
        <p:spPr>
          <a:xfrm>
            <a:off x="4171950" y="4572000"/>
            <a:ext cx="3429000" cy="838200"/>
          </a:xfrm>
          <a:prstGeom prst="roundRect">
            <a:avLst>
              <a:gd name="adj" fmla="val 13636"/>
            </a:avLst>
          </a:prstGeom>
          <a:solidFill>
            <a:srgbClr val="DCE6F1"/>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B745913C-ED48-49E4-9501-CEEB32C80373}"/>
              </a:ext>
            </a:extLst>
          </p:cNvPr>
          <p:cNvSpPr>
            <a:spLocks noGrp="1"/>
          </p:cNvSpPr>
          <p:nvPr/>
        </p:nvSpPr>
        <p:spPr>
          <a:xfrm>
            <a:off x="4362450" y="4705350"/>
            <a:ext cx="30480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PRECISION = VP / (VP + FP)</a:t>
            </a:r>
          </a:p>
        </p:txBody>
      </p:sp>
      <p:sp>
        <p:nvSpPr>
          <p:cNvPr id="26" name="Rectangle 25">
            <a:extLst>
              <a:ext uri="{FF2B5EF4-FFF2-40B4-BE49-F238E27FC236}">
                <a16:creationId xmlns:a16="http://schemas.microsoft.com/office/drawing/2014/main" id="{8EBC8388-CD83-4845-B9B4-3FADE8C5C96D}"/>
              </a:ext>
            </a:extLst>
          </p:cNvPr>
          <p:cNvSpPr>
            <a:spLocks noGrp="1"/>
          </p:cNvSpPr>
          <p:nvPr/>
        </p:nvSpPr>
        <p:spPr>
          <a:xfrm>
            <a:off x="4362450" y="4972050"/>
            <a:ext cx="3048000" cy="3238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28,20% de las alertas correspondió a una desviación real</a:t>
            </a:r>
          </a:p>
        </p:txBody>
      </p:sp>
      <p:sp>
        <p:nvSpPr>
          <p:cNvPr id="27" name="Rectangle: Rounded Corners 26">
            <a:extLst>
              <a:ext uri="{FF2B5EF4-FFF2-40B4-BE49-F238E27FC236}">
                <a16:creationId xmlns:a16="http://schemas.microsoft.com/office/drawing/2014/main" id="{F8BB978F-B451-483C-887A-167499643574}"/>
              </a:ext>
            </a:extLst>
          </p:cNvPr>
          <p:cNvSpPr>
            <a:spLocks noGrp="1"/>
          </p:cNvSpPr>
          <p:nvPr/>
        </p:nvSpPr>
        <p:spPr>
          <a:xfrm>
            <a:off x="7810500" y="4572000"/>
            <a:ext cx="3848100" cy="838200"/>
          </a:xfrm>
          <a:prstGeom prst="roundRect">
            <a:avLst>
              <a:gd name="adj" fmla="val 13636"/>
            </a:avLst>
          </a:prstGeom>
          <a:solidFill>
            <a:srgbClr val="FFFFFF"/>
          </a:solidFill>
          <a:ln w="9525">
            <a:solidFill>
              <a:srgbClr val="EDF2F7"/>
            </a:solidFill>
            <a:prstDash val="solid"/>
          </a:ln>
        </p:spPr>
        <p:txBody>
          <a:bodyPr/>
          <a:lstStyle/>
          <a:p>
            <a:endParaRPr lang="en-US"/>
          </a:p>
        </p:txBody>
      </p:sp>
      <p:sp>
        <p:nvSpPr>
          <p:cNvPr id="28" name="Rectangle 27">
            <a:extLst>
              <a:ext uri="{FF2B5EF4-FFF2-40B4-BE49-F238E27FC236}">
                <a16:creationId xmlns:a16="http://schemas.microsoft.com/office/drawing/2014/main" id="{F8B89F8F-E0EC-417C-8D59-93BD0546F871}"/>
              </a:ext>
            </a:extLst>
          </p:cNvPr>
          <p:cNvSpPr>
            <a:spLocks noGrp="1"/>
          </p:cNvSpPr>
          <p:nvPr/>
        </p:nvSpPr>
        <p:spPr>
          <a:xfrm>
            <a:off x="8001000" y="4705350"/>
            <a:ext cx="3467100" cy="180975"/>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DECISIÓN OPERATIVA</a:t>
            </a:r>
          </a:p>
        </p:txBody>
      </p:sp>
      <p:sp>
        <p:nvSpPr>
          <p:cNvPr id="29" name="Rectangle 28">
            <a:extLst>
              <a:ext uri="{FF2B5EF4-FFF2-40B4-BE49-F238E27FC236}">
                <a16:creationId xmlns:a16="http://schemas.microsoft.com/office/drawing/2014/main" id="{96916D6D-CDE7-44CC-A706-E028E1765BC8}"/>
              </a:ext>
            </a:extLst>
          </p:cNvPr>
          <p:cNvSpPr>
            <a:spLocks noGrp="1"/>
          </p:cNvSpPr>
          <p:nvPr/>
        </p:nvSpPr>
        <p:spPr>
          <a:xfrm>
            <a:off x="8001000" y="4953000"/>
            <a:ext cx="3467100" cy="361950"/>
          </a:xfrm>
          <a:prstGeom prst="rect">
            <a:avLst/>
          </a:prstGeom>
          <a:noFill/>
          <a:ln w="0">
            <a:noFill/>
          </a:ln>
        </p:spPr>
        <p:txBody>
          <a:bodyPr anchor="t">
            <a:noAutofit/>
          </a:bodyPr>
          <a:lstStyle/>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Umbral: 0,50  ·  Capacidad: por definir</a:t>
            </a:r>
          </a:p>
          <a:p>
            <a:pPr algn="l">
              <a:buNone/>
              <a:defRPr sz="1050" b="0" i="0">
                <a:solidFill>
                  <a:srgbClr val="1F3864"/>
                </a:solidFill>
                <a:latin typeface="Arial"/>
                <a:ea typeface="Arial"/>
                <a:cs typeface="Arial"/>
              </a:defRPr>
            </a:pPr>
            <a:r>
              <a:rPr sz="1050" b="0" i="0">
                <a:solidFill>
                  <a:srgbClr val="1F3864"/>
                </a:solidFill>
                <a:latin typeface="Arial"/>
                <a:ea typeface="Arial"/>
                <a:cs typeface="Arial"/>
              </a:rPr>
              <a:t>Debe validarse según el costo de FP y FN</a:t>
            </a:r>
          </a:p>
        </p:txBody>
      </p:sp>
      <p:sp>
        <p:nvSpPr>
          <p:cNvPr id="30" name="Rectangle: Rounded Corners 29">
            <a:extLst>
              <a:ext uri="{FF2B5EF4-FFF2-40B4-BE49-F238E27FC236}">
                <a16:creationId xmlns:a16="http://schemas.microsoft.com/office/drawing/2014/main" id="{D7A34C5C-9CFD-4C56-B89C-F063EC56955C}"/>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992CD00A-2FC0-4906-8314-A9D2CA270683}"/>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PR AUC: 37,32% frente a 5,37% de prevalencia en prueba. El modelo ayuda, pero aún omite 148 eventos.</a:t>
            </a:r>
          </a:p>
        </p:txBody>
      </p:sp>
    </p:spTree>
    <p:extLst>
      <p:ext uri="{BB962C8B-B14F-4D97-AF65-F5344CB8AC3E}">
        <p14:creationId xmlns:p14="http://schemas.microsoft.com/office/powerpoint/2010/main" val="1127619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26F46D4-6040-43E6-9945-2AFDED90F8BA}"/>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E0C309CF-B9F1-4143-B593-AEE73D52B0B5}"/>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06 · MÉTRICAS DEL MODELO</a:t>
            </a:r>
          </a:p>
        </p:txBody>
      </p:sp>
      <p:sp>
        <p:nvSpPr>
          <p:cNvPr id="3" name="Rectangle 2">
            <a:extLst>
              <a:ext uri="{FF2B5EF4-FFF2-40B4-BE49-F238E27FC236}">
                <a16:creationId xmlns:a16="http://schemas.microsoft.com/office/drawing/2014/main" id="{F5A5E0DB-3B99-4F0B-808C-27F365F2B89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Qué significan los resultados para la operación</a:t>
            </a:r>
          </a:p>
        </p:txBody>
      </p:sp>
      <p:sp>
        <p:nvSpPr>
          <p:cNvPr id="4" name="Rectangle 3">
            <a:extLst>
              <a:ext uri="{FF2B5EF4-FFF2-40B4-BE49-F238E27FC236}">
                <a16:creationId xmlns:a16="http://schemas.microsoft.com/office/drawing/2014/main" id="{8EFFE9AD-01B1-4D00-87B4-E50999C1B084}"/>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A9CFF972-7A0E-47D6-9920-5A766C42E6B8}"/>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5EFBD9ED-2844-45C0-A360-F08877124F7F}"/>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D3D7D1C8-AE23-AA48-DF65-C742588DBE47}" type="slidenum">
              <a:rPr sz="900" b="1" i="0">
                <a:solidFill>
                  <a:srgbClr val="2E5B8A"/>
                </a:solidFill>
                <a:latin typeface="Arial"/>
                <a:ea typeface="Arial"/>
                <a:cs typeface="Arial"/>
              </a:rPr>
              <a:t>7</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02BAD016-899C-4A16-BC2E-8117D8C57BE9}"/>
              </a:ext>
            </a:extLst>
          </p:cNvPr>
          <p:cNvSpPr>
            <a:spLocks noGrp="1"/>
          </p:cNvSpPr>
          <p:nvPr/>
        </p:nvSpPr>
        <p:spPr>
          <a:xfrm>
            <a:off x="533400" y="1257300"/>
            <a:ext cx="3333750" cy="876300"/>
          </a:xfrm>
          <a:prstGeom prst="roundRect">
            <a:avLst>
              <a:gd name="adj" fmla="val 14130"/>
            </a:avLst>
          </a:prstGeom>
          <a:solidFill>
            <a:srgbClr val="EDF2F7"/>
          </a:solidFill>
          <a:ln w="0">
            <a:noFill/>
            <a:prstDash val="solid"/>
          </a:ln>
        </p:spPr>
        <p:txBody>
          <a:bodyPr/>
          <a:lstStyle/>
          <a:p>
            <a:endParaRPr lang="en-US"/>
          </a:p>
        </p:txBody>
      </p:sp>
      <p:sp>
        <p:nvSpPr>
          <p:cNvPr id="8" name="Rectangle 7">
            <a:extLst>
              <a:ext uri="{FF2B5EF4-FFF2-40B4-BE49-F238E27FC236}">
                <a16:creationId xmlns:a16="http://schemas.microsoft.com/office/drawing/2014/main" id="{BFB1FE5D-9EA6-438D-988C-A4FEAA1A439F}"/>
              </a:ext>
            </a:extLst>
          </p:cNvPr>
          <p:cNvSpPr>
            <a:spLocks noGrp="1"/>
          </p:cNvSpPr>
          <p:nvPr/>
        </p:nvSpPr>
        <p:spPr>
          <a:xfrm>
            <a:off x="7048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46,76%</a:t>
            </a:r>
          </a:p>
        </p:txBody>
      </p:sp>
      <p:sp>
        <p:nvSpPr>
          <p:cNvPr id="9" name="Rectangle 8">
            <a:extLst>
              <a:ext uri="{FF2B5EF4-FFF2-40B4-BE49-F238E27FC236}">
                <a16:creationId xmlns:a16="http://schemas.microsoft.com/office/drawing/2014/main" id="{1E59CA61-B5B9-4D83-A503-FCC6102E3718}"/>
              </a:ext>
            </a:extLst>
          </p:cNvPr>
          <p:cNvSpPr>
            <a:spLocks noGrp="1"/>
          </p:cNvSpPr>
          <p:nvPr/>
        </p:nvSpPr>
        <p:spPr>
          <a:xfrm>
            <a:off x="7048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RECALL</a:t>
            </a:r>
          </a:p>
        </p:txBody>
      </p:sp>
      <p:sp>
        <p:nvSpPr>
          <p:cNvPr id="10" name="Rectangle 9">
            <a:extLst>
              <a:ext uri="{FF2B5EF4-FFF2-40B4-BE49-F238E27FC236}">
                <a16:creationId xmlns:a16="http://schemas.microsoft.com/office/drawing/2014/main" id="{6A717E33-102F-4FBE-A37D-22179D5935A9}"/>
              </a:ext>
            </a:extLst>
          </p:cNvPr>
          <p:cNvSpPr>
            <a:spLocks noGrp="1"/>
          </p:cNvSpPr>
          <p:nvPr/>
        </p:nvSpPr>
        <p:spPr>
          <a:xfrm>
            <a:off x="7048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Detecta casi 47 de cada 100 eventos reales</a:t>
            </a:r>
          </a:p>
        </p:txBody>
      </p:sp>
      <p:sp>
        <p:nvSpPr>
          <p:cNvPr id="11" name="Rectangle: Rounded Corners 10">
            <a:extLst>
              <a:ext uri="{FF2B5EF4-FFF2-40B4-BE49-F238E27FC236}">
                <a16:creationId xmlns:a16="http://schemas.microsoft.com/office/drawing/2014/main" id="{B82FA020-494F-4DDB-A89C-4CB885992D5B}"/>
              </a:ext>
            </a:extLst>
          </p:cNvPr>
          <p:cNvSpPr>
            <a:spLocks noGrp="1"/>
          </p:cNvSpPr>
          <p:nvPr/>
        </p:nvSpPr>
        <p:spPr>
          <a:xfrm>
            <a:off x="4114800" y="1257300"/>
            <a:ext cx="3333750" cy="876300"/>
          </a:xfrm>
          <a:prstGeom prst="roundRect">
            <a:avLst>
              <a:gd name="adj" fmla="val 14130"/>
            </a:avLst>
          </a:prstGeom>
          <a:solidFill>
            <a:srgbClr val="FCE8E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04564985-90A0-42EE-8A29-B08D7DE6319C}"/>
              </a:ext>
            </a:extLst>
          </p:cNvPr>
          <p:cNvSpPr>
            <a:spLocks noGrp="1"/>
          </p:cNvSpPr>
          <p:nvPr/>
        </p:nvSpPr>
        <p:spPr>
          <a:xfrm>
            <a:off x="42862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28,20%</a:t>
            </a:r>
          </a:p>
        </p:txBody>
      </p:sp>
      <p:sp>
        <p:nvSpPr>
          <p:cNvPr id="13" name="Rectangle 12">
            <a:extLst>
              <a:ext uri="{FF2B5EF4-FFF2-40B4-BE49-F238E27FC236}">
                <a16:creationId xmlns:a16="http://schemas.microsoft.com/office/drawing/2014/main" id="{32DEB5D0-FE0D-4A8D-9887-E2E5986CB41C}"/>
              </a:ext>
            </a:extLst>
          </p:cNvPr>
          <p:cNvSpPr>
            <a:spLocks noGrp="1"/>
          </p:cNvSpPr>
          <p:nvPr/>
        </p:nvSpPr>
        <p:spPr>
          <a:xfrm>
            <a:off x="42862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PRECISIÓN</a:t>
            </a:r>
          </a:p>
        </p:txBody>
      </p:sp>
      <p:sp>
        <p:nvSpPr>
          <p:cNvPr id="14" name="Rectangle 13">
            <a:extLst>
              <a:ext uri="{FF2B5EF4-FFF2-40B4-BE49-F238E27FC236}">
                <a16:creationId xmlns:a16="http://schemas.microsoft.com/office/drawing/2014/main" id="{A8785DAC-8FCB-46FF-A0D9-4A91F9D83E0F}"/>
              </a:ext>
            </a:extLst>
          </p:cNvPr>
          <p:cNvSpPr>
            <a:spLocks noGrp="1"/>
          </p:cNvSpPr>
          <p:nvPr/>
        </p:nvSpPr>
        <p:spPr>
          <a:xfrm>
            <a:off x="42862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Casi 28 de cada 100 alertas son correctas</a:t>
            </a:r>
          </a:p>
        </p:txBody>
      </p:sp>
      <p:sp>
        <p:nvSpPr>
          <p:cNvPr id="15" name="Rectangle: Rounded Corners 14">
            <a:extLst>
              <a:ext uri="{FF2B5EF4-FFF2-40B4-BE49-F238E27FC236}">
                <a16:creationId xmlns:a16="http://schemas.microsoft.com/office/drawing/2014/main" id="{39A379BC-07C1-42CD-ADF3-D36BDB4F07C5}"/>
              </a:ext>
            </a:extLst>
          </p:cNvPr>
          <p:cNvSpPr>
            <a:spLocks noGrp="1"/>
          </p:cNvSpPr>
          <p:nvPr/>
        </p:nvSpPr>
        <p:spPr>
          <a:xfrm>
            <a:off x="7696200" y="1257300"/>
            <a:ext cx="3962400" cy="876300"/>
          </a:xfrm>
          <a:prstGeom prst="roundRect">
            <a:avLst>
              <a:gd name="adj" fmla="val 14130"/>
            </a:avLst>
          </a:prstGeom>
          <a:solidFill>
            <a:srgbClr val="DCE6F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CB85660A-2171-4EB6-8000-3EAA6D27D795}"/>
              </a:ext>
            </a:extLst>
          </p:cNvPr>
          <p:cNvSpPr>
            <a:spLocks noGrp="1"/>
          </p:cNvSpPr>
          <p:nvPr/>
        </p:nvSpPr>
        <p:spPr>
          <a:xfrm>
            <a:off x="7867650" y="1390650"/>
            <a:ext cx="361950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37,32%</a:t>
            </a:r>
          </a:p>
        </p:txBody>
      </p:sp>
      <p:sp>
        <p:nvSpPr>
          <p:cNvPr id="17" name="Rectangle 16">
            <a:extLst>
              <a:ext uri="{FF2B5EF4-FFF2-40B4-BE49-F238E27FC236}">
                <a16:creationId xmlns:a16="http://schemas.microsoft.com/office/drawing/2014/main" id="{F75A4287-8D2C-4EDA-BDC8-12CF81FF85B3}"/>
              </a:ext>
            </a:extLst>
          </p:cNvPr>
          <p:cNvSpPr>
            <a:spLocks noGrp="1"/>
          </p:cNvSpPr>
          <p:nvPr/>
        </p:nvSpPr>
        <p:spPr>
          <a:xfrm>
            <a:off x="7867650" y="1609725"/>
            <a:ext cx="361950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PR AUC</a:t>
            </a:r>
          </a:p>
        </p:txBody>
      </p:sp>
      <p:sp>
        <p:nvSpPr>
          <p:cNvPr id="18" name="Rectangle 17">
            <a:extLst>
              <a:ext uri="{FF2B5EF4-FFF2-40B4-BE49-F238E27FC236}">
                <a16:creationId xmlns:a16="http://schemas.microsoft.com/office/drawing/2014/main" id="{D54F3D56-7720-4C08-BC8B-DC74668A7615}"/>
              </a:ext>
            </a:extLst>
          </p:cNvPr>
          <p:cNvSpPr>
            <a:spLocks noGrp="1"/>
          </p:cNvSpPr>
          <p:nvPr/>
        </p:nvSpPr>
        <p:spPr>
          <a:xfrm>
            <a:off x="7867650" y="1895475"/>
            <a:ext cx="361950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Supera el 5,37% esperado por prevalencia</a:t>
            </a:r>
          </a:p>
        </p:txBody>
      </p:sp>
      <p:sp>
        <p:nvSpPr>
          <p:cNvPr id="19" name="Rectangle 18">
            <a:extLst>
              <a:ext uri="{FF2B5EF4-FFF2-40B4-BE49-F238E27FC236}">
                <a16:creationId xmlns:a16="http://schemas.microsoft.com/office/drawing/2014/main" id="{6C2451A4-9C18-4317-A335-3AD43432338D}"/>
              </a:ext>
            </a:extLst>
          </p:cNvPr>
          <p:cNvSpPr>
            <a:spLocks noGrp="1"/>
          </p:cNvSpPr>
          <p:nvPr/>
        </p:nvSpPr>
        <p:spPr>
          <a:xfrm>
            <a:off x="533400" y="2343150"/>
            <a:ext cx="666750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Resumen de métricas en el conjunto de prueba</a:t>
            </a:r>
          </a:p>
        </p:txBody>
      </p:sp>
      <p:graphicFrame>
        <p:nvGraphicFramePr>
          <p:cNvPr id="51" name="Table 50"/>
          <p:cNvGraphicFramePr/>
          <p:nvPr/>
        </p:nvGraphicFramePr>
        <p:xfrm>
          <a:off x="533400" y="2667000"/>
          <a:ext cx="6858000" cy="2647952"/>
        </p:xfrm>
        <a:graphic>
          <a:graphicData uri="http://schemas.openxmlformats.org/drawingml/2006/table">
            <a:tbl>
              <a:tblPr/>
              <a:tblGrid>
                <a:gridCol w="1645920">
                  <a:extLst>
                    <a:ext uri="{9D8B030D-6E8A-4147-A177-3AD203B41FA5}">
                      <a16:colId xmlns:a16="http://schemas.microsoft.com/office/drawing/2014/main" val="20000"/>
                    </a:ext>
                  </a:extLst>
                </a:gridCol>
                <a:gridCol w="891540">
                  <a:extLst>
                    <a:ext uri="{9D8B030D-6E8A-4147-A177-3AD203B41FA5}">
                      <a16:colId xmlns:a16="http://schemas.microsoft.com/office/drawing/2014/main" val="20001"/>
                    </a:ext>
                  </a:extLst>
                </a:gridCol>
                <a:gridCol w="144018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661988">
                <a:tc>
                  <a:txBody>
                    <a:bodyPr/>
                    <a:lstStyle/>
                    <a:p>
                      <a:r>
                        <a:rPr sz="975" b="1">
                          <a:solidFill>
                            <a:srgbClr val="FFFFFF"/>
                          </a:solidFill>
                          <a:latin typeface="Arial"/>
                          <a:ea typeface="Arial"/>
                          <a:cs typeface="Arial"/>
                        </a:rPr>
                        <a:t>Indicador</a:t>
                      </a:r>
                    </a:p>
                  </a:txBody>
                  <a:tcPr marL="85725" marR="85725" marT="57150" marB="57150" anchor="ctr">
                    <a:solidFill>
                      <a:srgbClr val="1F3864"/>
                    </a:solidFill>
                  </a:tcPr>
                </a:tc>
                <a:tc>
                  <a:txBody>
                    <a:bodyPr/>
                    <a:lstStyle/>
                    <a:p>
                      <a:r>
                        <a:rPr sz="975" b="1">
                          <a:solidFill>
                            <a:srgbClr val="FFFFFF"/>
                          </a:solidFill>
                          <a:latin typeface="Arial"/>
                          <a:ea typeface="Arial"/>
                          <a:cs typeface="Arial"/>
                        </a:rPr>
                        <a:t>Valor</a:t>
                      </a:r>
                    </a:p>
                  </a:txBody>
                  <a:tcPr marL="85725" marR="85725" marT="57150" marB="57150" anchor="ctr">
                    <a:solidFill>
                      <a:srgbClr val="1F3864"/>
                    </a:solidFill>
                  </a:tcPr>
                </a:tc>
                <a:tc>
                  <a:txBody>
                    <a:bodyPr/>
                    <a:lstStyle/>
                    <a:p>
                      <a:r>
                        <a:rPr sz="975" b="1">
                          <a:solidFill>
                            <a:srgbClr val="FFFFFF"/>
                          </a:solidFill>
                          <a:latin typeface="Arial"/>
                          <a:ea typeface="Arial"/>
                          <a:cs typeface="Arial"/>
                        </a:rPr>
                        <a:t>Significado sencillo</a:t>
                      </a:r>
                    </a:p>
                  </a:txBody>
                  <a:tcPr marL="85725" marR="85725" marT="57150" marB="57150" anchor="ctr">
                    <a:solidFill>
                      <a:srgbClr val="1F3864"/>
                    </a:solidFill>
                  </a:tcPr>
                </a:tc>
                <a:tc>
                  <a:txBody>
                    <a:bodyPr/>
                    <a:lstStyle/>
                    <a:p>
                      <a:r>
                        <a:rPr sz="975" b="1">
                          <a:solidFill>
                            <a:srgbClr val="FFFFFF"/>
                          </a:solidFill>
                          <a:latin typeface="Arial"/>
                          <a:ea typeface="Arial"/>
                          <a:cs typeface="Arial"/>
                        </a:rPr>
                        <a:t>Uso operativo</a:t>
                      </a:r>
                    </a:p>
                  </a:txBody>
                  <a:tcPr marL="85725" marR="85725" marT="57150" marB="57150" anchor="ctr">
                    <a:solidFill>
                      <a:srgbClr val="1F3864"/>
                    </a:solidFill>
                  </a:tcPr>
                </a:tc>
                <a:extLst>
                  <a:ext uri="{0D108BD9-81ED-4DB2-BD59-A6C34878D82A}">
                    <a16:rowId xmlns:a16="http://schemas.microsoft.com/office/drawing/2014/main" val="10000"/>
                  </a:ext>
                </a:extLst>
              </a:tr>
              <a:tr h="661988">
                <a:tc>
                  <a:txBody>
                    <a:bodyPr/>
                    <a:lstStyle/>
                    <a:p>
                      <a:r>
                        <a:rPr sz="975">
                          <a:solidFill>
                            <a:srgbClr val="1F3864"/>
                          </a:solidFill>
                          <a:latin typeface="Arial"/>
                          <a:ea typeface="Arial"/>
                          <a:cs typeface="Arial"/>
                        </a:rPr>
                        <a:t>Recall</a:t>
                      </a:r>
                    </a:p>
                  </a:txBody>
                  <a:tcPr marL="85725" marR="85725" marT="57150" marB="57150" anchor="ctr">
                    <a:solidFill>
                      <a:srgbClr val="FFFFFF"/>
                    </a:solidFill>
                  </a:tcPr>
                </a:tc>
                <a:tc>
                  <a:txBody>
                    <a:bodyPr/>
                    <a:lstStyle/>
                    <a:p>
                      <a:r>
                        <a:rPr sz="975">
                          <a:solidFill>
                            <a:srgbClr val="1F3864"/>
                          </a:solidFill>
                          <a:latin typeface="Arial"/>
                          <a:ea typeface="Arial"/>
                          <a:cs typeface="Arial"/>
                        </a:rPr>
                        <a:t>46,76%</a:t>
                      </a:r>
                    </a:p>
                  </a:txBody>
                  <a:tcPr marL="85725" marR="85725" marT="57150" marB="57150" anchor="ctr">
                    <a:solidFill>
                      <a:srgbClr val="FFFFFF"/>
                    </a:solidFill>
                  </a:tcPr>
                </a:tc>
                <a:tc>
                  <a:txBody>
                    <a:bodyPr/>
                    <a:lstStyle/>
                    <a:p>
                      <a:r>
                        <a:rPr sz="975">
                          <a:solidFill>
                            <a:srgbClr val="1F3864"/>
                          </a:solidFill>
                          <a:latin typeface="Arial"/>
                          <a:ea typeface="Arial"/>
                          <a:cs typeface="Arial"/>
                        </a:rPr>
                        <a:t>Cuántos eventos reales detecta</a:t>
                      </a:r>
                    </a:p>
                  </a:txBody>
                  <a:tcPr marL="85725" marR="85725" marT="57150" marB="57150" anchor="ctr">
                    <a:solidFill>
                      <a:srgbClr val="FFFFFF"/>
                    </a:solidFill>
                  </a:tcPr>
                </a:tc>
                <a:tc>
                  <a:txBody>
                    <a:bodyPr/>
                    <a:lstStyle/>
                    <a:p>
                      <a:r>
                        <a:rPr sz="975">
                          <a:solidFill>
                            <a:srgbClr val="1F3864"/>
                          </a:solidFill>
                          <a:latin typeface="Arial"/>
                          <a:ea typeface="Arial"/>
                          <a:cs typeface="Arial"/>
                        </a:rPr>
                        <a:t>Medir eventos que el modelo no debe omitir</a:t>
                      </a:r>
                    </a:p>
                  </a:txBody>
                  <a:tcPr marL="85725" marR="85725" marT="57150" marB="57150" anchor="ctr">
                    <a:solidFill>
                      <a:srgbClr val="FFFFFF"/>
                    </a:solidFill>
                  </a:tcPr>
                </a:tc>
                <a:extLst>
                  <a:ext uri="{0D108BD9-81ED-4DB2-BD59-A6C34878D82A}">
                    <a16:rowId xmlns:a16="http://schemas.microsoft.com/office/drawing/2014/main" val="10001"/>
                  </a:ext>
                </a:extLst>
              </a:tr>
              <a:tr h="661988">
                <a:tc>
                  <a:txBody>
                    <a:bodyPr/>
                    <a:lstStyle/>
                    <a:p>
                      <a:r>
                        <a:rPr sz="975">
                          <a:solidFill>
                            <a:srgbClr val="1F3864"/>
                          </a:solidFill>
                          <a:latin typeface="Arial"/>
                          <a:ea typeface="Arial"/>
                          <a:cs typeface="Arial"/>
                        </a:rPr>
                        <a:t>Precisión</a:t>
                      </a:r>
                    </a:p>
                  </a:txBody>
                  <a:tcPr marL="85725" marR="85725" marT="57150" marB="57150" anchor="ctr">
                    <a:solidFill>
                      <a:srgbClr val="EDF2F7"/>
                    </a:solidFill>
                  </a:tcPr>
                </a:tc>
                <a:tc>
                  <a:txBody>
                    <a:bodyPr/>
                    <a:lstStyle/>
                    <a:p>
                      <a:r>
                        <a:rPr sz="975">
                          <a:solidFill>
                            <a:srgbClr val="1F3864"/>
                          </a:solidFill>
                          <a:latin typeface="Arial"/>
                          <a:ea typeface="Arial"/>
                          <a:cs typeface="Arial"/>
                        </a:rPr>
                        <a:t>28,20%</a:t>
                      </a:r>
                    </a:p>
                  </a:txBody>
                  <a:tcPr marL="85725" marR="85725" marT="57150" marB="57150" anchor="ctr">
                    <a:solidFill>
                      <a:srgbClr val="EDF2F7"/>
                    </a:solidFill>
                  </a:tcPr>
                </a:tc>
                <a:tc>
                  <a:txBody>
                    <a:bodyPr/>
                    <a:lstStyle/>
                    <a:p>
                      <a:r>
                        <a:rPr sz="975">
                          <a:solidFill>
                            <a:srgbClr val="1F3864"/>
                          </a:solidFill>
                          <a:latin typeface="Arial"/>
                          <a:ea typeface="Arial"/>
                          <a:cs typeface="Arial"/>
                        </a:rPr>
                        <a:t>Cuántas alertas resultan correctas</a:t>
                      </a:r>
                    </a:p>
                  </a:txBody>
                  <a:tcPr marL="85725" marR="85725" marT="57150" marB="57150" anchor="ctr">
                    <a:solidFill>
                      <a:srgbClr val="EDF2F7"/>
                    </a:solidFill>
                  </a:tcPr>
                </a:tc>
                <a:tc>
                  <a:txBody>
                    <a:bodyPr/>
                    <a:lstStyle/>
                    <a:p>
                      <a:r>
                        <a:rPr sz="975">
                          <a:solidFill>
                            <a:srgbClr val="1F3864"/>
                          </a:solidFill>
                          <a:latin typeface="Arial"/>
                          <a:ea typeface="Arial"/>
                          <a:cs typeface="Arial"/>
                        </a:rPr>
                        <a:t>Estimar revisiones que pueden ser innecesarias</a:t>
                      </a:r>
                    </a:p>
                  </a:txBody>
                  <a:tcPr marL="85725" marR="85725" marT="57150" marB="57150" anchor="ctr">
                    <a:solidFill>
                      <a:srgbClr val="EDF2F7"/>
                    </a:solidFill>
                  </a:tcPr>
                </a:tc>
                <a:extLst>
                  <a:ext uri="{0D108BD9-81ED-4DB2-BD59-A6C34878D82A}">
                    <a16:rowId xmlns:a16="http://schemas.microsoft.com/office/drawing/2014/main" val="10002"/>
                  </a:ext>
                </a:extLst>
              </a:tr>
              <a:tr h="661988">
                <a:tc>
                  <a:txBody>
                    <a:bodyPr/>
                    <a:lstStyle/>
                    <a:p>
                      <a:r>
                        <a:rPr sz="975">
                          <a:solidFill>
                            <a:srgbClr val="1F3864"/>
                          </a:solidFill>
                          <a:latin typeface="Arial"/>
                          <a:ea typeface="Arial"/>
                          <a:cs typeface="Arial"/>
                        </a:rPr>
                        <a:t>PR AUC</a:t>
                      </a:r>
                    </a:p>
                  </a:txBody>
                  <a:tcPr marL="85725" marR="85725" marT="57150" marB="57150" anchor="ctr">
                    <a:solidFill>
                      <a:srgbClr val="FFFFFF"/>
                    </a:solidFill>
                  </a:tcPr>
                </a:tc>
                <a:tc>
                  <a:txBody>
                    <a:bodyPr/>
                    <a:lstStyle/>
                    <a:p>
                      <a:r>
                        <a:rPr sz="975">
                          <a:solidFill>
                            <a:srgbClr val="1F3864"/>
                          </a:solidFill>
                          <a:latin typeface="Arial"/>
                          <a:ea typeface="Arial"/>
                          <a:cs typeface="Arial"/>
                        </a:rPr>
                        <a:t>37,32%</a:t>
                      </a:r>
                    </a:p>
                  </a:txBody>
                  <a:tcPr marL="85725" marR="85725" marT="57150" marB="57150" anchor="ctr">
                    <a:solidFill>
                      <a:srgbClr val="FFFFFF"/>
                    </a:solidFill>
                  </a:tcPr>
                </a:tc>
                <a:tc>
                  <a:txBody>
                    <a:bodyPr/>
                    <a:lstStyle/>
                    <a:p>
                      <a:r>
                        <a:rPr sz="975">
                          <a:solidFill>
                            <a:srgbClr val="1F3864"/>
                          </a:solidFill>
                          <a:latin typeface="Arial"/>
                          <a:ea typeface="Arial"/>
                          <a:cs typeface="Arial"/>
                        </a:rPr>
                        <a:t>Capacidad de ordenar el riesgo</a:t>
                      </a:r>
                    </a:p>
                  </a:txBody>
                  <a:tcPr marL="85725" marR="85725" marT="57150" marB="57150" anchor="ctr">
                    <a:solidFill>
                      <a:srgbClr val="FFFFFF"/>
                    </a:solidFill>
                  </a:tcPr>
                </a:tc>
                <a:tc>
                  <a:txBody>
                    <a:bodyPr/>
                    <a:lstStyle/>
                    <a:p>
                      <a:r>
                        <a:rPr sz="975">
                          <a:solidFill>
                            <a:srgbClr val="1F3864"/>
                          </a:solidFill>
                          <a:latin typeface="Arial"/>
                          <a:ea typeface="Arial"/>
                          <a:cs typeface="Arial"/>
                        </a:rPr>
                        <a:t>Comparar con la prevalencia de 5,37%</a:t>
                      </a:r>
                    </a:p>
                  </a:txBody>
                  <a:tcPr marL="85725" marR="85725" marT="57150" marB="57150" anchor="ctr">
                    <a:solidFill>
                      <a:srgbClr val="FFFFFF"/>
                    </a:solidFill>
                  </a:tcPr>
                </a:tc>
                <a:extLst>
                  <a:ext uri="{0D108BD9-81ED-4DB2-BD59-A6C34878D82A}">
                    <a16:rowId xmlns:a16="http://schemas.microsoft.com/office/drawing/2014/main" val="10003"/>
                  </a:ext>
                </a:extLst>
              </a:tr>
            </a:tbl>
          </a:graphicData>
        </a:graphic>
      </p:graphicFrame>
      <p:sp>
        <p:nvSpPr>
          <p:cNvPr id="21" name="Rectangle: Rounded Corners 20">
            <a:extLst>
              <a:ext uri="{FF2B5EF4-FFF2-40B4-BE49-F238E27FC236}">
                <a16:creationId xmlns:a16="http://schemas.microsoft.com/office/drawing/2014/main" id="{70D7F421-2002-4ECC-A70A-A73FD14B0C00}"/>
              </a:ext>
            </a:extLst>
          </p:cNvPr>
          <p:cNvSpPr>
            <a:spLocks noGrp="1"/>
          </p:cNvSpPr>
          <p:nvPr/>
        </p:nvSpPr>
        <p:spPr>
          <a:xfrm>
            <a:off x="7620000" y="2343150"/>
            <a:ext cx="4038600" cy="2971800"/>
          </a:xfrm>
          <a:prstGeom prst="roundRect">
            <a:avLst>
              <a:gd name="adj" fmla="val 4808"/>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2C99DEA6-2C14-497D-8343-B58A55D6C9CC}"/>
              </a:ext>
            </a:extLst>
          </p:cNvPr>
          <p:cNvSpPr>
            <a:spLocks noGrp="1"/>
          </p:cNvSpPr>
          <p:nvPr/>
        </p:nvSpPr>
        <p:spPr>
          <a:xfrm>
            <a:off x="7848600" y="2533650"/>
            <a:ext cx="35814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UMBRAL DE DECISIÓN</a:t>
            </a:r>
          </a:p>
        </p:txBody>
      </p:sp>
      <p:sp>
        <p:nvSpPr>
          <p:cNvPr id="23" name="Rectangle: Rounded Corners 22">
            <a:extLst>
              <a:ext uri="{FF2B5EF4-FFF2-40B4-BE49-F238E27FC236}">
                <a16:creationId xmlns:a16="http://schemas.microsoft.com/office/drawing/2014/main" id="{C9714028-57D0-415C-9BF2-4A1F32034E97}"/>
              </a:ext>
            </a:extLst>
          </p:cNvPr>
          <p:cNvSpPr>
            <a:spLocks noGrp="1"/>
          </p:cNvSpPr>
          <p:nvPr/>
        </p:nvSpPr>
        <p:spPr>
          <a:xfrm>
            <a:off x="7848600" y="2838450"/>
            <a:ext cx="3581400" cy="1200150"/>
          </a:xfrm>
          <a:prstGeom prst="roundRect">
            <a:avLst>
              <a:gd name="adj" fmla="val 6349"/>
            </a:avLst>
          </a:prstGeom>
          <a:solidFill>
            <a:srgbClr val="FFFFFF"/>
          </a:solidFill>
          <a:ln w="14288">
            <a:solidFill>
              <a:srgbClr val="808080"/>
            </a:solidFill>
            <a:prstDash val="dash"/>
          </a:ln>
        </p:spPr>
        <p:txBody>
          <a:bodyPr/>
          <a:lstStyle/>
          <a:p>
            <a:endParaRPr lang="en-US"/>
          </a:p>
        </p:txBody>
      </p:sp>
      <p:sp>
        <p:nvSpPr>
          <p:cNvPr id="24" name="Rectangle 23">
            <a:extLst>
              <a:ext uri="{FF2B5EF4-FFF2-40B4-BE49-F238E27FC236}">
                <a16:creationId xmlns:a16="http://schemas.microsoft.com/office/drawing/2014/main" id="{0B36AF5D-F0FC-47E1-A2AD-BD12F59D1CB7}"/>
              </a:ext>
            </a:extLst>
          </p:cNvPr>
          <p:cNvSpPr>
            <a:spLocks noGrp="1"/>
          </p:cNvSpPr>
          <p:nvPr/>
        </p:nvSpPr>
        <p:spPr>
          <a:xfrm>
            <a:off x="8210550" y="3181350"/>
            <a:ext cx="2857500" cy="209550"/>
          </a:xfrm>
          <a:prstGeom prst="rect">
            <a:avLst/>
          </a:prstGeom>
          <a:noFill/>
          <a:ln w="0">
            <a:noFill/>
          </a:ln>
        </p:spPr>
        <p:txBody>
          <a:bodyPr anchor="t">
            <a:noAutofit/>
          </a:bodyPr>
          <a:lstStyle/>
          <a:p>
            <a:pPr algn="ctr">
              <a:buNone/>
              <a:defRPr sz="1125" b="1" i="0">
                <a:solidFill>
                  <a:srgbClr val="595959"/>
                </a:solidFill>
                <a:latin typeface="Arial"/>
                <a:ea typeface="Arial"/>
                <a:cs typeface="Arial"/>
              </a:defRPr>
            </a:pPr>
            <a:r>
              <a:rPr sz="1125" b="1" i="0">
                <a:solidFill>
                  <a:srgbClr val="595959"/>
                </a:solidFill>
                <a:latin typeface="Arial"/>
                <a:ea typeface="Arial"/>
                <a:cs typeface="Arial"/>
              </a:rPr>
              <a:t>Referencia inicial: 0,50</a:t>
            </a:r>
          </a:p>
        </p:txBody>
      </p:sp>
      <p:sp>
        <p:nvSpPr>
          <p:cNvPr id="25" name="Rectangle 24">
            <a:extLst>
              <a:ext uri="{FF2B5EF4-FFF2-40B4-BE49-F238E27FC236}">
                <a16:creationId xmlns:a16="http://schemas.microsoft.com/office/drawing/2014/main" id="{40122122-4B70-4475-AD95-FB2A39B4130E}"/>
              </a:ext>
            </a:extLst>
          </p:cNvPr>
          <p:cNvSpPr>
            <a:spLocks noGrp="1"/>
          </p:cNvSpPr>
          <p:nvPr/>
        </p:nvSpPr>
        <p:spPr>
          <a:xfrm>
            <a:off x="8058150" y="3505200"/>
            <a:ext cx="3162300" cy="361950"/>
          </a:xfrm>
          <a:prstGeom prst="rect">
            <a:avLst/>
          </a:prstGeom>
          <a:noFill/>
          <a:ln w="0">
            <a:noFill/>
          </a:ln>
        </p:spPr>
        <p:txBody>
          <a:bodyPr anchor="t">
            <a:noAutofit/>
          </a:bodyPr>
          <a:lstStyle/>
          <a:p>
            <a:pPr algn="ctr">
              <a:buNone/>
              <a:defRPr sz="825" b="0" i="1">
                <a:solidFill>
                  <a:srgbClr val="595959"/>
                </a:solidFill>
                <a:latin typeface="Arial"/>
                <a:ea typeface="Arial"/>
                <a:cs typeface="Arial"/>
              </a:defRPr>
            </a:pPr>
            <a:r>
              <a:rPr sz="825" b="0" i="1">
                <a:solidFill>
                  <a:srgbClr val="595959"/>
                </a:solidFill>
                <a:latin typeface="Arial"/>
                <a:ea typeface="Arial"/>
                <a:cs typeface="Arial"/>
              </a:rPr>
              <a:t>El umbral convierte la probabilidad estimada en una alerta.</a:t>
            </a:r>
          </a:p>
        </p:txBody>
      </p:sp>
      <p:sp>
        <p:nvSpPr>
          <p:cNvPr id="26" name="Rectangle 25">
            <a:extLst>
              <a:ext uri="{FF2B5EF4-FFF2-40B4-BE49-F238E27FC236}">
                <a16:creationId xmlns:a16="http://schemas.microsoft.com/office/drawing/2014/main" id="{A2469142-3614-430E-9CD2-8527D1D52C07}"/>
              </a:ext>
            </a:extLst>
          </p:cNvPr>
          <p:cNvSpPr>
            <a:spLocks noGrp="1"/>
          </p:cNvSpPr>
          <p:nvPr/>
        </p:nvSpPr>
        <p:spPr>
          <a:xfrm>
            <a:off x="7848600" y="4229100"/>
            <a:ext cx="3581400" cy="190500"/>
          </a:xfrm>
          <a:prstGeom prst="rect">
            <a:avLst/>
          </a:prstGeom>
          <a:noFill/>
          <a:ln w="0">
            <a:noFill/>
          </a:ln>
        </p:spPr>
        <p:txBody>
          <a:bodyPr anchor="t">
            <a:noAutofit/>
          </a:bodyPr>
          <a:lstStyle/>
          <a:p>
            <a:pPr algn="l">
              <a:buNone/>
              <a:defRPr sz="975" b="1" i="0">
                <a:solidFill>
                  <a:srgbClr val="1F3864"/>
                </a:solidFill>
                <a:latin typeface="Arial"/>
                <a:ea typeface="Arial"/>
                <a:cs typeface="Arial"/>
              </a:defRPr>
            </a:pPr>
            <a:r>
              <a:rPr sz="975" b="1" i="0">
                <a:solidFill>
                  <a:srgbClr val="1F3864"/>
                </a:solidFill>
                <a:latin typeface="Arial"/>
                <a:ea typeface="Arial"/>
                <a:cs typeface="Arial"/>
              </a:rPr>
              <a:t>Decisión pendiente</a:t>
            </a:r>
          </a:p>
        </p:txBody>
      </p:sp>
      <p:sp>
        <p:nvSpPr>
          <p:cNvPr id="27" name="Rectangle 26">
            <a:extLst>
              <a:ext uri="{FF2B5EF4-FFF2-40B4-BE49-F238E27FC236}">
                <a16:creationId xmlns:a16="http://schemas.microsoft.com/office/drawing/2014/main" id="{18314179-B43A-4DB6-BD66-06F60DF1FA8C}"/>
              </a:ext>
            </a:extLst>
          </p:cNvPr>
          <p:cNvSpPr>
            <a:spLocks noGrp="1"/>
          </p:cNvSpPr>
          <p:nvPr/>
        </p:nvSpPr>
        <p:spPr>
          <a:xfrm>
            <a:off x="7848600" y="4514850"/>
            <a:ext cx="3581400" cy="666750"/>
          </a:xfrm>
          <a:prstGeom prst="rect">
            <a:avLst/>
          </a:prstGeom>
          <a:noFill/>
          <a:ln w="0">
            <a:noFill/>
          </a:ln>
        </p:spPr>
        <p:txBody>
          <a:bodyPr anchor="t">
            <a:noAutofit/>
          </a:bodyPr>
          <a:lstStyle/>
          <a:p>
            <a:pPr algn="l">
              <a:buNone/>
              <a:defRPr sz="975" b="0" i="0">
                <a:solidFill>
                  <a:srgbClr val="1F3864"/>
                </a:solidFill>
                <a:latin typeface="Arial"/>
                <a:ea typeface="Arial"/>
                <a:cs typeface="Arial"/>
              </a:defRPr>
            </a:pPr>
            <a:r>
              <a:rPr sz="975" b="0" i="0">
                <a:solidFill>
                  <a:srgbClr val="1F3864"/>
                </a:solidFill>
                <a:latin typeface="Arial"/>
                <a:ea typeface="Arial"/>
                <a:cs typeface="Arial"/>
              </a:rPr>
              <a:t>AndinaLog debe definir cuánto cuesta omitir una desviación y cuánto cuesta revisar una falsa alerta antes de cambiar el umbral.</a:t>
            </a:r>
          </a:p>
        </p:txBody>
      </p:sp>
      <p:sp>
        <p:nvSpPr>
          <p:cNvPr id="28" name="Rectangle: Rounded Corners 27">
            <a:extLst>
              <a:ext uri="{FF2B5EF4-FFF2-40B4-BE49-F238E27FC236}">
                <a16:creationId xmlns:a16="http://schemas.microsoft.com/office/drawing/2014/main" id="{A87EB44E-2941-4C8E-B7A3-E220A4A09F3C}"/>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92F79B9F-B84A-4E05-A191-3FAFDD07B694}"/>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Lectura final: el modelo mejora la priorización, pero no detecta todos los eventos y necesita supervisión humana.</a:t>
            </a:r>
          </a:p>
        </p:txBody>
      </p:sp>
    </p:spTree>
    <p:extLst>
      <p:ext uri="{BB962C8B-B14F-4D97-AF65-F5344CB8AC3E}">
        <p14:creationId xmlns:p14="http://schemas.microsoft.com/office/powerpoint/2010/main" val="348139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E10D89D0-1FAF-4057-8B64-DBF9DDCC1DE2}"/>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lang="en-US"/>
          </a:p>
        </p:txBody>
      </p:sp>
      <p:sp>
        <p:nvSpPr>
          <p:cNvPr id="2" name="Rectangle 1">
            <a:extLst>
              <a:ext uri="{FF2B5EF4-FFF2-40B4-BE49-F238E27FC236}">
                <a16:creationId xmlns:a16="http://schemas.microsoft.com/office/drawing/2014/main" id="{52F59F74-4F09-457B-995C-513F9A45278C}"/>
              </a:ext>
            </a:extLst>
          </p:cNvPr>
          <p:cNvSpPr>
            <a:spLocks noGrp="1"/>
          </p:cNvSpPr>
          <p:nvPr/>
        </p:nvSpPr>
        <p:spPr>
          <a:xfrm>
            <a:off x="762000" y="342900"/>
            <a:ext cx="49530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07 · TRAZABILIDAD DEL PROYECTO</a:t>
            </a:r>
          </a:p>
        </p:txBody>
      </p:sp>
      <p:sp>
        <p:nvSpPr>
          <p:cNvPr id="3" name="Rectangle 2">
            <a:extLst>
              <a:ext uri="{FF2B5EF4-FFF2-40B4-BE49-F238E27FC236}">
                <a16:creationId xmlns:a16="http://schemas.microsoft.com/office/drawing/2014/main" id="{1E6DBA1F-80DB-45A9-9D14-6B54B53921E1}"/>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Cómo se conserva la evidencia desde Bronze hasta el modelo</a:t>
            </a:r>
          </a:p>
        </p:txBody>
      </p:sp>
      <p:sp>
        <p:nvSpPr>
          <p:cNvPr id="4" name="Rectangle 3">
            <a:extLst>
              <a:ext uri="{FF2B5EF4-FFF2-40B4-BE49-F238E27FC236}">
                <a16:creationId xmlns:a16="http://schemas.microsoft.com/office/drawing/2014/main" id="{FF94A9DF-F874-4526-A248-C8DF61EF41A8}"/>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lang="en-US"/>
          </a:p>
        </p:txBody>
      </p:sp>
      <p:sp>
        <p:nvSpPr>
          <p:cNvPr id="5" name="Rectangle 4">
            <a:extLst>
              <a:ext uri="{FF2B5EF4-FFF2-40B4-BE49-F238E27FC236}">
                <a16:creationId xmlns:a16="http://schemas.microsoft.com/office/drawing/2014/main" id="{A32CC791-AA6D-4050-8054-3347B7DBA29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9E0A9A0C-CF89-4EEE-9FCE-CFB04902DE4C}"/>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BA58DA2A-B818-18A9-29C1-B697728D5BCE}" type="slidenum">
              <a:rPr sz="900" b="1" i="0">
                <a:solidFill>
                  <a:srgbClr val="2E5B8A"/>
                </a:solidFill>
                <a:latin typeface="Arial"/>
                <a:ea typeface="Arial"/>
                <a:cs typeface="Arial"/>
              </a:rPr>
              <a:t>8</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5D02A54D-D9E9-45C8-A56C-B1C0D43D88B3}"/>
              </a:ext>
            </a:extLst>
          </p:cNvPr>
          <p:cNvSpPr>
            <a:spLocks noGrp="1"/>
          </p:cNvSpPr>
          <p:nvPr/>
        </p:nvSpPr>
        <p:spPr>
          <a:xfrm>
            <a:off x="533400" y="1257300"/>
            <a:ext cx="3333750" cy="876300"/>
          </a:xfrm>
          <a:prstGeom prst="roundRect">
            <a:avLst>
              <a:gd name="adj" fmla="val 14130"/>
            </a:avLst>
          </a:prstGeom>
          <a:solidFill>
            <a:srgbClr val="EDF2F7"/>
          </a:solidFill>
          <a:ln w="0">
            <a:noFill/>
            <a:prstDash val="solid"/>
          </a:ln>
        </p:spPr>
        <p:txBody>
          <a:bodyPr/>
          <a:lstStyle/>
          <a:p>
            <a:endParaRPr lang="en-US"/>
          </a:p>
        </p:txBody>
      </p:sp>
      <p:sp>
        <p:nvSpPr>
          <p:cNvPr id="8" name="Rectangle 7">
            <a:extLst>
              <a:ext uri="{FF2B5EF4-FFF2-40B4-BE49-F238E27FC236}">
                <a16:creationId xmlns:a16="http://schemas.microsoft.com/office/drawing/2014/main" id="{B4BFDD5E-A03A-4F95-9866-1974780DB99B}"/>
              </a:ext>
            </a:extLst>
          </p:cNvPr>
          <p:cNvSpPr>
            <a:spLocks noGrp="1"/>
          </p:cNvSpPr>
          <p:nvPr/>
        </p:nvSpPr>
        <p:spPr>
          <a:xfrm>
            <a:off x="7048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BRONZE</a:t>
            </a:r>
          </a:p>
        </p:txBody>
      </p:sp>
      <p:sp>
        <p:nvSpPr>
          <p:cNvPr id="9" name="Rectangle 8">
            <a:extLst>
              <a:ext uri="{FF2B5EF4-FFF2-40B4-BE49-F238E27FC236}">
                <a16:creationId xmlns:a16="http://schemas.microsoft.com/office/drawing/2014/main" id="{FEC78629-B4FB-4755-9146-68D30711B929}"/>
              </a:ext>
            </a:extLst>
          </p:cNvPr>
          <p:cNvSpPr>
            <a:spLocks noGrp="1"/>
          </p:cNvSpPr>
          <p:nvPr/>
        </p:nvSpPr>
        <p:spPr>
          <a:xfrm>
            <a:off x="7048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28.920</a:t>
            </a:r>
          </a:p>
        </p:txBody>
      </p:sp>
      <p:sp>
        <p:nvSpPr>
          <p:cNvPr id="10" name="Rectangle 9">
            <a:extLst>
              <a:ext uri="{FF2B5EF4-FFF2-40B4-BE49-F238E27FC236}">
                <a16:creationId xmlns:a16="http://schemas.microsoft.com/office/drawing/2014/main" id="{22EE3885-329E-4950-A9F6-E180478E850D}"/>
              </a:ext>
            </a:extLst>
          </p:cNvPr>
          <p:cNvSpPr>
            <a:spLocks noGrp="1"/>
          </p:cNvSpPr>
          <p:nvPr/>
        </p:nvSpPr>
        <p:spPr>
          <a:xfrm>
            <a:off x="7048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Lecturas recibidas sin depuración</a:t>
            </a:r>
          </a:p>
        </p:txBody>
      </p:sp>
      <p:sp>
        <p:nvSpPr>
          <p:cNvPr id="11" name="Rectangle: Rounded Corners 10">
            <a:extLst>
              <a:ext uri="{FF2B5EF4-FFF2-40B4-BE49-F238E27FC236}">
                <a16:creationId xmlns:a16="http://schemas.microsoft.com/office/drawing/2014/main" id="{B306EADB-A612-45B1-99DB-332DFD9FFFB3}"/>
              </a:ext>
            </a:extLst>
          </p:cNvPr>
          <p:cNvSpPr>
            <a:spLocks noGrp="1"/>
          </p:cNvSpPr>
          <p:nvPr/>
        </p:nvSpPr>
        <p:spPr>
          <a:xfrm>
            <a:off x="4114800" y="1257300"/>
            <a:ext cx="3333750" cy="876300"/>
          </a:xfrm>
          <a:prstGeom prst="roundRect">
            <a:avLst>
              <a:gd name="adj" fmla="val 14130"/>
            </a:avLst>
          </a:prstGeom>
          <a:solidFill>
            <a:srgbClr val="FCE8E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2D495333-E914-454C-8425-5AEBEE59D86C}"/>
              </a:ext>
            </a:extLst>
          </p:cNvPr>
          <p:cNvSpPr>
            <a:spLocks noGrp="1"/>
          </p:cNvSpPr>
          <p:nvPr/>
        </p:nvSpPr>
        <p:spPr>
          <a:xfrm>
            <a:off x="4286250" y="1390650"/>
            <a:ext cx="299085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SILVER</a:t>
            </a:r>
          </a:p>
        </p:txBody>
      </p:sp>
      <p:sp>
        <p:nvSpPr>
          <p:cNvPr id="13" name="Rectangle 12">
            <a:extLst>
              <a:ext uri="{FF2B5EF4-FFF2-40B4-BE49-F238E27FC236}">
                <a16:creationId xmlns:a16="http://schemas.microsoft.com/office/drawing/2014/main" id="{6660123F-B059-4ACC-906D-525C9A6C6CDD}"/>
              </a:ext>
            </a:extLst>
          </p:cNvPr>
          <p:cNvSpPr>
            <a:spLocks noGrp="1"/>
          </p:cNvSpPr>
          <p:nvPr/>
        </p:nvSpPr>
        <p:spPr>
          <a:xfrm>
            <a:off x="4286250" y="1609725"/>
            <a:ext cx="299085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28.465</a:t>
            </a:r>
          </a:p>
        </p:txBody>
      </p:sp>
      <p:sp>
        <p:nvSpPr>
          <p:cNvPr id="14" name="Rectangle 13">
            <a:extLst>
              <a:ext uri="{FF2B5EF4-FFF2-40B4-BE49-F238E27FC236}">
                <a16:creationId xmlns:a16="http://schemas.microsoft.com/office/drawing/2014/main" id="{E0E8825D-318B-4AF0-AD54-9D34C81A392E}"/>
              </a:ext>
            </a:extLst>
          </p:cNvPr>
          <p:cNvSpPr>
            <a:spLocks noGrp="1"/>
          </p:cNvSpPr>
          <p:nvPr/>
        </p:nvSpPr>
        <p:spPr>
          <a:xfrm>
            <a:off x="4286250" y="1895475"/>
            <a:ext cx="299085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Lecturas aprobadas después de calidad</a:t>
            </a:r>
          </a:p>
        </p:txBody>
      </p:sp>
      <p:sp>
        <p:nvSpPr>
          <p:cNvPr id="15" name="Rectangle: Rounded Corners 14">
            <a:extLst>
              <a:ext uri="{FF2B5EF4-FFF2-40B4-BE49-F238E27FC236}">
                <a16:creationId xmlns:a16="http://schemas.microsoft.com/office/drawing/2014/main" id="{58234130-BC03-4888-B08D-36AB14695046}"/>
              </a:ext>
            </a:extLst>
          </p:cNvPr>
          <p:cNvSpPr>
            <a:spLocks noGrp="1"/>
          </p:cNvSpPr>
          <p:nvPr/>
        </p:nvSpPr>
        <p:spPr>
          <a:xfrm>
            <a:off x="7696200" y="1257300"/>
            <a:ext cx="3962400" cy="876300"/>
          </a:xfrm>
          <a:prstGeom prst="roundRect">
            <a:avLst>
              <a:gd name="adj" fmla="val 14130"/>
            </a:avLst>
          </a:prstGeom>
          <a:solidFill>
            <a:srgbClr val="DCE6F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215FD71E-AB55-4814-89ED-9A8C1D457C1B}"/>
              </a:ext>
            </a:extLst>
          </p:cNvPr>
          <p:cNvSpPr>
            <a:spLocks noGrp="1"/>
          </p:cNvSpPr>
          <p:nvPr/>
        </p:nvSpPr>
        <p:spPr>
          <a:xfrm>
            <a:off x="7867650" y="1390650"/>
            <a:ext cx="3619500" cy="171450"/>
          </a:xfrm>
          <a:prstGeom prst="rect">
            <a:avLst/>
          </a:prstGeom>
          <a:noFill/>
          <a:ln w="0">
            <a:noFill/>
          </a:ln>
        </p:spPr>
        <p:txBody>
          <a:bodyPr anchor="t">
            <a:noAutofit/>
          </a:bodyPr>
          <a:lstStyle/>
          <a:p>
            <a:pPr algn="ctr">
              <a:buNone/>
              <a:defRPr sz="900" b="1" i="0">
                <a:solidFill>
                  <a:srgbClr val="2E5B8A"/>
                </a:solidFill>
                <a:latin typeface="Arial"/>
                <a:ea typeface="Arial"/>
                <a:cs typeface="Arial"/>
              </a:defRPr>
            </a:pPr>
            <a:r>
              <a:rPr sz="900" b="1" i="0">
                <a:solidFill>
                  <a:srgbClr val="2E5B8A"/>
                </a:solidFill>
                <a:latin typeface="Arial"/>
                <a:ea typeface="Arial"/>
                <a:cs typeface="Arial"/>
              </a:rPr>
              <a:t>GOLD</a:t>
            </a:r>
          </a:p>
        </p:txBody>
      </p:sp>
      <p:sp>
        <p:nvSpPr>
          <p:cNvPr id="17" name="Rectangle 16">
            <a:extLst>
              <a:ext uri="{FF2B5EF4-FFF2-40B4-BE49-F238E27FC236}">
                <a16:creationId xmlns:a16="http://schemas.microsoft.com/office/drawing/2014/main" id="{5997CBCE-01B0-4921-953E-B8C9A9903C46}"/>
              </a:ext>
            </a:extLst>
          </p:cNvPr>
          <p:cNvSpPr>
            <a:spLocks noGrp="1"/>
          </p:cNvSpPr>
          <p:nvPr/>
        </p:nvSpPr>
        <p:spPr>
          <a:xfrm>
            <a:off x="7867650" y="1609725"/>
            <a:ext cx="3619500" cy="266700"/>
          </a:xfrm>
          <a:prstGeom prst="rect">
            <a:avLst/>
          </a:prstGeom>
          <a:noFill/>
          <a:ln w="0">
            <a:noFill/>
          </a:ln>
        </p:spPr>
        <p:txBody>
          <a:bodyPr anchor="t">
            <a:noAutofit/>
          </a:bodyPr>
          <a:lstStyle/>
          <a:p>
            <a:pPr algn="ctr">
              <a:buNone/>
              <a:defRPr sz="1650" b="1" i="0">
                <a:solidFill>
                  <a:srgbClr val="1F3864"/>
                </a:solidFill>
                <a:latin typeface="Arial"/>
                <a:ea typeface="Arial"/>
                <a:cs typeface="Arial"/>
              </a:defRPr>
            </a:pPr>
            <a:r>
              <a:rPr sz="1650" b="1" i="0">
                <a:solidFill>
                  <a:srgbClr val="1F3864"/>
                </a:solidFill>
                <a:latin typeface="Arial"/>
                <a:ea typeface="Arial"/>
                <a:cs typeface="Arial"/>
              </a:rPr>
              <a:t>28.465</a:t>
            </a:r>
          </a:p>
        </p:txBody>
      </p:sp>
      <p:sp>
        <p:nvSpPr>
          <p:cNvPr id="18" name="Rectangle 17">
            <a:extLst>
              <a:ext uri="{FF2B5EF4-FFF2-40B4-BE49-F238E27FC236}">
                <a16:creationId xmlns:a16="http://schemas.microsoft.com/office/drawing/2014/main" id="{3854D075-7E64-4A0E-8AC5-BAE2B2F9CDA4}"/>
              </a:ext>
            </a:extLst>
          </p:cNvPr>
          <p:cNvSpPr>
            <a:spLocks noGrp="1"/>
          </p:cNvSpPr>
          <p:nvPr/>
        </p:nvSpPr>
        <p:spPr>
          <a:xfrm>
            <a:off x="7867650" y="1895475"/>
            <a:ext cx="3619500" cy="152400"/>
          </a:xfrm>
          <a:prstGeom prst="rect">
            <a:avLst/>
          </a:prstGeom>
          <a:noFill/>
          <a:ln w="0">
            <a:noFill/>
          </a:ln>
        </p:spPr>
        <p:txBody>
          <a:bodyPr anchor="t">
            <a:noAutofit/>
          </a:bodyPr>
          <a:lstStyle/>
          <a:p>
            <a:pPr algn="ctr">
              <a:buNone/>
              <a:defRPr sz="750" b="0" i="0">
                <a:solidFill>
                  <a:srgbClr val="595959"/>
                </a:solidFill>
                <a:latin typeface="Arial"/>
                <a:ea typeface="Arial"/>
                <a:cs typeface="Arial"/>
              </a:defRPr>
            </a:pPr>
            <a:r>
              <a:rPr sz="750" b="0" i="0">
                <a:solidFill>
                  <a:srgbClr val="595959"/>
                </a:solidFill>
                <a:latin typeface="Arial"/>
                <a:ea typeface="Arial"/>
                <a:cs typeface="Arial"/>
              </a:rPr>
              <a:t>Una fila por lectura con variables temporales</a:t>
            </a:r>
          </a:p>
        </p:txBody>
      </p:sp>
      <p:sp>
        <p:nvSpPr>
          <p:cNvPr id="19" name="Rectangle 18">
            <a:extLst>
              <a:ext uri="{FF2B5EF4-FFF2-40B4-BE49-F238E27FC236}">
                <a16:creationId xmlns:a16="http://schemas.microsoft.com/office/drawing/2014/main" id="{66405332-A690-4529-83D6-DBCD8EFFDB7D}"/>
              </a:ext>
            </a:extLst>
          </p:cNvPr>
          <p:cNvSpPr>
            <a:spLocks noGrp="1"/>
          </p:cNvSpPr>
          <p:nvPr/>
        </p:nvSpPr>
        <p:spPr>
          <a:xfrm>
            <a:off x="533400" y="2343150"/>
            <a:ext cx="6191250" cy="247650"/>
          </a:xfrm>
          <a:prstGeom prst="rect">
            <a:avLst/>
          </a:prstGeom>
          <a:noFill/>
          <a:ln w="0">
            <a:noFill/>
          </a:ln>
        </p:spPr>
        <p:txBody>
          <a:bodyPr anchor="t">
            <a:noAutofit/>
          </a:bodyPr>
          <a:lstStyle/>
          <a:p>
            <a:pPr algn="l">
              <a:buNone/>
              <a:defRPr sz="1350" b="1" i="0">
                <a:solidFill>
                  <a:srgbClr val="1F3864"/>
                </a:solidFill>
                <a:latin typeface="Arial"/>
                <a:ea typeface="Arial"/>
                <a:cs typeface="Arial"/>
              </a:defRPr>
            </a:pPr>
            <a:r>
              <a:rPr sz="1350" b="1" i="0">
                <a:solidFill>
                  <a:srgbClr val="1F3864"/>
                </a:solidFill>
                <a:latin typeface="Arial"/>
                <a:ea typeface="Arial"/>
                <a:cs typeface="Arial"/>
              </a:rPr>
              <a:t>Controles aplicados en cada etapa</a:t>
            </a:r>
          </a:p>
        </p:txBody>
      </p:sp>
      <p:graphicFrame>
        <p:nvGraphicFramePr>
          <p:cNvPr id="57" name="Table 56"/>
          <p:cNvGraphicFramePr/>
          <p:nvPr/>
        </p:nvGraphicFramePr>
        <p:xfrm>
          <a:off x="533400" y="2667000"/>
          <a:ext cx="6953250" cy="2647952"/>
        </p:xfrm>
        <a:graphic>
          <a:graphicData uri="http://schemas.openxmlformats.org/drawingml/2006/table">
            <a:tbl>
              <a:tblPr/>
              <a:tblGrid>
                <a:gridCol w="1241652">
                  <a:extLst>
                    <a:ext uri="{9D8B030D-6E8A-4147-A177-3AD203B41FA5}">
                      <a16:colId xmlns:a16="http://schemas.microsoft.com/office/drawing/2014/main" val="20000"/>
                    </a:ext>
                  </a:extLst>
                </a:gridCol>
                <a:gridCol w="993321">
                  <a:extLst>
                    <a:ext uri="{9D8B030D-6E8A-4147-A177-3AD203B41FA5}">
                      <a16:colId xmlns:a16="http://schemas.microsoft.com/office/drawing/2014/main" val="20001"/>
                    </a:ext>
                  </a:extLst>
                </a:gridCol>
                <a:gridCol w="2483304">
                  <a:extLst>
                    <a:ext uri="{9D8B030D-6E8A-4147-A177-3AD203B41FA5}">
                      <a16:colId xmlns:a16="http://schemas.microsoft.com/office/drawing/2014/main" val="20002"/>
                    </a:ext>
                  </a:extLst>
                </a:gridCol>
                <a:gridCol w="2234973">
                  <a:extLst>
                    <a:ext uri="{9D8B030D-6E8A-4147-A177-3AD203B41FA5}">
                      <a16:colId xmlns:a16="http://schemas.microsoft.com/office/drawing/2014/main" val="20003"/>
                    </a:ext>
                  </a:extLst>
                </a:gridCol>
              </a:tblGrid>
              <a:tr h="661988">
                <a:tc>
                  <a:txBody>
                    <a:bodyPr/>
                    <a:lstStyle/>
                    <a:p>
                      <a:r>
                        <a:rPr sz="975" b="1">
                          <a:solidFill>
                            <a:srgbClr val="FFFFFF"/>
                          </a:solidFill>
                          <a:latin typeface="Arial"/>
                          <a:ea typeface="Arial"/>
                          <a:cs typeface="Arial"/>
                        </a:rPr>
                        <a:t>Etapa</a:t>
                      </a:r>
                    </a:p>
                  </a:txBody>
                  <a:tcPr marL="85725" marR="85725" marT="57150" marB="57150" anchor="ctr">
                    <a:solidFill>
                      <a:srgbClr val="1F3864"/>
                    </a:solidFill>
                  </a:tcPr>
                </a:tc>
                <a:tc>
                  <a:txBody>
                    <a:bodyPr/>
                    <a:lstStyle/>
                    <a:p>
                      <a:r>
                        <a:rPr sz="975" b="1">
                          <a:solidFill>
                            <a:srgbClr val="FFFFFF"/>
                          </a:solidFill>
                          <a:latin typeface="Arial"/>
                          <a:ea typeface="Arial"/>
                          <a:cs typeface="Arial"/>
                        </a:rPr>
                        <a:t>Filas</a:t>
                      </a:r>
                    </a:p>
                  </a:txBody>
                  <a:tcPr marL="85725" marR="85725" marT="57150" marB="57150" anchor="ctr">
                    <a:solidFill>
                      <a:srgbClr val="1F3864"/>
                    </a:solidFill>
                  </a:tcPr>
                </a:tc>
                <a:tc>
                  <a:txBody>
                    <a:bodyPr/>
                    <a:lstStyle/>
                    <a:p>
                      <a:r>
                        <a:rPr sz="975" b="1">
                          <a:solidFill>
                            <a:srgbClr val="FFFFFF"/>
                          </a:solidFill>
                          <a:latin typeface="Arial"/>
                          <a:ea typeface="Arial"/>
                          <a:cs typeface="Arial"/>
                        </a:rPr>
                        <a:t>Control principal</a:t>
                      </a:r>
                    </a:p>
                  </a:txBody>
                  <a:tcPr marL="85725" marR="85725" marT="57150" marB="57150" anchor="ctr">
                    <a:solidFill>
                      <a:srgbClr val="1F3864"/>
                    </a:solidFill>
                  </a:tcPr>
                </a:tc>
                <a:tc>
                  <a:txBody>
                    <a:bodyPr/>
                    <a:lstStyle/>
                    <a:p>
                      <a:r>
                        <a:rPr sz="975" b="1">
                          <a:solidFill>
                            <a:srgbClr val="FFFFFF"/>
                          </a:solidFill>
                          <a:latin typeface="Arial"/>
                          <a:ea typeface="Arial"/>
                          <a:cs typeface="Arial"/>
                        </a:rPr>
                        <a:t>Resultado</a:t>
                      </a:r>
                    </a:p>
                  </a:txBody>
                  <a:tcPr marL="85725" marR="85725" marT="57150" marB="57150" anchor="ctr">
                    <a:solidFill>
                      <a:srgbClr val="1F3864"/>
                    </a:solidFill>
                  </a:tcPr>
                </a:tc>
                <a:extLst>
                  <a:ext uri="{0D108BD9-81ED-4DB2-BD59-A6C34878D82A}">
                    <a16:rowId xmlns:a16="http://schemas.microsoft.com/office/drawing/2014/main" val="10000"/>
                  </a:ext>
                </a:extLst>
              </a:tr>
              <a:tr h="661988">
                <a:tc>
                  <a:txBody>
                    <a:bodyPr/>
                    <a:lstStyle/>
                    <a:p>
                      <a:r>
                        <a:rPr sz="975">
                          <a:solidFill>
                            <a:srgbClr val="1F3864"/>
                          </a:solidFill>
                          <a:latin typeface="Arial"/>
                          <a:ea typeface="Arial"/>
                          <a:cs typeface="Arial"/>
                        </a:rPr>
                        <a:t>Bronze</a:t>
                      </a:r>
                    </a:p>
                  </a:txBody>
                  <a:tcPr marL="85725" marR="85725" marT="57150" marB="57150" anchor="ctr">
                    <a:solidFill>
                      <a:srgbClr val="FFFFFF"/>
                    </a:solidFill>
                  </a:tcPr>
                </a:tc>
                <a:tc>
                  <a:txBody>
                    <a:bodyPr/>
                    <a:lstStyle/>
                    <a:p>
                      <a:r>
                        <a:rPr sz="975">
                          <a:solidFill>
                            <a:srgbClr val="1F3864"/>
                          </a:solidFill>
                          <a:latin typeface="Arial"/>
                          <a:ea typeface="Arial"/>
                          <a:cs typeface="Arial"/>
                        </a:rPr>
                        <a:t>28.920</a:t>
                      </a:r>
                    </a:p>
                  </a:txBody>
                  <a:tcPr marL="85725" marR="85725" marT="57150" marB="57150" anchor="ctr">
                    <a:solidFill>
                      <a:srgbClr val="FFFFFF"/>
                    </a:solidFill>
                  </a:tcPr>
                </a:tc>
                <a:tc>
                  <a:txBody>
                    <a:bodyPr/>
                    <a:lstStyle/>
                    <a:p>
                      <a:r>
                        <a:rPr sz="975">
                          <a:solidFill>
                            <a:srgbClr val="1F3864"/>
                          </a:solidFill>
                          <a:latin typeface="Arial"/>
                          <a:ea typeface="Arial"/>
                          <a:cs typeface="Arial"/>
                        </a:rPr>
                        <a:t>Conservar el archivo original</a:t>
                      </a:r>
                    </a:p>
                  </a:txBody>
                  <a:tcPr marL="85725" marR="85725" marT="57150" marB="57150" anchor="ctr">
                    <a:solidFill>
                      <a:srgbClr val="FFFFFF"/>
                    </a:solidFill>
                  </a:tcPr>
                </a:tc>
                <a:tc>
                  <a:txBody>
                    <a:bodyPr/>
                    <a:lstStyle/>
                    <a:p>
                      <a:r>
                        <a:rPr sz="975">
                          <a:solidFill>
                            <a:srgbClr val="1F3864"/>
                          </a:solidFill>
                          <a:latin typeface="Arial"/>
                          <a:ea typeface="Arial"/>
                          <a:cs typeface="Arial"/>
                        </a:rPr>
                        <a:t>Punto de partida reproducible</a:t>
                      </a:r>
                    </a:p>
                  </a:txBody>
                  <a:tcPr marL="85725" marR="85725" marT="57150" marB="57150" anchor="ctr">
                    <a:solidFill>
                      <a:srgbClr val="FFFFFF"/>
                    </a:solidFill>
                  </a:tcPr>
                </a:tc>
                <a:extLst>
                  <a:ext uri="{0D108BD9-81ED-4DB2-BD59-A6C34878D82A}">
                    <a16:rowId xmlns:a16="http://schemas.microsoft.com/office/drawing/2014/main" val="10001"/>
                  </a:ext>
                </a:extLst>
              </a:tr>
              <a:tr h="661988">
                <a:tc>
                  <a:txBody>
                    <a:bodyPr/>
                    <a:lstStyle/>
                    <a:p>
                      <a:r>
                        <a:rPr sz="975">
                          <a:solidFill>
                            <a:srgbClr val="1F3864"/>
                          </a:solidFill>
                          <a:latin typeface="Arial"/>
                          <a:ea typeface="Arial"/>
                          <a:cs typeface="Arial"/>
                        </a:rPr>
                        <a:t>Silver</a:t>
                      </a:r>
                    </a:p>
                  </a:txBody>
                  <a:tcPr marL="85725" marR="85725" marT="57150" marB="57150" anchor="ctr">
                    <a:solidFill>
                      <a:srgbClr val="EDF2F7"/>
                    </a:solidFill>
                  </a:tcPr>
                </a:tc>
                <a:tc>
                  <a:txBody>
                    <a:bodyPr/>
                    <a:lstStyle/>
                    <a:p>
                      <a:r>
                        <a:rPr sz="975">
                          <a:solidFill>
                            <a:srgbClr val="1F3864"/>
                          </a:solidFill>
                          <a:latin typeface="Arial"/>
                          <a:ea typeface="Arial"/>
                          <a:cs typeface="Arial"/>
                        </a:rPr>
                        <a:t>28.465</a:t>
                      </a:r>
                    </a:p>
                  </a:txBody>
                  <a:tcPr marL="85725" marR="85725" marT="57150" marB="57150" anchor="ctr">
                    <a:solidFill>
                      <a:srgbClr val="EDF2F7"/>
                    </a:solidFill>
                  </a:tcPr>
                </a:tc>
                <a:tc>
                  <a:txBody>
                    <a:bodyPr/>
                    <a:lstStyle/>
                    <a:p>
                      <a:r>
                        <a:rPr sz="975">
                          <a:solidFill>
                            <a:srgbClr val="1F3864"/>
                          </a:solidFill>
                          <a:latin typeface="Arial"/>
                          <a:ea typeface="Arial"/>
                          <a:cs typeface="Arial"/>
                        </a:rPr>
                        <a:t>Separar errores y duplicados</a:t>
                      </a:r>
                    </a:p>
                  </a:txBody>
                  <a:tcPr marL="85725" marR="85725" marT="57150" marB="57150" anchor="ctr">
                    <a:solidFill>
                      <a:srgbClr val="EDF2F7"/>
                    </a:solidFill>
                  </a:tcPr>
                </a:tc>
                <a:tc>
                  <a:txBody>
                    <a:bodyPr/>
                    <a:lstStyle/>
                    <a:p>
                      <a:r>
                        <a:rPr sz="975">
                          <a:solidFill>
                            <a:srgbClr val="1F3864"/>
                          </a:solidFill>
                          <a:latin typeface="Arial"/>
                          <a:ea typeface="Arial"/>
                          <a:cs typeface="Arial"/>
                        </a:rPr>
                        <a:t>455 filas quedan en cuarentena</a:t>
                      </a:r>
                    </a:p>
                  </a:txBody>
                  <a:tcPr marL="85725" marR="85725" marT="57150" marB="57150" anchor="ctr">
                    <a:solidFill>
                      <a:srgbClr val="EDF2F7"/>
                    </a:solidFill>
                  </a:tcPr>
                </a:tc>
                <a:extLst>
                  <a:ext uri="{0D108BD9-81ED-4DB2-BD59-A6C34878D82A}">
                    <a16:rowId xmlns:a16="http://schemas.microsoft.com/office/drawing/2014/main" val="10002"/>
                  </a:ext>
                </a:extLst>
              </a:tr>
              <a:tr h="661988">
                <a:tc>
                  <a:txBody>
                    <a:bodyPr/>
                    <a:lstStyle/>
                    <a:p>
                      <a:r>
                        <a:rPr sz="975">
                          <a:solidFill>
                            <a:srgbClr val="1F3864"/>
                          </a:solidFill>
                          <a:latin typeface="Arial"/>
                          <a:ea typeface="Arial"/>
                          <a:cs typeface="Arial"/>
                        </a:rPr>
                        <a:t>Gold</a:t>
                      </a:r>
                    </a:p>
                  </a:txBody>
                  <a:tcPr marL="85725" marR="85725" marT="57150" marB="57150" anchor="ctr">
                    <a:solidFill>
                      <a:srgbClr val="FFFFFF"/>
                    </a:solidFill>
                  </a:tcPr>
                </a:tc>
                <a:tc>
                  <a:txBody>
                    <a:bodyPr/>
                    <a:lstStyle/>
                    <a:p>
                      <a:r>
                        <a:rPr sz="975">
                          <a:solidFill>
                            <a:srgbClr val="1F3864"/>
                          </a:solidFill>
                          <a:latin typeface="Arial"/>
                          <a:ea typeface="Arial"/>
                          <a:cs typeface="Arial"/>
                        </a:rPr>
                        <a:t>28.465</a:t>
                      </a:r>
                    </a:p>
                  </a:txBody>
                  <a:tcPr marL="85725" marR="85725" marT="57150" marB="57150" anchor="ctr">
                    <a:solidFill>
                      <a:srgbClr val="FFFFFF"/>
                    </a:solidFill>
                  </a:tcPr>
                </a:tc>
                <a:tc>
                  <a:txBody>
                    <a:bodyPr/>
                    <a:lstStyle/>
                    <a:p>
                      <a:r>
                        <a:rPr sz="975">
                          <a:solidFill>
                            <a:srgbClr val="1F3864"/>
                          </a:solidFill>
                          <a:latin typeface="Arial"/>
                          <a:ea typeface="Arial"/>
                          <a:cs typeface="Arial"/>
                        </a:rPr>
                        <a:t>Crear variables y objetivo futuro</a:t>
                      </a:r>
                    </a:p>
                  </a:txBody>
                  <a:tcPr marL="85725" marR="85725" marT="57150" marB="57150" anchor="ctr">
                    <a:solidFill>
                      <a:srgbClr val="FFFFFF"/>
                    </a:solidFill>
                  </a:tcPr>
                </a:tc>
                <a:tc>
                  <a:txBody>
                    <a:bodyPr/>
                    <a:lstStyle/>
                    <a:p>
                      <a:r>
                        <a:rPr sz="975">
                          <a:solidFill>
                            <a:srgbClr val="1F3864"/>
                          </a:solidFill>
                          <a:latin typeface="Arial"/>
                          <a:ea typeface="Arial"/>
                          <a:cs typeface="Arial"/>
                        </a:rPr>
                        <a:t>25.797 ventanas sirven para modelar</a:t>
                      </a:r>
                    </a:p>
                  </a:txBody>
                  <a:tcPr marL="85725" marR="85725" marT="57150" marB="57150" anchor="ctr">
                    <a:solidFill>
                      <a:srgbClr val="FFFFFF"/>
                    </a:solidFill>
                  </a:tcPr>
                </a:tc>
                <a:extLst>
                  <a:ext uri="{0D108BD9-81ED-4DB2-BD59-A6C34878D82A}">
                    <a16:rowId xmlns:a16="http://schemas.microsoft.com/office/drawing/2014/main" val="10003"/>
                  </a:ext>
                </a:extLst>
              </a:tr>
            </a:tbl>
          </a:graphicData>
        </a:graphic>
      </p:graphicFrame>
      <p:sp>
        <p:nvSpPr>
          <p:cNvPr id="21" name="Rectangle: Rounded Corners 20">
            <a:extLst>
              <a:ext uri="{FF2B5EF4-FFF2-40B4-BE49-F238E27FC236}">
                <a16:creationId xmlns:a16="http://schemas.microsoft.com/office/drawing/2014/main" id="{F97E3FF2-DAD3-4137-AF4B-7EFC543D4EA4}"/>
              </a:ext>
            </a:extLst>
          </p:cNvPr>
          <p:cNvSpPr>
            <a:spLocks noGrp="1"/>
          </p:cNvSpPr>
          <p:nvPr/>
        </p:nvSpPr>
        <p:spPr>
          <a:xfrm>
            <a:off x="7715250" y="2343150"/>
            <a:ext cx="3943350" cy="2971800"/>
          </a:xfrm>
          <a:prstGeom prst="roundRect">
            <a:avLst>
              <a:gd name="adj" fmla="val 4808"/>
            </a:avLst>
          </a:prstGeom>
          <a:solidFill>
            <a:srgbClr val="EDF2F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F95E1D44-C8A6-4834-A2F3-39D5CA0C1F81}"/>
              </a:ext>
            </a:extLst>
          </p:cNvPr>
          <p:cNvSpPr>
            <a:spLocks noGrp="1"/>
          </p:cNvSpPr>
          <p:nvPr/>
        </p:nvSpPr>
        <p:spPr>
          <a:xfrm>
            <a:off x="7943850" y="2533650"/>
            <a:ext cx="34861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CONCILIACIÓN FINAL</a:t>
            </a:r>
          </a:p>
        </p:txBody>
      </p:sp>
      <p:sp>
        <p:nvSpPr>
          <p:cNvPr id="23" name="Rectangle: Rounded Corners 22">
            <a:extLst>
              <a:ext uri="{FF2B5EF4-FFF2-40B4-BE49-F238E27FC236}">
                <a16:creationId xmlns:a16="http://schemas.microsoft.com/office/drawing/2014/main" id="{1EFB8F31-DC9A-4B03-8787-765C2294B7C5}"/>
              </a:ext>
            </a:extLst>
          </p:cNvPr>
          <p:cNvSpPr>
            <a:spLocks noGrp="1"/>
          </p:cNvSpPr>
          <p:nvPr/>
        </p:nvSpPr>
        <p:spPr>
          <a:xfrm>
            <a:off x="7943850" y="28575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24" name="Rectangle 23">
            <a:extLst>
              <a:ext uri="{FF2B5EF4-FFF2-40B4-BE49-F238E27FC236}">
                <a16:creationId xmlns:a16="http://schemas.microsoft.com/office/drawing/2014/main" id="{015C9887-1157-4781-A889-A2CA9D7B2C1D}"/>
              </a:ext>
            </a:extLst>
          </p:cNvPr>
          <p:cNvSpPr>
            <a:spLocks noGrp="1"/>
          </p:cNvSpPr>
          <p:nvPr/>
        </p:nvSpPr>
        <p:spPr>
          <a:xfrm>
            <a:off x="8096250" y="2971800"/>
            <a:ext cx="147637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Cuarentena</a:t>
            </a:r>
          </a:p>
        </p:txBody>
      </p:sp>
      <p:sp>
        <p:nvSpPr>
          <p:cNvPr id="25" name="Rectangle 24">
            <a:extLst>
              <a:ext uri="{FF2B5EF4-FFF2-40B4-BE49-F238E27FC236}">
                <a16:creationId xmlns:a16="http://schemas.microsoft.com/office/drawing/2014/main" id="{1BC794AF-BC0F-4ABE-85A0-FECB07AF10C1}"/>
              </a:ext>
            </a:extLst>
          </p:cNvPr>
          <p:cNvSpPr>
            <a:spLocks noGrp="1"/>
          </p:cNvSpPr>
          <p:nvPr/>
        </p:nvSpPr>
        <p:spPr>
          <a:xfrm>
            <a:off x="9563100" y="2971800"/>
            <a:ext cx="1714500" cy="304800"/>
          </a:xfrm>
          <a:prstGeom prst="rect">
            <a:avLst/>
          </a:prstGeom>
          <a:noFill/>
          <a:ln w="0">
            <a:noFill/>
          </a:ln>
        </p:spPr>
        <p:txBody>
          <a:bodyPr anchor="t">
            <a:noAutofit/>
          </a:bodyPr>
          <a:lstStyle/>
          <a:p>
            <a:pPr algn="r">
              <a:buNone/>
              <a:defRPr sz="900" b="0" i="0">
                <a:solidFill>
                  <a:srgbClr val="1F3864"/>
                </a:solidFill>
                <a:latin typeface="Arial"/>
                <a:ea typeface="Arial"/>
                <a:cs typeface="Arial"/>
              </a:defRPr>
            </a:pPr>
            <a:r>
              <a:rPr sz="900" b="0" i="0">
                <a:solidFill>
                  <a:srgbClr val="1F3864"/>
                </a:solidFill>
                <a:latin typeface="Arial"/>
                <a:ea typeface="Arial"/>
                <a:cs typeface="Arial"/>
              </a:rPr>
              <a:t>455 registros documentados</a:t>
            </a:r>
          </a:p>
        </p:txBody>
      </p:sp>
      <p:sp>
        <p:nvSpPr>
          <p:cNvPr id="26" name="Rectangle: Rounded Corners 25">
            <a:extLst>
              <a:ext uri="{FF2B5EF4-FFF2-40B4-BE49-F238E27FC236}">
                <a16:creationId xmlns:a16="http://schemas.microsoft.com/office/drawing/2014/main" id="{57E3D32C-85B3-4BBC-9344-DF14B65AC544}"/>
              </a:ext>
            </a:extLst>
          </p:cNvPr>
          <p:cNvSpPr>
            <a:spLocks noGrp="1"/>
          </p:cNvSpPr>
          <p:nvPr/>
        </p:nvSpPr>
        <p:spPr>
          <a:xfrm>
            <a:off x="7943850" y="35052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27" name="Rectangle 26">
            <a:extLst>
              <a:ext uri="{FF2B5EF4-FFF2-40B4-BE49-F238E27FC236}">
                <a16:creationId xmlns:a16="http://schemas.microsoft.com/office/drawing/2014/main" id="{BA070DAD-FC37-448A-9E6A-37A34D0B1D96}"/>
              </a:ext>
            </a:extLst>
          </p:cNvPr>
          <p:cNvSpPr>
            <a:spLocks noGrp="1"/>
          </p:cNvSpPr>
          <p:nvPr/>
        </p:nvSpPr>
        <p:spPr>
          <a:xfrm>
            <a:off x="8096250" y="3619500"/>
            <a:ext cx="138112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Evaluables</a:t>
            </a:r>
          </a:p>
        </p:txBody>
      </p:sp>
      <p:sp>
        <p:nvSpPr>
          <p:cNvPr id="28" name="Rectangle 27">
            <a:extLst>
              <a:ext uri="{FF2B5EF4-FFF2-40B4-BE49-F238E27FC236}">
                <a16:creationId xmlns:a16="http://schemas.microsoft.com/office/drawing/2014/main" id="{A7555A18-9932-4EB0-8A12-FFDBA6A21706}"/>
              </a:ext>
            </a:extLst>
          </p:cNvPr>
          <p:cNvSpPr>
            <a:spLocks noGrp="1"/>
          </p:cNvSpPr>
          <p:nvPr/>
        </p:nvSpPr>
        <p:spPr>
          <a:xfrm>
            <a:off x="9620250" y="3619500"/>
            <a:ext cx="1657350" cy="228600"/>
          </a:xfrm>
          <a:prstGeom prst="rect">
            <a:avLst/>
          </a:prstGeom>
          <a:noFill/>
          <a:ln w="0">
            <a:noFill/>
          </a:ln>
        </p:spPr>
        <p:txBody>
          <a:bodyPr anchor="t">
            <a:noAutofit/>
          </a:bodyPr>
          <a:lstStyle/>
          <a:p>
            <a:pPr algn="r">
              <a:buNone/>
              <a:defRPr sz="975" b="0" i="0">
                <a:solidFill>
                  <a:srgbClr val="1F3864"/>
                </a:solidFill>
                <a:latin typeface="Arial"/>
                <a:ea typeface="Arial"/>
                <a:cs typeface="Arial"/>
              </a:defRPr>
            </a:pPr>
            <a:r>
              <a:rPr sz="975" b="0" i="0">
                <a:solidFill>
                  <a:srgbClr val="1F3864"/>
                </a:solidFill>
                <a:latin typeface="Arial"/>
                <a:ea typeface="Arial"/>
                <a:cs typeface="Arial"/>
              </a:rPr>
              <a:t>25.797 ventanas</a:t>
            </a:r>
          </a:p>
        </p:txBody>
      </p:sp>
      <p:sp>
        <p:nvSpPr>
          <p:cNvPr id="29" name="Rectangle: Rounded Corners 28">
            <a:extLst>
              <a:ext uri="{FF2B5EF4-FFF2-40B4-BE49-F238E27FC236}">
                <a16:creationId xmlns:a16="http://schemas.microsoft.com/office/drawing/2014/main" id="{4308EBB6-D700-4BF9-B7D6-C2887857CBE1}"/>
              </a:ext>
            </a:extLst>
          </p:cNvPr>
          <p:cNvSpPr>
            <a:spLocks noGrp="1"/>
          </p:cNvSpPr>
          <p:nvPr/>
        </p:nvSpPr>
        <p:spPr>
          <a:xfrm>
            <a:off x="7943850" y="4152900"/>
            <a:ext cx="3486150" cy="552450"/>
          </a:xfrm>
          <a:prstGeom prst="roundRect">
            <a:avLst>
              <a:gd name="adj" fmla="val 15517"/>
            </a:avLst>
          </a:prstGeom>
          <a:solidFill>
            <a:srgbClr val="FFFFFF"/>
          </a:solidFill>
          <a:ln w="9525">
            <a:solidFill>
              <a:srgbClr val="EDF2F7"/>
            </a:solidFill>
            <a:prstDash val="solid"/>
          </a:ln>
        </p:spPr>
        <p:txBody>
          <a:bodyPr/>
          <a:lstStyle/>
          <a:p>
            <a:endParaRPr lang="en-US"/>
          </a:p>
        </p:txBody>
      </p:sp>
      <p:sp>
        <p:nvSpPr>
          <p:cNvPr id="30" name="Rectangle 29">
            <a:extLst>
              <a:ext uri="{FF2B5EF4-FFF2-40B4-BE49-F238E27FC236}">
                <a16:creationId xmlns:a16="http://schemas.microsoft.com/office/drawing/2014/main" id="{0C2224EC-A95A-4425-BE46-32300D65D787}"/>
              </a:ext>
            </a:extLst>
          </p:cNvPr>
          <p:cNvSpPr>
            <a:spLocks noGrp="1"/>
          </p:cNvSpPr>
          <p:nvPr/>
        </p:nvSpPr>
        <p:spPr>
          <a:xfrm>
            <a:off x="8096250" y="4267200"/>
            <a:ext cx="1571625" cy="171450"/>
          </a:xfrm>
          <a:prstGeom prst="rect">
            <a:avLst/>
          </a:prstGeom>
          <a:noFill/>
          <a:ln w="0">
            <a:noFill/>
          </a:ln>
        </p:spPr>
        <p:txBody>
          <a:bodyPr anchor="t">
            <a:noAutofit/>
          </a:bodyPr>
          <a:lstStyle/>
          <a:p>
            <a:pPr algn="l">
              <a:buNone/>
              <a:defRPr sz="900" b="1" i="0">
                <a:solidFill>
                  <a:srgbClr val="595959"/>
                </a:solidFill>
                <a:latin typeface="Arial"/>
                <a:ea typeface="Arial"/>
                <a:cs typeface="Arial"/>
              </a:defRPr>
            </a:pPr>
            <a:r>
              <a:rPr sz="900" b="1" i="0">
                <a:solidFill>
                  <a:srgbClr val="595959"/>
                </a:solidFill>
                <a:latin typeface="Arial"/>
                <a:ea typeface="Arial"/>
                <a:cs typeface="Arial"/>
              </a:rPr>
              <a:t>Sin futuro completo</a:t>
            </a:r>
          </a:p>
        </p:txBody>
      </p:sp>
      <p:sp>
        <p:nvSpPr>
          <p:cNvPr id="31" name="Rectangle 30">
            <a:extLst>
              <a:ext uri="{FF2B5EF4-FFF2-40B4-BE49-F238E27FC236}">
                <a16:creationId xmlns:a16="http://schemas.microsoft.com/office/drawing/2014/main" id="{1350DD7B-98EE-40FB-B7FA-9A31819D6E87}"/>
              </a:ext>
            </a:extLst>
          </p:cNvPr>
          <p:cNvSpPr>
            <a:spLocks noGrp="1"/>
          </p:cNvSpPr>
          <p:nvPr/>
        </p:nvSpPr>
        <p:spPr>
          <a:xfrm>
            <a:off x="9696450" y="4267200"/>
            <a:ext cx="1581150" cy="228600"/>
          </a:xfrm>
          <a:prstGeom prst="rect">
            <a:avLst/>
          </a:prstGeom>
          <a:noFill/>
          <a:ln w="0">
            <a:noFill/>
          </a:ln>
        </p:spPr>
        <p:txBody>
          <a:bodyPr anchor="t">
            <a:noAutofit/>
          </a:bodyPr>
          <a:lstStyle/>
          <a:p>
            <a:pPr algn="r">
              <a:buNone/>
              <a:defRPr sz="975" b="0" i="0">
                <a:solidFill>
                  <a:srgbClr val="1F3864"/>
                </a:solidFill>
                <a:latin typeface="Arial"/>
                <a:ea typeface="Arial"/>
                <a:cs typeface="Arial"/>
              </a:defRPr>
            </a:pPr>
            <a:r>
              <a:rPr sz="975" b="0" i="0">
                <a:solidFill>
                  <a:srgbClr val="1F3864"/>
                </a:solidFill>
                <a:latin typeface="Arial"/>
                <a:ea typeface="Arial"/>
                <a:cs typeface="Arial"/>
              </a:rPr>
              <a:t>2.668 ventanas</a:t>
            </a:r>
          </a:p>
        </p:txBody>
      </p:sp>
      <p:sp>
        <p:nvSpPr>
          <p:cNvPr id="32" name="Rectangle: Rounded Corners 31">
            <a:extLst>
              <a:ext uri="{FF2B5EF4-FFF2-40B4-BE49-F238E27FC236}">
                <a16:creationId xmlns:a16="http://schemas.microsoft.com/office/drawing/2014/main" id="{8310223B-72FB-4A62-91FD-07301F45945D}"/>
              </a:ext>
            </a:extLst>
          </p:cNvPr>
          <p:cNvSpPr>
            <a:spLocks noGrp="1"/>
          </p:cNvSpPr>
          <p:nvPr/>
        </p:nvSpPr>
        <p:spPr>
          <a:xfrm>
            <a:off x="7943850" y="4800600"/>
            <a:ext cx="3486150" cy="361950"/>
          </a:xfrm>
          <a:prstGeom prst="roundRect">
            <a:avLst>
              <a:gd name="adj" fmla="val 23684"/>
            </a:avLst>
          </a:prstGeom>
          <a:solidFill>
            <a:srgbClr val="1F3864"/>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AD1B3366-9A34-4702-A658-C58311CDAF8F}"/>
              </a:ext>
            </a:extLst>
          </p:cNvPr>
          <p:cNvSpPr>
            <a:spLocks noGrp="1"/>
          </p:cNvSpPr>
          <p:nvPr/>
        </p:nvSpPr>
        <p:spPr>
          <a:xfrm>
            <a:off x="8096250" y="4895850"/>
            <a:ext cx="3181350" cy="190500"/>
          </a:xfrm>
          <a:prstGeom prst="rect">
            <a:avLst/>
          </a:prstGeom>
          <a:noFill/>
          <a:ln w="0">
            <a:noFill/>
          </a:ln>
        </p:spPr>
        <p:txBody>
          <a:bodyPr anchor="t">
            <a:noAutofit/>
          </a:bodyPr>
          <a:lstStyle/>
          <a:p>
            <a:pPr algn="ctr">
              <a:buNone/>
              <a:defRPr sz="900" b="1" i="0">
                <a:solidFill>
                  <a:srgbClr val="FFFFFF"/>
                </a:solidFill>
                <a:latin typeface="Arial"/>
                <a:ea typeface="Arial"/>
                <a:cs typeface="Arial"/>
              </a:defRPr>
            </a:pPr>
            <a:r>
              <a:rPr sz="900" b="1" i="0">
                <a:solidFill>
                  <a:srgbClr val="FFFFFF"/>
                </a:solidFill>
                <a:latin typeface="Arial"/>
                <a:ea typeface="Arial"/>
                <a:cs typeface="Arial"/>
              </a:rPr>
              <a:t>Silver + cuarentena = Bronze</a:t>
            </a:r>
          </a:p>
        </p:txBody>
      </p:sp>
      <p:sp>
        <p:nvSpPr>
          <p:cNvPr id="34" name="Rectangle: Rounded Corners 33">
            <a:extLst>
              <a:ext uri="{FF2B5EF4-FFF2-40B4-BE49-F238E27FC236}">
                <a16:creationId xmlns:a16="http://schemas.microsoft.com/office/drawing/2014/main" id="{53D65DAF-0DE0-4F12-9101-006D95EA8F90}"/>
              </a:ext>
            </a:extLst>
          </p:cNvPr>
          <p:cNvSpPr>
            <a:spLocks noGrp="1"/>
          </p:cNvSpPr>
          <p:nvPr/>
        </p:nvSpPr>
        <p:spPr>
          <a:xfrm>
            <a:off x="533400" y="5619750"/>
            <a:ext cx="11125200" cy="457200"/>
          </a:xfrm>
          <a:prstGeom prst="roundRect">
            <a:avLst>
              <a:gd name="adj" fmla="val 20833"/>
            </a:avLst>
          </a:prstGeom>
          <a:solidFill>
            <a:srgbClr val="FCE8E6"/>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526590E0-0DC4-4ADC-9113-487719B6635F}"/>
              </a:ext>
            </a:extLst>
          </p:cNvPr>
          <p:cNvSpPr>
            <a:spLocks noGrp="1"/>
          </p:cNvSpPr>
          <p:nvPr/>
        </p:nvSpPr>
        <p:spPr>
          <a:xfrm>
            <a:off x="723900" y="5743575"/>
            <a:ext cx="10744200" cy="228600"/>
          </a:xfrm>
          <a:prstGeom prst="rect">
            <a:avLst/>
          </a:prstGeom>
          <a:noFill/>
          <a:ln w="0">
            <a:noFill/>
          </a:ln>
        </p:spPr>
        <p:txBody>
          <a:bodyPr anchor="t">
            <a:noAutofit/>
          </a:bodyPr>
          <a:lstStyle/>
          <a:p>
            <a:pPr algn="ctr">
              <a:buNone/>
              <a:defRPr sz="900" b="0" i="1">
                <a:solidFill>
                  <a:srgbClr val="595959"/>
                </a:solidFill>
                <a:latin typeface="Arial"/>
                <a:ea typeface="Arial"/>
                <a:cs typeface="Arial"/>
              </a:defRPr>
            </a:pPr>
            <a:r>
              <a:rPr sz="900" b="0" i="1">
                <a:solidFill>
                  <a:srgbClr val="595959"/>
                </a:solidFill>
                <a:latin typeface="Arial"/>
                <a:ea typeface="Arial"/>
                <a:cs typeface="Arial"/>
              </a:rPr>
              <a:t>Conclusión: cada cifra del modelo puede rastrearse hasta la fuente y las exclusiones quedan documentadas.</a:t>
            </a:r>
          </a:p>
        </p:txBody>
      </p:sp>
    </p:spTree>
    <p:extLst>
      <p:ext uri="{BB962C8B-B14F-4D97-AF65-F5344CB8AC3E}">
        <p14:creationId xmlns:p14="http://schemas.microsoft.com/office/powerpoint/2010/main" val="40124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58D3BCA-738D-487A-9306-881B3B3E877B}"/>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E7D26A87-1C62-4263-A23A-489EF62429C6}"/>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08 · DE LA EVIDENCIA A LA ACCIÓN</a:t>
            </a:r>
          </a:p>
        </p:txBody>
      </p:sp>
      <p:sp>
        <p:nvSpPr>
          <p:cNvPr id="3" name="Rectangle 2">
            <a:extLst>
              <a:ext uri="{FF2B5EF4-FFF2-40B4-BE49-F238E27FC236}">
                <a16:creationId xmlns:a16="http://schemas.microsoft.com/office/drawing/2014/main" id="{A6F4BA78-4338-4F19-B115-DA2E564DB0CD}"/>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Interpretación y recomendaciones</a:t>
            </a:r>
          </a:p>
        </p:txBody>
      </p:sp>
      <p:sp>
        <p:nvSpPr>
          <p:cNvPr id="4" name="Rectangle 3">
            <a:extLst>
              <a:ext uri="{FF2B5EF4-FFF2-40B4-BE49-F238E27FC236}">
                <a16:creationId xmlns:a16="http://schemas.microsoft.com/office/drawing/2014/main" id="{7C4A842E-F5A5-42FE-A016-C6D590F94120}"/>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76AFC437-E54E-4371-9A6E-40BA12DFCDCB}"/>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4E3E8A38-D9FE-4C5C-B687-971B43EDDB93}"/>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388657AE-30A1-5A7A-6A7F-315D84436430}" type="slidenum">
              <a:rPr sz="900" b="1" i="0">
                <a:solidFill>
                  <a:srgbClr val="2E5B8A"/>
                </a:solidFill>
                <a:latin typeface="Arial"/>
                <a:ea typeface="Arial"/>
                <a:cs typeface="Arial"/>
              </a:rPr>
              <a:t>9</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8F2A4428-B168-431D-BA24-83366CCF0373}"/>
              </a:ext>
            </a:extLst>
          </p:cNvPr>
          <p:cNvSpPr>
            <a:spLocks noGrp="1"/>
          </p:cNvSpPr>
          <p:nvPr/>
        </p:nvSpPr>
        <p:spPr>
          <a:xfrm>
            <a:off x="533400" y="1200150"/>
            <a:ext cx="11125200" cy="914400"/>
          </a:xfrm>
          <a:prstGeom prst="roundRect">
            <a:avLst>
              <a:gd name="adj" fmla="val 16667"/>
            </a:avLst>
          </a:prstGeom>
          <a:solidFill>
            <a:srgbClr val="1F3864"/>
          </a:solidFill>
          <a:ln w="0">
            <a:noFill/>
            <a:prstDash val="solid"/>
          </a:ln>
        </p:spPr>
        <p:txBody>
          <a:bodyPr/>
          <a:lstStyle/>
          <a:p>
            <a:endParaRPr/>
          </a:p>
        </p:txBody>
      </p:sp>
      <p:sp>
        <p:nvSpPr>
          <p:cNvPr id="8" name="Rectangle 7">
            <a:extLst>
              <a:ext uri="{FF2B5EF4-FFF2-40B4-BE49-F238E27FC236}">
                <a16:creationId xmlns:a16="http://schemas.microsoft.com/office/drawing/2014/main" id="{9B31503F-7243-4C5C-B81A-CB502A7DDB56}"/>
              </a:ext>
            </a:extLst>
          </p:cNvPr>
          <p:cNvSpPr>
            <a:spLocks noGrp="1"/>
          </p:cNvSpPr>
          <p:nvPr/>
        </p:nvSpPr>
        <p:spPr>
          <a:xfrm>
            <a:off x="781050" y="1362075"/>
            <a:ext cx="209550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HALLAZGO PRINCIPAL</a:t>
            </a:r>
          </a:p>
        </p:txBody>
      </p:sp>
      <p:sp>
        <p:nvSpPr>
          <p:cNvPr id="9" name="Rectangle 8">
            <a:extLst>
              <a:ext uri="{FF2B5EF4-FFF2-40B4-BE49-F238E27FC236}">
                <a16:creationId xmlns:a16="http://schemas.microsoft.com/office/drawing/2014/main" id="{D4B18AFE-9385-42D3-A836-44AA0B5EB04B}"/>
              </a:ext>
            </a:extLst>
          </p:cNvPr>
          <p:cNvSpPr>
            <a:spLocks noGrp="1"/>
          </p:cNvSpPr>
          <p:nvPr/>
        </p:nvSpPr>
        <p:spPr>
          <a:xfrm>
            <a:off x="781050" y="1638300"/>
            <a:ext cx="10439400" cy="323850"/>
          </a:xfrm>
          <a:prstGeom prst="rect">
            <a:avLst/>
          </a:prstGeom>
          <a:noFill/>
          <a:ln w="0">
            <a:noFill/>
          </a:ln>
        </p:spPr>
        <p:txBody>
          <a:bodyPr anchor="t">
            <a:noAutofit/>
          </a:bodyPr>
          <a:lstStyle/>
          <a:p>
            <a:pPr algn="l">
              <a:buNone/>
              <a:defRPr sz="1725" b="1" i="0">
                <a:solidFill>
                  <a:srgbClr val="FFFFFF"/>
                </a:solidFill>
                <a:latin typeface="Arial"/>
                <a:ea typeface="Arial"/>
                <a:cs typeface="Arial"/>
              </a:defRPr>
            </a:pPr>
            <a:r>
              <a:rPr sz="1725" b="1" i="0">
                <a:solidFill>
                  <a:srgbClr val="FFFFFF"/>
                </a:solidFill>
                <a:latin typeface="Arial"/>
                <a:ea typeface="Arial"/>
                <a:cs typeface="Arial"/>
              </a:rPr>
              <a:t>El modelo ordena el riesgo futuro, pero necesita revisión humana porque omite eventos reales</a:t>
            </a:r>
          </a:p>
        </p:txBody>
      </p:sp>
      <p:graphicFrame>
        <p:nvGraphicFramePr>
          <p:cNvPr id="25" name="Table 22"/>
          <p:cNvGraphicFramePr/>
          <p:nvPr/>
        </p:nvGraphicFramePr>
        <p:xfrm>
          <a:off x="533400" y="2381250"/>
          <a:ext cx="11125200" cy="2724152"/>
        </p:xfrm>
        <a:graphic>
          <a:graphicData uri="http://schemas.openxmlformats.org/drawingml/2006/table">
            <a:tbl>
              <a:tblPr/>
              <a:tblGrid>
                <a:gridCol w="1348509">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gridCol w="3539836">
                  <a:extLst>
                    <a:ext uri="{9D8B030D-6E8A-4147-A177-3AD203B41FA5}">
                      <a16:colId xmlns:a16="http://schemas.microsoft.com/office/drawing/2014/main" val="20002"/>
                    </a:ext>
                  </a:extLst>
                </a:gridCol>
                <a:gridCol w="2528455">
                  <a:extLst>
                    <a:ext uri="{9D8B030D-6E8A-4147-A177-3AD203B41FA5}">
                      <a16:colId xmlns:a16="http://schemas.microsoft.com/office/drawing/2014/main" val="20003"/>
                    </a:ext>
                  </a:extLst>
                </a:gridCol>
              </a:tblGrid>
              <a:tr h="681038">
                <a:tc>
                  <a:txBody>
                    <a:bodyPr/>
                    <a:lstStyle/>
                    <a:p>
                      <a:r>
                        <a:rPr sz="1125" b="1">
                          <a:solidFill>
                            <a:srgbClr val="FFFFFF"/>
                          </a:solidFill>
                          <a:latin typeface="Arial"/>
                          <a:ea typeface="Arial"/>
                          <a:cs typeface="Arial"/>
                        </a:rPr>
                        <a:t>Prioridad</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Acción recomendada</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Evidencia</a:t>
                      </a:r>
                    </a:p>
                  </a:txBody>
                  <a:tcPr marL="95250" marR="95250" marT="66675" marB="66675" anchor="ctr">
                    <a:solidFill>
                      <a:srgbClr val="1F3864"/>
                    </a:solidFill>
                  </a:tcPr>
                </a:tc>
                <a:tc>
                  <a:txBody>
                    <a:bodyPr/>
                    <a:lstStyle/>
                    <a:p>
                      <a:r>
                        <a:rPr sz="1125" b="1">
                          <a:solidFill>
                            <a:srgbClr val="FFFFFF"/>
                          </a:solidFill>
                          <a:latin typeface="Arial"/>
                          <a:ea typeface="Arial"/>
                          <a:cs typeface="Arial"/>
                        </a:rPr>
                        <a:t>Responsable / decisión</a:t>
                      </a:r>
                    </a:p>
                  </a:txBody>
                  <a:tcPr marL="95250" marR="95250" marT="66675" marB="66675" anchor="ctr">
                    <a:solidFill>
                      <a:srgbClr val="1F3864"/>
                    </a:solidFill>
                  </a:tcPr>
                </a:tc>
                <a:extLst>
                  <a:ext uri="{0D108BD9-81ED-4DB2-BD59-A6C34878D82A}">
                    <a16:rowId xmlns:a16="http://schemas.microsoft.com/office/drawing/2014/main" val="10000"/>
                  </a:ext>
                </a:extLst>
              </a:tr>
              <a:tr h="681038">
                <a:tc>
                  <a:txBody>
                    <a:bodyPr/>
                    <a:lstStyle/>
                    <a:p>
                      <a:r>
                        <a:rPr sz="1125" b="1">
                          <a:solidFill>
                            <a:srgbClr val="2E5B8A"/>
                          </a:solidFill>
                          <a:latin typeface="Arial"/>
                          <a:ea typeface="Arial"/>
                          <a:cs typeface="Arial"/>
                        </a:rPr>
                        <a:t>Alta</a:t>
                      </a:r>
                    </a:p>
                  </a:txBody>
                  <a:tcPr marL="95250" marR="95250" marT="66675" marB="66675" anchor="ctr">
                    <a:solidFill>
                      <a:srgbClr val="FCE8E6"/>
                    </a:solidFill>
                  </a:tcPr>
                </a:tc>
                <a:tc>
                  <a:txBody>
                    <a:bodyPr/>
                    <a:lstStyle/>
                    <a:p>
                      <a:r>
                        <a:rPr sz="1125">
                          <a:solidFill>
                            <a:srgbClr val="1F3864"/>
                          </a:solidFill>
                          <a:latin typeface="Arial"/>
                          <a:ea typeface="Arial"/>
                          <a:cs typeface="Arial"/>
                        </a:rPr>
                        <a:t>Revisar primero las alertas del modelo</a:t>
                      </a:r>
                    </a:p>
                  </a:txBody>
                  <a:tcPr marL="95250" marR="95250" marT="66675" marB="66675" anchor="ctr">
                    <a:solidFill>
                      <a:srgbClr val="FFFFFF"/>
                    </a:solidFill>
                  </a:tcPr>
                </a:tc>
                <a:tc>
                  <a:txBody>
                    <a:bodyPr/>
                    <a:lstStyle/>
                    <a:p>
                      <a:r>
                        <a:rPr sz="1125">
                          <a:solidFill>
                            <a:srgbClr val="1F3864"/>
                          </a:solidFill>
                          <a:latin typeface="Arial"/>
                          <a:ea typeface="Arial"/>
                          <a:cs typeface="Arial"/>
                        </a:rPr>
                        <a:t>130 eventos detectados; 331 falsas alertas</a:t>
                      </a:r>
                    </a:p>
                  </a:txBody>
                  <a:tcPr marL="95250" marR="95250" marT="66675" marB="66675" anchor="ctr">
                    <a:solidFill>
                      <a:srgbClr val="FFFFFF"/>
                    </a:solidFill>
                  </a:tcPr>
                </a:tc>
                <a:tc>
                  <a:txBody>
                    <a:bodyPr/>
                    <a:lstStyle/>
                    <a:p>
                      <a:r>
                        <a:rPr sz="1125">
                          <a:solidFill>
                            <a:srgbClr val="1F3864"/>
                          </a:solidFill>
                          <a:latin typeface="Arial"/>
                          <a:ea typeface="Arial"/>
                          <a:cs typeface="Arial"/>
                        </a:rPr>
                        <a:t>Operaciones de cadena de frío</a:t>
                      </a:r>
                    </a:p>
                  </a:txBody>
                  <a:tcPr marL="95250" marR="95250" marT="66675" marB="66675" anchor="ctr">
                    <a:solidFill>
                      <a:srgbClr val="FFFFFF"/>
                    </a:solidFill>
                  </a:tcPr>
                </a:tc>
                <a:extLst>
                  <a:ext uri="{0D108BD9-81ED-4DB2-BD59-A6C34878D82A}">
                    <a16:rowId xmlns:a16="http://schemas.microsoft.com/office/drawing/2014/main" val="10001"/>
                  </a:ext>
                </a:extLst>
              </a:tr>
              <a:tr h="681038">
                <a:tc>
                  <a:txBody>
                    <a:bodyPr/>
                    <a:lstStyle/>
                    <a:p>
                      <a:r>
                        <a:rPr sz="1125">
                          <a:solidFill>
                            <a:srgbClr val="1F3864"/>
                          </a:solidFill>
                          <a:latin typeface="Arial"/>
                          <a:ea typeface="Arial"/>
                          <a:cs typeface="Arial"/>
                        </a:rPr>
                        <a:t>Alta</a:t>
                      </a:r>
                    </a:p>
                  </a:txBody>
                  <a:tcPr marL="95250" marR="95250" marT="66675" marB="66675" anchor="ctr">
                    <a:solidFill>
                      <a:srgbClr val="EDF2F7"/>
                    </a:solidFill>
                  </a:tcPr>
                </a:tc>
                <a:tc>
                  <a:txBody>
                    <a:bodyPr/>
                    <a:lstStyle/>
                    <a:p>
                      <a:r>
                        <a:rPr sz="1125">
                          <a:solidFill>
                            <a:srgbClr val="1F3864"/>
                          </a:solidFill>
                          <a:latin typeface="Arial"/>
                          <a:ea typeface="Arial"/>
                          <a:cs typeface="Arial"/>
                        </a:rPr>
                        <a:t>Definir costos y validar otro umbral</a:t>
                      </a:r>
                    </a:p>
                  </a:txBody>
                  <a:tcPr marL="95250" marR="95250" marT="66675" marB="66675" anchor="ctr">
                    <a:solidFill>
                      <a:srgbClr val="EDF2F7"/>
                    </a:solidFill>
                  </a:tcPr>
                </a:tc>
                <a:tc>
                  <a:txBody>
                    <a:bodyPr/>
                    <a:lstStyle/>
                    <a:p>
                      <a:r>
                        <a:rPr sz="1125">
                          <a:solidFill>
                            <a:srgbClr val="1F3864"/>
                          </a:solidFill>
                          <a:latin typeface="Arial"/>
                          <a:ea typeface="Arial"/>
                          <a:cs typeface="Arial"/>
                        </a:rPr>
                        <a:t>148 falsos negativos; precisión 28,20%</a:t>
                      </a:r>
                    </a:p>
                  </a:txBody>
                  <a:tcPr marL="95250" marR="95250" marT="66675" marB="66675" anchor="ctr">
                    <a:solidFill>
                      <a:srgbClr val="EDF2F7"/>
                    </a:solidFill>
                  </a:tcPr>
                </a:tc>
                <a:tc>
                  <a:txBody>
                    <a:bodyPr/>
                    <a:lstStyle/>
                    <a:p>
                      <a:r>
                        <a:rPr sz="1125">
                          <a:solidFill>
                            <a:srgbClr val="1F3864"/>
                          </a:solidFill>
                          <a:latin typeface="Arial"/>
                          <a:ea typeface="Arial"/>
                          <a:cs typeface="Arial"/>
                        </a:rPr>
                        <a:t>Operaciones, calidad y analítica</a:t>
                      </a:r>
                    </a:p>
                  </a:txBody>
                  <a:tcPr marL="95250" marR="95250" marT="66675" marB="66675" anchor="ctr">
                    <a:solidFill>
                      <a:srgbClr val="EDF2F7"/>
                    </a:solidFill>
                  </a:tcPr>
                </a:tc>
                <a:extLst>
                  <a:ext uri="{0D108BD9-81ED-4DB2-BD59-A6C34878D82A}">
                    <a16:rowId xmlns:a16="http://schemas.microsoft.com/office/drawing/2014/main" val="10002"/>
                  </a:ext>
                </a:extLst>
              </a:tr>
              <a:tr h="681038">
                <a:tc>
                  <a:txBody>
                    <a:bodyPr/>
                    <a:lstStyle/>
                    <a:p>
                      <a:r>
                        <a:rPr sz="1125">
                          <a:solidFill>
                            <a:srgbClr val="1F3864"/>
                          </a:solidFill>
                          <a:latin typeface="Arial"/>
                          <a:ea typeface="Arial"/>
                          <a:cs typeface="Arial"/>
                        </a:rPr>
                        <a:t>Seguimiento</a:t>
                      </a:r>
                    </a:p>
                  </a:txBody>
                  <a:tcPr marL="95250" marR="95250" marT="66675" marB="66675" anchor="ctr">
                    <a:solidFill>
                      <a:srgbClr val="FFFFFF"/>
                    </a:solidFill>
                  </a:tcPr>
                </a:tc>
                <a:tc>
                  <a:txBody>
                    <a:bodyPr/>
                    <a:lstStyle/>
                    <a:p>
                      <a:r>
                        <a:rPr sz="1125">
                          <a:solidFill>
                            <a:srgbClr val="1F3864"/>
                          </a:solidFill>
                          <a:latin typeface="Arial"/>
                          <a:ea typeface="Arial"/>
                          <a:cs typeface="Arial"/>
                        </a:rPr>
                        <a:t>Monitorear recall, precisión y PR AUC</a:t>
                      </a:r>
                    </a:p>
                  </a:txBody>
                  <a:tcPr marL="95250" marR="95250" marT="66675" marB="66675" anchor="ctr">
                    <a:solidFill>
                      <a:srgbClr val="FFFFFF"/>
                    </a:solidFill>
                  </a:tcPr>
                </a:tc>
                <a:tc>
                  <a:txBody>
                    <a:bodyPr/>
                    <a:lstStyle/>
                    <a:p>
                      <a:r>
                        <a:rPr sz="1125">
                          <a:solidFill>
                            <a:srgbClr val="1F3864"/>
                          </a:solidFill>
                          <a:latin typeface="Arial"/>
                          <a:ea typeface="Arial"/>
                          <a:cs typeface="Arial"/>
                        </a:rPr>
                        <a:t>Clase positiva 5,02%</a:t>
                      </a:r>
                    </a:p>
                  </a:txBody>
                  <a:tcPr marL="95250" marR="95250" marT="66675" marB="66675" anchor="ctr">
                    <a:solidFill>
                      <a:srgbClr val="FFFFFF"/>
                    </a:solidFill>
                  </a:tcPr>
                </a:tc>
                <a:tc>
                  <a:txBody>
                    <a:bodyPr/>
                    <a:lstStyle/>
                    <a:p>
                      <a:r>
                        <a:rPr sz="1125">
                          <a:solidFill>
                            <a:srgbClr val="1F3864"/>
                          </a:solidFill>
                          <a:latin typeface="Arial"/>
                          <a:ea typeface="Arial"/>
                          <a:cs typeface="Arial"/>
                        </a:rPr>
                        <a:t>Equipo analítico por periodo</a:t>
                      </a:r>
                    </a:p>
                  </a:txBody>
                  <a:tcPr marL="952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11" name="Rectangle: Rounded Corners 10">
            <a:extLst>
              <a:ext uri="{FF2B5EF4-FFF2-40B4-BE49-F238E27FC236}">
                <a16:creationId xmlns:a16="http://schemas.microsoft.com/office/drawing/2014/main" id="{D6222EE7-1E37-4E90-99E7-4C78FB1387AA}"/>
              </a:ext>
            </a:extLst>
          </p:cNvPr>
          <p:cNvSpPr>
            <a:spLocks noGrp="1"/>
          </p:cNvSpPr>
          <p:nvPr/>
        </p:nvSpPr>
        <p:spPr>
          <a:xfrm>
            <a:off x="533400" y="5334000"/>
            <a:ext cx="11125200" cy="695325"/>
          </a:xfrm>
          <a:prstGeom prst="roundRect">
            <a:avLst>
              <a:gd name="adj" fmla="val 16438"/>
            </a:avLst>
          </a:prstGeom>
          <a:solidFill>
            <a:srgbClr val="EDF2F7"/>
          </a:solidFill>
          <a:ln w="0">
            <a:noFill/>
            <a:prstDash val="solid"/>
          </a:ln>
        </p:spPr>
        <p:txBody>
          <a:bodyPr/>
          <a:lstStyle/>
          <a:p>
            <a:endParaRPr/>
          </a:p>
        </p:txBody>
      </p:sp>
      <p:sp>
        <p:nvSpPr>
          <p:cNvPr id="12" name="Rectangle 11">
            <a:extLst>
              <a:ext uri="{FF2B5EF4-FFF2-40B4-BE49-F238E27FC236}">
                <a16:creationId xmlns:a16="http://schemas.microsoft.com/office/drawing/2014/main" id="{313AA195-A682-48F6-B3C2-6836CEBC1A21}"/>
              </a:ext>
            </a:extLst>
          </p:cNvPr>
          <p:cNvSpPr>
            <a:spLocks noGrp="1"/>
          </p:cNvSpPr>
          <p:nvPr/>
        </p:nvSpPr>
        <p:spPr>
          <a:xfrm>
            <a:off x="742950" y="5467350"/>
            <a:ext cx="2190750" cy="19050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Límite de interpretación</a:t>
            </a:r>
          </a:p>
        </p:txBody>
      </p:sp>
      <p:sp>
        <p:nvSpPr>
          <p:cNvPr id="13" name="Rectangle 12">
            <a:extLst>
              <a:ext uri="{FF2B5EF4-FFF2-40B4-BE49-F238E27FC236}">
                <a16:creationId xmlns:a16="http://schemas.microsoft.com/office/drawing/2014/main" id="{AAD18594-E806-430C-89D2-F932F968CD0E}"/>
              </a:ext>
            </a:extLst>
          </p:cNvPr>
          <p:cNvSpPr>
            <a:spLocks noGrp="1"/>
          </p:cNvSpPr>
          <p:nvPr/>
        </p:nvSpPr>
        <p:spPr>
          <a:xfrm>
            <a:off x="742950" y="5695950"/>
            <a:ext cx="10572750" cy="228600"/>
          </a:xfrm>
          <a:prstGeom prst="rect">
            <a:avLst/>
          </a:prstGeom>
          <a:noFill/>
          <a:ln w="0">
            <a:noFill/>
          </a:ln>
        </p:spPr>
        <p:txBody>
          <a:bodyPr anchor="t">
            <a:noAutofit/>
          </a:bodyPr>
          <a:lstStyle/>
          <a:p>
            <a:pPr algn="l">
              <a:buNone/>
              <a:defRPr sz="1125" b="0" i="0">
                <a:solidFill>
                  <a:srgbClr val="1F3864"/>
                </a:solidFill>
                <a:latin typeface="Arial"/>
                <a:ea typeface="Arial"/>
                <a:cs typeface="Arial"/>
              </a:defRPr>
            </a:pPr>
            <a:r>
              <a:rPr sz="1125" b="0" i="0">
                <a:solidFill>
                  <a:srgbClr val="1F3864"/>
                </a:solidFill>
                <a:latin typeface="Arial"/>
                <a:ea typeface="Arial"/>
                <a:cs typeface="Arial"/>
              </a:rPr>
              <a:t>Los resultados muestran asociaciones predictivas, no causas. El umbral requiere validación separada antes del uso operativo.</a:t>
            </a:r>
          </a:p>
        </p:txBody>
      </p:sp>
    </p:spTree>
    <p:extLst>
      <p:ext uri="{BB962C8B-B14F-4D97-AF65-F5344CB8AC3E}">
        <p14:creationId xmlns:p14="http://schemas.microsoft.com/office/powerpoint/2010/main" val="1729554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AA2C23FE-E0A2-4C9D-A5B0-ADCEC3A6BFF7}"/>
              </a:ext>
            </a:extLst>
          </p:cNvPr>
          <p:cNvSpPr>
            <a:spLocks noGrp="1"/>
          </p:cNvSpPr>
          <p:nvPr/>
        </p:nvSpPr>
        <p:spPr>
          <a:xfrm>
            <a:off x="514350" y="400050"/>
            <a:ext cx="76200" cy="514350"/>
          </a:xfrm>
          <a:prstGeom prst="rect">
            <a:avLst/>
          </a:prstGeom>
          <a:solidFill>
            <a:srgbClr val="2E5B8A"/>
          </a:solidFill>
          <a:ln w="0">
            <a:noFill/>
            <a:prstDash val="solid"/>
          </a:ln>
        </p:spPr>
        <p:txBody>
          <a:bodyPr/>
          <a:lstStyle/>
          <a:p>
            <a:endParaRPr/>
          </a:p>
        </p:txBody>
      </p:sp>
      <p:sp>
        <p:nvSpPr>
          <p:cNvPr id="2" name="Rectangle 1">
            <a:extLst>
              <a:ext uri="{FF2B5EF4-FFF2-40B4-BE49-F238E27FC236}">
                <a16:creationId xmlns:a16="http://schemas.microsoft.com/office/drawing/2014/main" id="{C2845685-EC76-4452-9640-10A4AFB2C0BA}"/>
              </a:ext>
            </a:extLst>
          </p:cNvPr>
          <p:cNvSpPr>
            <a:spLocks noGrp="1"/>
          </p:cNvSpPr>
          <p:nvPr/>
        </p:nvSpPr>
        <p:spPr>
          <a:xfrm>
            <a:off x="762000" y="342900"/>
            <a:ext cx="4000500" cy="228600"/>
          </a:xfrm>
          <a:prstGeom prst="rect">
            <a:avLst/>
          </a:prstGeom>
          <a:noFill/>
          <a:ln w="0">
            <a:noFill/>
          </a:ln>
        </p:spPr>
        <p:txBody>
          <a:bodyPr anchor="t">
            <a:noAutofit/>
          </a:bodyPr>
          <a:lstStyle/>
          <a:p>
            <a:pPr algn="l">
              <a:buNone/>
              <a:defRPr sz="975" b="1" i="0">
                <a:solidFill>
                  <a:srgbClr val="2E5B8A"/>
                </a:solidFill>
                <a:latin typeface="Arial"/>
                <a:ea typeface="Arial"/>
                <a:cs typeface="Arial"/>
              </a:defRPr>
            </a:pPr>
            <a:r>
              <a:rPr sz="975" b="1" i="0">
                <a:solidFill>
                  <a:srgbClr val="2E5B8A"/>
                </a:solidFill>
                <a:latin typeface="Arial"/>
                <a:ea typeface="Arial"/>
                <a:cs typeface="Arial"/>
              </a:rPr>
              <a:t>09 · CIERRE</a:t>
            </a:r>
          </a:p>
        </p:txBody>
      </p:sp>
      <p:sp>
        <p:nvSpPr>
          <p:cNvPr id="3" name="Rectangle 2">
            <a:extLst>
              <a:ext uri="{FF2B5EF4-FFF2-40B4-BE49-F238E27FC236}">
                <a16:creationId xmlns:a16="http://schemas.microsoft.com/office/drawing/2014/main" id="{5118ED57-C3A8-460F-A58C-DBE716BA93D2}"/>
              </a:ext>
            </a:extLst>
          </p:cNvPr>
          <p:cNvSpPr>
            <a:spLocks noGrp="1"/>
          </p:cNvSpPr>
          <p:nvPr/>
        </p:nvSpPr>
        <p:spPr>
          <a:xfrm>
            <a:off x="762000" y="581025"/>
            <a:ext cx="10572750" cy="476250"/>
          </a:xfrm>
          <a:prstGeom prst="rect">
            <a:avLst/>
          </a:prstGeom>
          <a:noFill/>
          <a:ln w="0">
            <a:noFill/>
          </a:ln>
        </p:spPr>
        <p:txBody>
          <a:bodyPr anchor="t">
            <a:noAutofit/>
          </a:bodyPr>
          <a:lstStyle/>
          <a:p>
            <a:pPr algn="l">
              <a:buNone/>
              <a:defRPr sz="2325" b="1" i="0">
                <a:solidFill>
                  <a:srgbClr val="1F3864"/>
                </a:solidFill>
                <a:latin typeface="Arial"/>
                <a:ea typeface="Arial"/>
                <a:cs typeface="Arial"/>
              </a:defRPr>
            </a:pPr>
            <a:r>
              <a:rPr sz="2325" b="1" i="0">
                <a:solidFill>
                  <a:srgbClr val="1F3864"/>
                </a:solidFill>
                <a:latin typeface="Arial"/>
                <a:ea typeface="Arial"/>
                <a:cs typeface="Arial"/>
              </a:rPr>
              <a:t>Limitaciones, uso responsable y continuidad</a:t>
            </a:r>
          </a:p>
        </p:txBody>
      </p:sp>
      <p:sp>
        <p:nvSpPr>
          <p:cNvPr id="4" name="Rectangle 3">
            <a:extLst>
              <a:ext uri="{FF2B5EF4-FFF2-40B4-BE49-F238E27FC236}">
                <a16:creationId xmlns:a16="http://schemas.microsoft.com/office/drawing/2014/main" id="{D800C285-54E5-4771-BC15-58D399B20E0C}"/>
              </a:ext>
            </a:extLst>
          </p:cNvPr>
          <p:cNvSpPr>
            <a:spLocks noGrp="1"/>
          </p:cNvSpPr>
          <p:nvPr/>
        </p:nvSpPr>
        <p:spPr>
          <a:xfrm>
            <a:off x="514350" y="6477000"/>
            <a:ext cx="11163300" cy="9525"/>
          </a:xfrm>
          <a:prstGeom prst="rect">
            <a:avLst/>
          </a:prstGeom>
          <a:solidFill>
            <a:srgbClr val="EDF2F7"/>
          </a:solidFill>
          <a:ln w="0">
            <a:noFill/>
            <a:prstDash val="solid"/>
          </a:ln>
        </p:spPr>
        <p:txBody>
          <a:bodyPr/>
          <a:lstStyle/>
          <a:p>
            <a:endParaRPr/>
          </a:p>
        </p:txBody>
      </p:sp>
      <p:sp>
        <p:nvSpPr>
          <p:cNvPr id="5" name="Rectangle 4">
            <a:extLst>
              <a:ext uri="{FF2B5EF4-FFF2-40B4-BE49-F238E27FC236}">
                <a16:creationId xmlns:a16="http://schemas.microsoft.com/office/drawing/2014/main" id="{9061ECF4-E1A3-4A0D-8B22-5399D3F23FD6}"/>
              </a:ext>
            </a:extLst>
          </p:cNvPr>
          <p:cNvSpPr>
            <a:spLocks noGrp="1"/>
          </p:cNvSpPr>
          <p:nvPr/>
        </p:nvSpPr>
        <p:spPr>
          <a:xfrm>
            <a:off x="533400" y="6534150"/>
            <a:ext cx="3429000" cy="190500"/>
          </a:xfrm>
          <a:prstGeom prst="rect">
            <a:avLst/>
          </a:prstGeom>
          <a:noFill/>
          <a:ln w="0">
            <a:noFill/>
          </a:ln>
        </p:spPr>
        <p:txBody>
          <a:bodyPr anchor="t">
            <a:noAutofit/>
          </a:bodyPr>
          <a:lstStyle/>
          <a:p>
            <a:pPr algn="l">
              <a:buNone/>
              <a:defRPr sz="825" b="0" i="0">
                <a:solidFill>
                  <a:srgbClr val="595959"/>
                </a:solidFill>
                <a:latin typeface="Arial"/>
                <a:ea typeface="Arial"/>
                <a:cs typeface="Arial"/>
              </a:defRPr>
            </a:pPr>
            <a:r>
              <a:rPr sz="825" b="0" i="0">
                <a:solidFill>
                  <a:srgbClr val="595959"/>
                </a:solidFill>
                <a:latin typeface="Arial"/>
                <a:ea typeface="Arial"/>
                <a:cs typeface="Arial"/>
              </a:rPr>
              <a:t>Proyecto Integrador · Módulo 3</a:t>
            </a:r>
          </a:p>
        </p:txBody>
      </p:sp>
      <p:sp>
        <p:nvSpPr>
          <p:cNvPr id="6" name="Rectangle 5">
            <a:extLst>
              <a:ext uri="{FF2B5EF4-FFF2-40B4-BE49-F238E27FC236}">
                <a16:creationId xmlns:a16="http://schemas.microsoft.com/office/drawing/2014/main" id="{F2A817D8-3B56-45FE-86A8-DEF8C4DE0AC9}"/>
              </a:ext>
            </a:extLst>
          </p:cNvPr>
          <p:cNvSpPr>
            <a:spLocks noGrp="1"/>
          </p:cNvSpPr>
          <p:nvPr/>
        </p:nvSpPr>
        <p:spPr>
          <a:xfrm>
            <a:off x="11049000" y="6515100"/>
            <a:ext cx="609600" cy="209550"/>
          </a:xfrm>
          <a:prstGeom prst="rect">
            <a:avLst/>
          </a:prstGeom>
          <a:noFill/>
          <a:ln w="0">
            <a:noFill/>
          </a:ln>
        </p:spPr>
        <p:txBody>
          <a:bodyPr anchor="t">
            <a:noAutofit/>
          </a:bodyPr>
          <a:lstStyle/>
          <a:p>
            <a:pPr algn="r">
              <a:buNone/>
              <a:defRPr sz="900" b="1" i="0">
                <a:solidFill>
                  <a:srgbClr val="2E5B8A"/>
                </a:solidFill>
                <a:latin typeface="Arial"/>
                <a:ea typeface="Arial"/>
                <a:cs typeface="Arial"/>
              </a:defRPr>
            </a:pPr>
            <a:fld id="{DB7BEEEC-A170-5376-2B6E-CB54687B0CB1}" type="slidenum">
              <a:rPr sz="900" b="1" i="0">
                <a:solidFill>
                  <a:srgbClr val="2E5B8A"/>
                </a:solidFill>
                <a:latin typeface="Arial"/>
                <a:ea typeface="Arial"/>
                <a:cs typeface="Arial"/>
              </a:rPr>
              <a:t>10</a:t>
            </a:fld>
            <a:endParaRPr sz="900" b="1" i="0">
              <a:solidFill>
                <a:srgbClr val="2E5B8A"/>
              </a:solidFill>
              <a:latin typeface="Arial"/>
              <a:ea typeface="Arial"/>
              <a:cs typeface="Arial"/>
            </a:endParaRPr>
          </a:p>
        </p:txBody>
      </p:sp>
      <p:sp>
        <p:nvSpPr>
          <p:cNvPr id="7" name="Rectangle: Rounded Corners 6">
            <a:extLst>
              <a:ext uri="{FF2B5EF4-FFF2-40B4-BE49-F238E27FC236}">
                <a16:creationId xmlns:a16="http://schemas.microsoft.com/office/drawing/2014/main" id="{355CEEA2-8176-43BB-A89C-8F0B5E74770E}"/>
              </a:ext>
            </a:extLst>
          </p:cNvPr>
          <p:cNvSpPr>
            <a:spLocks noGrp="1"/>
          </p:cNvSpPr>
          <p:nvPr/>
        </p:nvSpPr>
        <p:spPr>
          <a:xfrm>
            <a:off x="5334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8" name="Rectangle 7">
            <a:extLst>
              <a:ext uri="{FF2B5EF4-FFF2-40B4-BE49-F238E27FC236}">
                <a16:creationId xmlns:a16="http://schemas.microsoft.com/office/drawing/2014/main" id="{B11780EF-EDFC-425C-9180-47DA9E371AD8}"/>
              </a:ext>
            </a:extLst>
          </p:cNvPr>
          <p:cNvSpPr>
            <a:spLocks noGrp="1"/>
          </p:cNvSpPr>
          <p:nvPr/>
        </p:nvSpPr>
        <p:spPr>
          <a:xfrm>
            <a:off x="533400" y="1333500"/>
            <a:ext cx="3505200" cy="85725"/>
          </a:xfrm>
          <a:prstGeom prst="rect">
            <a:avLst/>
          </a:prstGeom>
          <a:solidFill>
            <a:srgbClr val="2E5B8A"/>
          </a:solidFill>
          <a:ln w="0">
            <a:noFill/>
            <a:prstDash val="solid"/>
          </a:ln>
        </p:spPr>
        <p:txBody>
          <a:bodyPr/>
          <a:lstStyle/>
          <a:p>
            <a:endParaRPr/>
          </a:p>
        </p:txBody>
      </p:sp>
      <p:sp>
        <p:nvSpPr>
          <p:cNvPr id="9" name="Rectangle 8">
            <a:extLst>
              <a:ext uri="{FF2B5EF4-FFF2-40B4-BE49-F238E27FC236}">
                <a16:creationId xmlns:a16="http://schemas.microsoft.com/office/drawing/2014/main" id="{C028414C-D2BC-4EC5-B38E-5F99A4B8AEBE}"/>
              </a:ext>
            </a:extLst>
          </p:cNvPr>
          <p:cNvSpPr>
            <a:spLocks noGrp="1"/>
          </p:cNvSpPr>
          <p:nvPr/>
        </p:nvSpPr>
        <p:spPr>
          <a:xfrm>
            <a:off x="7620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LIMITACIONES</a:t>
            </a:r>
          </a:p>
        </p:txBody>
      </p:sp>
      <p:sp>
        <p:nvSpPr>
          <p:cNvPr id="10" name="Rectangle 9">
            <a:extLst>
              <a:ext uri="{FF2B5EF4-FFF2-40B4-BE49-F238E27FC236}">
                <a16:creationId xmlns:a16="http://schemas.microsoft.com/office/drawing/2014/main" id="{AE43CB52-F18D-4360-B855-4F90A224DD16}"/>
              </a:ext>
            </a:extLst>
          </p:cNvPr>
          <p:cNvSpPr>
            <a:spLocks noGrp="1"/>
          </p:cNvSpPr>
          <p:nvPr/>
        </p:nvSpPr>
        <p:spPr>
          <a:xfrm>
            <a:off x="7620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La clase positiva representa 5,02%</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La evaluación usa una sola división por viaje</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La fuente no contiene todas las causas operativas</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Los coeficientes no prueban causalidad</a:t>
            </a:r>
          </a:p>
        </p:txBody>
      </p:sp>
      <p:sp>
        <p:nvSpPr>
          <p:cNvPr id="11" name="Rectangle: Rounded Corners 10">
            <a:extLst>
              <a:ext uri="{FF2B5EF4-FFF2-40B4-BE49-F238E27FC236}">
                <a16:creationId xmlns:a16="http://schemas.microsoft.com/office/drawing/2014/main" id="{8A8CD363-05C7-4632-8704-0941342B8D94}"/>
              </a:ext>
            </a:extLst>
          </p:cNvPr>
          <p:cNvSpPr>
            <a:spLocks noGrp="1"/>
          </p:cNvSpPr>
          <p:nvPr/>
        </p:nvSpPr>
        <p:spPr>
          <a:xfrm>
            <a:off x="762000" y="4248150"/>
            <a:ext cx="3048000" cy="533400"/>
          </a:xfrm>
          <a:prstGeom prst="roundRect">
            <a:avLst>
              <a:gd name="adj" fmla="val 19048"/>
            </a:avLst>
          </a:prstGeom>
          <a:solidFill>
            <a:srgbClr val="EDF2F7"/>
          </a:solidFill>
          <a:ln w="0">
            <a:noFill/>
            <a:prstDash val="solid"/>
          </a:ln>
        </p:spPr>
        <p:txBody>
          <a:bodyPr/>
          <a:lstStyle/>
          <a:p>
            <a:endParaRPr/>
          </a:p>
        </p:txBody>
      </p:sp>
      <p:sp>
        <p:nvSpPr>
          <p:cNvPr id="12" name="Rectangle 11">
            <a:extLst>
              <a:ext uri="{FF2B5EF4-FFF2-40B4-BE49-F238E27FC236}">
                <a16:creationId xmlns:a16="http://schemas.microsoft.com/office/drawing/2014/main" id="{CE18BAF3-83FF-495D-ACE9-972FEC458F24}"/>
              </a:ext>
            </a:extLst>
          </p:cNvPr>
          <p:cNvSpPr>
            <a:spLocks noGrp="1"/>
          </p:cNvSpPr>
          <p:nvPr/>
        </p:nvSpPr>
        <p:spPr>
          <a:xfrm>
            <a:off x="895350" y="4316349"/>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dirty="0" err="1">
                <a:solidFill>
                  <a:srgbClr val="595959"/>
                </a:solidFill>
                <a:latin typeface="Arial"/>
                <a:ea typeface="Arial"/>
                <a:cs typeface="Arial"/>
              </a:rPr>
              <a:t>Conclusión</a:t>
            </a:r>
            <a:r>
              <a:rPr sz="975" b="1" i="0" dirty="0">
                <a:solidFill>
                  <a:srgbClr val="595959"/>
                </a:solidFill>
                <a:latin typeface="Arial"/>
                <a:ea typeface="Arial"/>
                <a:cs typeface="Arial"/>
              </a:rPr>
              <a:t>: el </a:t>
            </a:r>
            <a:r>
              <a:rPr sz="975" b="1" i="0" dirty="0" err="1">
                <a:solidFill>
                  <a:srgbClr val="595959"/>
                </a:solidFill>
                <a:latin typeface="Arial"/>
                <a:ea typeface="Arial"/>
                <a:cs typeface="Arial"/>
              </a:rPr>
              <a:t>desempeño</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debe</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confirmarse</a:t>
            </a:r>
            <a:r>
              <a:rPr sz="975" b="1" i="0" dirty="0">
                <a:solidFill>
                  <a:srgbClr val="595959"/>
                </a:solidFill>
                <a:latin typeface="Arial"/>
                <a:ea typeface="Arial"/>
                <a:cs typeface="Arial"/>
              </a:rPr>
              <a:t> con </a:t>
            </a:r>
            <a:r>
              <a:rPr sz="975" b="1" i="0" dirty="0" err="1">
                <a:solidFill>
                  <a:srgbClr val="595959"/>
                </a:solidFill>
                <a:latin typeface="Arial"/>
                <a:ea typeface="Arial"/>
                <a:cs typeface="Arial"/>
              </a:rPr>
              <a:t>nuevos</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viajes</a:t>
            </a:r>
            <a:endParaRPr sz="975" b="1" i="0" dirty="0">
              <a:solidFill>
                <a:srgbClr val="595959"/>
              </a:solidFill>
              <a:latin typeface="Arial"/>
              <a:ea typeface="Arial"/>
              <a:cs typeface="Arial"/>
            </a:endParaRPr>
          </a:p>
        </p:txBody>
      </p:sp>
      <p:sp>
        <p:nvSpPr>
          <p:cNvPr id="13" name="Rectangle: Rounded Corners 12">
            <a:extLst>
              <a:ext uri="{FF2B5EF4-FFF2-40B4-BE49-F238E27FC236}">
                <a16:creationId xmlns:a16="http://schemas.microsoft.com/office/drawing/2014/main" id="{DEE18DA9-9FEA-462F-AE89-728EEF5F9341}"/>
              </a:ext>
            </a:extLst>
          </p:cNvPr>
          <p:cNvSpPr>
            <a:spLocks noGrp="1"/>
          </p:cNvSpPr>
          <p:nvPr/>
        </p:nvSpPr>
        <p:spPr>
          <a:xfrm>
            <a:off x="43053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14" name="Rectangle 13">
            <a:extLst>
              <a:ext uri="{FF2B5EF4-FFF2-40B4-BE49-F238E27FC236}">
                <a16:creationId xmlns:a16="http://schemas.microsoft.com/office/drawing/2014/main" id="{686B6484-A8C0-423E-8A91-83A79AA04F36}"/>
              </a:ext>
            </a:extLst>
          </p:cNvPr>
          <p:cNvSpPr>
            <a:spLocks noGrp="1"/>
          </p:cNvSpPr>
          <p:nvPr/>
        </p:nvSpPr>
        <p:spPr>
          <a:xfrm>
            <a:off x="4305300" y="1333500"/>
            <a:ext cx="3505200" cy="85725"/>
          </a:xfrm>
          <a:prstGeom prst="rect">
            <a:avLst/>
          </a:prstGeom>
          <a:solidFill>
            <a:srgbClr val="2E5B8A"/>
          </a:solidFill>
          <a:ln w="0">
            <a:noFill/>
            <a:prstDash val="solid"/>
          </a:ln>
        </p:spPr>
        <p:txBody>
          <a:bodyPr/>
          <a:lstStyle/>
          <a:p>
            <a:endParaRPr/>
          </a:p>
        </p:txBody>
      </p:sp>
      <p:sp>
        <p:nvSpPr>
          <p:cNvPr id="15" name="Rectangle 14">
            <a:extLst>
              <a:ext uri="{FF2B5EF4-FFF2-40B4-BE49-F238E27FC236}">
                <a16:creationId xmlns:a16="http://schemas.microsoft.com/office/drawing/2014/main" id="{582AB2B4-7A67-4FD1-8A61-3F938BD993B3}"/>
              </a:ext>
            </a:extLst>
          </p:cNvPr>
          <p:cNvSpPr>
            <a:spLocks noGrp="1"/>
          </p:cNvSpPr>
          <p:nvPr/>
        </p:nvSpPr>
        <p:spPr>
          <a:xfrm>
            <a:off x="45339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PRIVACIDAD E IA</a:t>
            </a:r>
          </a:p>
        </p:txBody>
      </p:sp>
      <p:sp>
        <p:nvSpPr>
          <p:cNvPr id="16" name="Rectangle 15">
            <a:extLst>
              <a:ext uri="{FF2B5EF4-FFF2-40B4-BE49-F238E27FC236}">
                <a16:creationId xmlns:a16="http://schemas.microsoft.com/office/drawing/2014/main" id="{B1FC97C0-5563-4712-8B9B-8362A40B2CBD}"/>
              </a:ext>
            </a:extLst>
          </p:cNvPr>
          <p:cNvSpPr>
            <a:spLocks noGrp="1"/>
          </p:cNvSpPr>
          <p:nvPr/>
        </p:nvSpPr>
        <p:spPr>
          <a:xfrm>
            <a:off x="45339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No se </a:t>
            </a:r>
            <a:r>
              <a:rPr sz="1275" b="0" i="0" dirty="0" err="1">
                <a:solidFill>
                  <a:srgbClr val="1F3864"/>
                </a:solidFill>
                <a:latin typeface="Arial"/>
                <a:ea typeface="Arial"/>
                <a:cs typeface="Arial"/>
              </a:rPr>
              <a:t>observaron</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nombres</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personales</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ni</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credenciales</a:t>
            </a:r>
            <a:endParaRPr sz="1275" b="0" i="0" dirty="0">
              <a:solidFill>
                <a:srgbClr val="1F3864"/>
              </a:solidFill>
              <a:latin typeface="Arial"/>
              <a:ea typeface="Arial"/>
              <a:cs typeface="Arial"/>
            </a:endParaRP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Los </a:t>
            </a:r>
            <a:r>
              <a:rPr sz="1275" b="0" i="0" dirty="0" err="1">
                <a:solidFill>
                  <a:srgbClr val="1F3864"/>
                </a:solidFill>
                <a:latin typeface="Arial"/>
                <a:ea typeface="Arial"/>
                <a:cs typeface="Arial"/>
              </a:rPr>
              <a:t>identificadores</a:t>
            </a:r>
            <a:r>
              <a:rPr sz="1275" b="0" i="0" dirty="0">
                <a:solidFill>
                  <a:srgbClr val="1F3864"/>
                </a:solidFill>
                <a:latin typeface="Arial"/>
                <a:ea typeface="Arial"/>
                <a:cs typeface="Arial"/>
              </a:rPr>
              <a:t> son </a:t>
            </a:r>
            <a:r>
              <a:rPr sz="1275" b="0" i="0" dirty="0" err="1">
                <a:solidFill>
                  <a:srgbClr val="1F3864"/>
                </a:solidFill>
                <a:latin typeface="Arial"/>
                <a:ea typeface="Arial"/>
                <a:cs typeface="Arial"/>
              </a:rPr>
              <a:t>operativos</a:t>
            </a:r>
            <a:endParaRPr sz="1275" b="0" i="0" dirty="0">
              <a:solidFill>
                <a:srgbClr val="1F3864"/>
              </a:solidFill>
              <a:latin typeface="Arial"/>
              <a:ea typeface="Arial"/>
              <a:cs typeface="Arial"/>
            </a:endParaRP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Toda </a:t>
            </a:r>
            <a:r>
              <a:rPr sz="1275" b="0" i="0" dirty="0" err="1">
                <a:solidFill>
                  <a:srgbClr val="1F3864"/>
                </a:solidFill>
                <a:latin typeface="Arial"/>
                <a:ea typeface="Arial"/>
                <a:cs typeface="Arial"/>
              </a:rPr>
              <a:t>alerta</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requiere</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supervisión</a:t>
            </a:r>
            <a:r>
              <a:rPr sz="1275" b="0" i="0" dirty="0">
                <a:solidFill>
                  <a:srgbClr val="1F3864"/>
                </a:solidFill>
                <a:latin typeface="Arial"/>
                <a:ea typeface="Arial"/>
                <a:cs typeface="Arial"/>
              </a:rPr>
              <a:t> humana</a:t>
            </a:r>
          </a:p>
          <a:p>
            <a:pPr algn="l">
              <a:buNone/>
              <a:defRPr sz="1275" b="0" i="0">
                <a:solidFill>
                  <a:srgbClr val="1F3864"/>
                </a:solidFill>
                <a:latin typeface="Arial"/>
                <a:ea typeface="Arial"/>
                <a:cs typeface="Arial"/>
              </a:defRPr>
            </a:pPr>
            <a:r>
              <a:rPr sz="1275" b="0" i="0" dirty="0">
                <a:solidFill>
                  <a:srgbClr val="1F3864"/>
                </a:solidFill>
                <a:latin typeface="Arial"/>
                <a:ea typeface="Arial"/>
                <a:cs typeface="Arial"/>
              </a:rPr>
              <a:t>• OpenAI Codex</a:t>
            </a:r>
            <a:r>
              <a:rPr lang="en-US" sz="1275" b="0" i="0" dirty="0">
                <a:solidFill>
                  <a:srgbClr val="1F3864"/>
                </a:solidFill>
                <a:latin typeface="Arial"/>
                <a:ea typeface="Arial"/>
                <a:cs typeface="Arial"/>
              </a:rPr>
              <a:t> y Open Code</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apoyó</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código</a:t>
            </a:r>
            <a:r>
              <a:rPr sz="1275" b="0" i="0" dirty="0">
                <a:solidFill>
                  <a:srgbClr val="1F3864"/>
                </a:solidFill>
                <a:latin typeface="Arial"/>
                <a:ea typeface="Arial"/>
                <a:cs typeface="Arial"/>
              </a:rPr>
              <a:t> y el </a:t>
            </a:r>
            <a:r>
              <a:rPr sz="1275" b="0" i="0" dirty="0" err="1">
                <a:solidFill>
                  <a:srgbClr val="1F3864"/>
                </a:solidFill>
                <a:latin typeface="Arial"/>
                <a:ea typeface="Arial"/>
                <a:cs typeface="Arial"/>
              </a:rPr>
              <a:t>equipo</a:t>
            </a:r>
            <a:r>
              <a:rPr sz="1275" b="0" i="0" dirty="0">
                <a:solidFill>
                  <a:srgbClr val="1F3864"/>
                </a:solidFill>
                <a:latin typeface="Arial"/>
                <a:ea typeface="Arial"/>
                <a:cs typeface="Arial"/>
              </a:rPr>
              <a:t> </a:t>
            </a:r>
            <a:r>
              <a:rPr sz="1275" b="0" i="0" dirty="0" err="1">
                <a:solidFill>
                  <a:srgbClr val="1F3864"/>
                </a:solidFill>
                <a:latin typeface="Arial"/>
                <a:ea typeface="Arial"/>
                <a:cs typeface="Arial"/>
              </a:rPr>
              <a:t>valida</a:t>
            </a:r>
            <a:endParaRPr sz="1275" b="0" i="0" dirty="0">
              <a:solidFill>
                <a:srgbClr val="1F3864"/>
              </a:solidFill>
              <a:latin typeface="Arial"/>
              <a:ea typeface="Arial"/>
              <a:cs typeface="Arial"/>
            </a:endParaRPr>
          </a:p>
        </p:txBody>
      </p:sp>
      <p:sp>
        <p:nvSpPr>
          <p:cNvPr id="17" name="Rectangle: Rounded Corners 16">
            <a:extLst>
              <a:ext uri="{FF2B5EF4-FFF2-40B4-BE49-F238E27FC236}">
                <a16:creationId xmlns:a16="http://schemas.microsoft.com/office/drawing/2014/main" id="{AEE36F8F-BCFE-440B-B66E-302E4786FC6C}"/>
              </a:ext>
            </a:extLst>
          </p:cNvPr>
          <p:cNvSpPr>
            <a:spLocks noGrp="1"/>
          </p:cNvSpPr>
          <p:nvPr/>
        </p:nvSpPr>
        <p:spPr>
          <a:xfrm>
            <a:off x="4533900" y="4248150"/>
            <a:ext cx="3048000" cy="533400"/>
          </a:xfrm>
          <a:prstGeom prst="roundRect">
            <a:avLst>
              <a:gd name="adj" fmla="val 19048"/>
            </a:avLst>
          </a:prstGeom>
          <a:solidFill>
            <a:srgbClr val="EDF2F7"/>
          </a:solidFill>
          <a:ln w="0">
            <a:noFill/>
            <a:prstDash val="solid"/>
          </a:ln>
        </p:spPr>
        <p:txBody>
          <a:bodyPr/>
          <a:lstStyle/>
          <a:p>
            <a:endParaRPr/>
          </a:p>
        </p:txBody>
      </p:sp>
      <p:sp>
        <p:nvSpPr>
          <p:cNvPr id="18" name="Rectangle 17">
            <a:extLst>
              <a:ext uri="{FF2B5EF4-FFF2-40B4-BE49-F238E27FC236}">
                <a16:creationId xmlns:a16="http://schemas.microsoft.com/office/drawing/2014/main" id="{DF12CE61-13BA-425B-82DD-E5A3743D0861}"/>
              </a:ext>
            </a:extLst>
          </p:cNvPr>
          <p:cNvSpPr>
            <a:spLocks noGrp="1"/>
          </p:cNvSpPr>
          <p:nvPr/>
        </p:nvSpPr>
        <p:spPr>
          <a:xfrm>
            <a:off x="4667250" y="4316349"/>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dirty="0" err="1">
                <a:solidFill>
                  <a:srgbClr val="595959"/>
                </a:solidFill>
                <a:latin typeface="Arial"/>
                <a:ea typeface="Arial"/>
                <a:cs typeface="Arial"/>
              </a:rPr>
              <a:t>Conclusión</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ninguna</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alerta</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debe</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activar</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sanciones</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automáticas</a:t>
            </a:r>
            <a:endParaRPr sz="975" b="1" i="0" dirty="0">
              <a:solidFill>
                <a:srgbClr val="595959"/>
              </a:solidFill>
              <a:latin typeface="Arial"/>
              <a:ea typeface="Arial"/>
              <a:cs typeface="Arial"/>
            </a:endParaRPr>
          </a:p>
        </p:txBody>
      </p:sp>
      <p:sp>
        <p:nvSpPr>
          <p:cNvPr id="19" name="Rectangle: Rounded Corners 18">
            <a:extLst>
              <a:ext uri="{FF2B5EF4-FFF2-40B4-BE49-F238E27FC236}">
                <a16:creationId xmlns:a16="http://schemas.microsoft.com/office/drawing/2014/main" id="{7BB8EC36-DC0F-460A-9E51-6D891F8CA505}"/>
              </a:ext>
            </a:extLst>
          </p:cNvPr>
          <p:cNvSpPr>
            <a:spLocks noGrp="1"/>
          </p:cNvSpPr>
          <p:nvPr/>
        </p:nvSpPr>
        <p:spPr>
          <a:xfrm>
            <a:off x="8077200" y="1333500"/>
            <a:ext cx="3505200" cy="3524250"/>
          </a:xfrm>
          <a:prstGeom prst="roundRect">
            <a:avLst>
              <a:gd name="adj" fmla="val 4348"/>
            </a:avLst>
          </a:prstGeom>
          <a:solidFill>
            <a:srgbClr val="FFFFFF"/>
          </a:solidFill>
          <a:ln w="9525">
            <a:solidFill>
              <a:srgbClr val="EDF2F7"/>
            </a:solidFill>
            <a:prstDash val="solid"/>
          </a:ln>
        </p:spPr>
        <p:style>
          <a:lnRef idx="0">
            <a:scrgbClr r="0" g="0" b="0"/>
          </a:lnRef>
          <a:fillRef idx="0">
            <a:scrgbClr r="0" g="0" b="0"/>
          </a:fillRef>
          <a:effectRef idx="4">
            <a:scrgbClr r="0" g="0" b="0"/>
          </a:effectRef>
          <a:fontRef idx="major"/>
        </p:style>
        <p:txBody>
          <a:bodyPr/>
          <a:lstStyle/>
          <a:p>
            <a:endParaRPr/>
          </a:p>
        </p:txBody>
      </p:sp>
      <p:sp>
        <p:nvSpPr>
          <p:cNvPr id="20" name="Rectangle 19">
            <a:extLst>
              <a:ext uri="{FF2B5EF4-FFF2-40B4-BE49-F238E27FC236}">
                <a16:creationId xmlns:a16="http://schemas.microsoft.com/office/drawing/2014/main" id="{8CEF9044-0987-4A0E-BCF6-4723519DE228}"/>
              </a:ext>
            </a:extLst>
          </p:cNvPr>
          <p:cNvSpPr>
            <a:spLocks noGrp="1"/>
          </p:cNvSpPr>
          <p:nvPr/>
        </p:nvSpPr>
        <p:spPr>
          <a:xfrm>
            <a:off x="8077200" y="1333500"/>
            <a:ext cx="3505200" cy="85725"/>
          </a:xfrm>
          <a:prstGeom prst="rect">
            <a:avLst/>
          </a:prstGeom>
          <a:solidFill>
            <a:srgbClr val="2E5B8A"/>
          </a:solidFill>
          <a:ln w="0">
            <a:noFill/>
            <a:prstDash val="solid"/>
          </a:ln>
        </p:spPr>
        <p:txBody>
          <a:bodyPr/>
          <a:lstStyle/>
          <a:p>
            <a:endParaRPr/>
          </a:p>
        </p:txBody>
      </p:sp>
      <p:sp>
        <p:nvSpPr>
          <p:cNvPr id="21" name="Rectangle 20">
            <a:extLst>
              <a:ext uri="{FF2B5EF4-FFF2-40B4-BE49-F238E27FC236}">
                <a16:creationId xmlns:a16="http://schemas.microsoft.com/office/drawing/2014/main" id="{EE35B8C1-2923-4DC3-B5BB-5781EE78DF25}"/>
              </a:ext>
            </a:extLst>
          </p:cNvPr>
          <p:cNvSpPr>
            <a:spLocks noGrp="1"/>
          </p:cNvSpPr>
          <p:nvPr/>
        </p:nvSpPr>
        <p:spPr>
          <a:xfrm>
            <a:off x="8305800" y="1619250"/>
            <a:ext cx="3048000" cy="228600"/>
          </a:xfrm>
          <a:prstGeom prst="rect">
            <a:avLst/>
          </a:prstGeom>
          <a:noFill/>
          <a:ln w="0">
            <a:noFill/>
          </a:ln>
        </p:spPr>
        <p:txBody>
          <a:bodyPr anchor="t">
            <a:noAutofit/>
          </a:bodyPr>
          <a:lstStyle/>
          <a:p>
            <a:pPr algn="l">
              <a:buNone/>
              <a:defRPr sz="1050" b="1" i="0">
                <a:solidFill>
                  <a:srgbClr val="2E5B8A"/>
                </a:solidFill>
                <a:latin typeface="Arial"/>
                <a:ea typeface="Arial"/>
                <a:cs typeface="Arial"/>
              </a:defRPr>
            </a:pPr>
            <a:r>
              <a:rPr sz="1050" b="1" i="0">
                <a:solidFill>
                  <a:srgbClr val="2E5B8A"/>
                </a:solidFill>
                <a:latin typeface="Arial"/>
                <a:ea typeface="Arial"/>
                <a:cs typeface="Arial"/>
              </a:rPr>
              <a:t>CONTINUIDAD</a:t>
            </a:r>
          </a:p>
        </p:txBody>
      </p:sp>
      <p:sp>
        <p:nvSpPr>
          <p:cNvPr id="22" name="Rectangle 21">
            <a:extLst>
              <a:ext uri="{FF2B5EF4-FFF2-40B4-BE49-F238E27FC236}">
                <a16:creationId xmlns:a16="http://schemas.microsoft.com/office/drawing/2014/main" id="{203327DB-1C23-46B9-97B2-79732701D5F4}"/>
              </a:ext>
            </a:extLst>
          </p:cNvPr>
          <p:cNvSpPr>
            <a:spLocks noGrp="1"/>
          </p:cNvSpPr>
          <p:nvPr/>
        </p:nvSpPr>
        <p:spPr>
          <a:xfrm>
            <a:off x="8305800" y="2076450"/>
            <a:ext cx="3028950" cy="2114550"/>
          </a:xfrm>
          <a:prstGeom prst="rect">
            <a:avLst/>
          </a:prstGeom>
          <a:noFill/>
          <a:ln w="0">
            <a:noFill/>
          </a:ln>
        </p:spPr>
        <p:txBody>
          <a:bodyPr anchor="t">
            <a:noAutofit/>
          </a:bodyPr>
          <a:lstStyle/>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Dashboard: prevalencia, recall, precisión y PR AUC</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Seguimiento por viaje y periodo</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Incorporar nuevos datos de operación</a:t>
            </a:r>
          </a:p>
          <a:p>
            <a:pPr algn="l">
              <a:buNone/>
              <a:defRPr sz="1275" b="0" i="0">
                <a:solidFill>
                  <a:srgbClr val="1F3864"/>
                </a:solidFill>
                <a:latin typeface="Arial"/>
                <a:ea typeface="Arial"/>
                <a:cs typeface="Arial"/>
              </a:defRPr>
            </a:pPr>
            <a:r>
              <a:rPr sz="1275" b="0" i="0">
                <a:solidFill>
                  <a:srgbClr val="1F3864"/>
                </a:solidFill>
                <a:latin typeface="Arial"/>
                <a:ea typeface="Arial"/>
                <a:cs typeface="Arial"/>
              </a:rPr>
              <a:t>• Revalidar el umbral antes del despliegue</a:t>
            </a:r>
          </a:p>
        </p:txBody>
      </p:sp>
      <p:sp>
        <p:nvSpPr>
          <p:cNvPr id="23" name="Rectangle: Rounded Corners 22">
            <a:extLst>
              <a:ext uri="{FF2B5EF4-FFF2-40B4-BE49-F238E27FC236}">
                <a16:creationId xmlns:a16="http://schemas.microsoft.com/office/drawing/2014/main" id="{572057B4-1402-4257-8A2E-E1571D57E9B4}"/>
              </a:ext>
            </a:extLst>
          </p:cNvPr>
          <p:cNvSpPr>
            <a:spLocks noGrp="1"/>
          </p:cNvSpPr>
          <p:nvPr/>
        </p:nvSpPr>
        <p:spPr>
          <a:xfrm>
            <a:off x="8305800" y="4248150"/>
            <a:ext cx="3048000" cy="533400"/>
          </a:xfrm>
          <a:prstGeom prst="roundRect">
            <a:avLst>
              <a:gd name="adj" fmla="val 19048"/>
            </a:avLst>
          </a:prstGeom>
          <a:solidFill>
            <a:srgbClr val="EDF2F7"/>
          </a:solidFill>
          <a:ln w="0">
            <a:noFill/>
            <a:prstDash val="solid"/>
          </a:ln>
        </p:spPr>
        <p:txBody>
          <a:bodyPr/>
          <a:lstStyle/>
          <a:p>
            <a:endParaRPr/>
          </a:p>
        </p:txBody>
      </p:sp>
      <p:sp>
        <p:nvSpPr>
          <p:cNvPr id="24" name="Rectangle 23">
            <a:extLst>
              <a:ext uri="{FF2B5EF4-FFF2-40B4-BE49-F238E27FC236}">
                <a16:creationId xmlns:a16="http://schemas.microsoft.com/office/drawing/2014/main" id="{5C8FDE6E-9B00-4B56-884D-0BACFBA42203}"/>
              </a:ext>
            </a:extLst>
          </p:cNvPr>
          <p:cNvSpPr>
            <a:spLocks noGrp="1"/>
          </p:cNvSpPr>
          <p:nvPr/>
        </p:nvSpPr>
        <p:spPr>
          <a:xfrm>
            <a:off x="8439150" y="4316349"/>
            <a:ext cx="2781300" cy="200025"/>
          </a:xfrm>
          <a:prstGeom prst="rect">
            <a:avLst/>
          </a:prstGeom>
          <a:noFill/>
          <a:ln w="0">
            <a:noFill/>
          </a:ln>
        </p:spPr>
        <p:txBody>
          <a:bodyPr anchor="t">
            <a:noAutofit/>
          </a:bodyPr>
          <a:lstStyle/>
          <a:p>
            <a:pPr algn="l">
              <a:buNone/>
              <a:defRPr sz="975" b="1" i="0">
                <a:solidFill>
                  <a:srgbClr val="595959"/>
                </a:solidFill>
                <a:latin typeface="Arial"/>
                <a:ea typeface="Arial"/>
                <a:cs typeface="Arial"/>
              </a:defRPr>
            </a:pPr>
            <a:r>
              <a:rPr sz="975" b="1" i="0" dirty="0" err="1">
                <a:solidFill>
                  <a:srgbClr val="595959"/>
                </a:solidFill>
                <a:latin typeface="Arial"/>
                <a:ea typeface="Arial"/>
                <a:cs typeface="Arial"/>
              </a:rPr>
              <a:t>Conclusión</a:t>
            </a:r>
            <a:r>
              <a:rPr sz="975" b="1" i="0" dirty="0">
                <a:solidFill>
                  <a:srgbClr val="595959"/>
                </a:solidFill>
                <a:latin typeface="Arial"/>
                <a:ea typeface="Arial"/>
                <a:cs typeface="Arial"/>
              </a:rPr>
              <a:t>: el </a:t>
            </a:r>
            <a:r>
              <a:rPr sz="975" b="1" i="0" dirty="0" err="1">
                <a:solidFill>
                  <a:srgbClr val="595959"/>
                </a:solidFill>
                <a:latin typeface="Arial"/>
                <a:ea typeface="Arial"/>
                <a:cs typeface="Arial"/>
              </a:rPr>
              <a:t>Módulo</a:t>
            </a:r>
            <a:r>
              <a:rPr sz="975" b="1" i="0" dirty="0">
                <a:solidFill>
                  <a:srgbClr val="595959"/>
                </a:solidFill>
                <a:latin typeface="Arial"/>
                <a:ea typeface="Arial"/>
                <a:cs typeface="Arial"/>
              </a:rPr>
              <a:t> 4 </a:t>
            </a:r>
            <a:r>
              <a:rPr sz="975" b="1" i="0" dirty="0" err="1">
                <a:solidFill>
                  <a:srgbClr val="595959"/>
                </a:solidFill>
                <a:latin typeface="Arial"/>
                <a:ea typeface="Arial"/>
                <a:cs typeface="Arial"/>
              </a:rPr>
              <a:t>debe</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vigilar</a:t>
            </a:r>
            <a:r>
              <a:rPr sz="975" b="1" i="0" dirty="0">
                <a:solidFill>
                  <a:srgbClr val="595959"/>
                </a:solidFill>
                <a:latin typeface="Arial"/>
                <a:ea typeface="Arial"/>
                <a:cs typeface="Arial"/>
              </a:rPr>
              <a:t> </a:t>
            </a:r>
            <a:r>
              <a:rPr sz="975" b="1" i="0" dirty="0" err="1">
                <a:solidFill>
                  <a:srgbClr val="595959"/>
                </a:solidFill>
                <a:latin typeface="Arial"/>
                <a:ea typeface="Arial"/>
                <a:cs typeface="Arial"/>
              </a:rPr>
              <a:t>desempeño</a:t>
            </a:r>
            <a:r>
              <a:rPr sz="975" b="1" i="0" dirty="0">
                <a:solidFill>
                  <a:srgbClr val="595959"/>
                </a:solidFill>
                <a:latin typeface="Arial"/>
                <a:ea typeface="Arial"/>
                <a:cs typeface="Arial"/>
              </a:rPr>
              <a:t> y </a:t>
            </a:r>
            <a:r>
              <a:rPr sz="975" b="1" i="0" dirty="0" err="1">
                <a:solidFill>
                  <a:srgbClr val="595959"/>
                </a:solidFill>
                <a:latin typeface="Arial"/>
                <a:ea typeface="Arial"/>
                <a:cs typeface="Arial"/>
              </a:rPr>
              <a:t>errores</a:t>
            </a:r>
            <a:endParaRPr sz="975" b="1" i="0" dirty="0">
              <a:solidFill>
                <a:srgbClr val="595959"/>
              </a:solidFill>
              <a:latin typeface="Arial"/>
              <a:ea typeface="Arial"/>
              <a:cs typeface="Arial"/>
            </a:endParaRPr>
          </a:p>
        </p:txBody>
      </p:sp>
      <p:sp>
        <p:nvSpPr>
          <p:cNvPr id="25" name="Rectangle: Rounded Corners 24">
            <a:extLst>
              <a:ext uri="{FF2B5EF4-FFF2-40B4-BE49-F238E27FC236}">
                <a16:creationId xmlns:a16="http://schemas.microsoft.com/office/drawing/2014/main" id="{76F72F8D-86F6-41D1-96B6-9F78CE3F93F3}"/>
              </a:ext>
            </a:extLst>
          </p:cNvPr>
          <p:cNvSpPr>
            <a:spLocks noGrp="1"/>
          </p:cNvSpPr>
          <p:nvPr/>
        </p:nvSpPr>
        <p:spPr>
          <a:xfrm>
            <a:off x="533400" y="5143500"/>
            <a:ext cx="11125200" cy="876300"/>
          </a:xfrm>
          <a:prstGeom prst="roundRect">
            <a:avLst>
              <a:gd name="adj" fmla="val 15217"/>
            </a:avLst>
          </a:prstGeom>
          <a:solidFill>
            <a:srgbClr val="1F3864"/>
          </a:solidFill>
          <a:ln w="0">
            <a:noFill/>
            <a:prstDash val="solid"/>
          </a:ln>
        </p:spPr>
        <p:txBody>
          <a:bodyPr/>
          <a:lstStyle/>
          <a:p>
            <a:endParaRPr/>
          </a:p>
        </p:txBody>
      </p:sp>
      <p:sp>
        <p:nvSpPr>
          <p:cNvPr id="26" name="Rectangle 25">
            <a:extLst>
              <a:ext uri="{FF2B5EF4-FFF2-40B4-BE49-F238E27FC236}">
                <a16:creationId xmlns:a16="http://schemas.microsoft.com/office/drawing/2014/main" id="{C807D511-23B4-4CEC-9FC8-CFC59497BA39}"/>
              </a:ext>
            </a:extLst>
          </p:cNvPr>
          <p:cNvSpPr>
            <a:spLocks noGrp="1"/>
          </p:cNvSpPr>
          <p:nvPr/>
        </p:nvSpPr>
        <p:spPr>
          <a:xfrm>
            <a:off x="781050" y="5305425"/>
            <a:ext cx="1714500" cy="171450"/>
          </a:xfrm>
          <a:prstGeom prst="rect">
            <a:avLst/>
          </a:prstGeom>
          <a:noFill/>
          <a:ln w="0">
            <a:noFill/>
          </a:ln>
        </p:spPr>
        <p:txBody>
          <a:bodyPr anchor="t">
            <a:noAutofit/>
          </a:bodyPr>
          <a:lstStyle/>
          <a:p>
            <a:pPr algn="l">
              <a:buNone/>
              <a:defRPr sz="900" b="1" i="0">
                <a:solidFill>
                  <a:srgbClr val="2E5B8A"/>
                </a:solidFill>
                <a:latin typeface="Arial"/>
                <a:ea typeface="Arial"/>
                <a:cs typeface="Arial"/>
              </a:defRPr>
            </a:pPr>
            <a:r>
              <a:rPr sz="900" b="1" i="0">
                <a:solidFill>
                  <a:srgbClr val="2E5B8A"/>
                </a:solidFill>
                <a:latin typeface="Arial"/>
                <a:ea typeface="Arial"/>
                <a:cs typeface="Arial"/>
              </a:rPr>
              <a:t>PRÓXIMO PASO</a:t>
            </a:r>
          </a:p>
        </p:txBody>
      </p:sp>
      <p:sp>
        <p:nvSpPr>
          <p:cNvPr id="27" name="Rectangle 26">
            <a:extLst>
              <a:ext uri="{FF2B5EF4-FFF2-40B4-BE49-F238E27FC236}">
                <a16:creationId xmlns:a16="http://schemas.microsoft.com/office/drawing/2014/main" id="{83C7D53B-A00D-4F8C-88F7-CE02F95309A7}"/>
              </a:ext>
            </a:extLst>
          </p:cNvPr>
          <p:cNvSpPr>
            <a:spLocks noGrp="1"/>
          </p:cNvSpPr>
          <p:nvPr/>
        </p:nvSpPr>
        <p:spPr>
          <a:xfrm>
            <a:off x="781050" y="5543550"/>
            <a:ext cx="7000875" cy="285750"/>
          </a:xfrm>
          <a:prstGeom prst="rect">
            <a:avLst/>
          </a:prstGeom>
          <a:noFill/>
          <a:ln w="0">
            <a:noFill/>
          </a:ln>
        </p:spPr>
        <p:txBody>
          <a:bodyPr anchor="t">
            <a:noAutofit/>
          </a:bodyPr>
          <a:lstStyle/>
          <a:p>
            <a:pPr algn="l">
              <a:buNone/>
              <a:defRPr sz="1575" b="1" i="0">
                <a:solidFill>
                  <a:srgbClr val="FFFFFF"/>
                </a:solidFill>
                <a:latin typeface="Arial"/>
                <a:ea typeface="Arial"/>
                <a:cs typeface="Arial"/>
              </a:defRPr>
            </a:pPr>
            <a:r>
              <a:rPr sz="1575" b="1" i="0">
                <a:solidFill>
                  <a:srgbClr val="FFFFFF"/>
                </a:solidFill>
                <a:latin typeface="Arial"/>
                <a:ea typeface="Arial"/>
                <a:cs typeface="Arial"/>
              </a:rPr>
              <a:t>Costear FP y FN con Operaciones y Analítica. Fecha por acordar.</a:t>
            </a:r>
          </a:p>
        </p:txBody>
      </p:sp>
      <p:sp>
        <p:nvSpPr>
          <p:cNvPr id="28" name="Rectangle 27">
            <a:extLst>
              <a:ext uri="{FF2B5EF4-FFF2-40B4-BE49-F238E27FC236}">
                <a16:creationId xmlns:a16="http://schemas.microsoft.com/office/drawing/2014/main" id="{36859E87-A1AC-48FA-9A12-5BEAE2154FCD}"/>
              </a:ext>
            </a:extLst>
          </p:cNvPr>
          <p:cNvSpPr>
            <a:spLocks noGrp="1"/>
          </p:cNvSpPr>
          <p:nvPr/>
        </p:nvSpPr>
        <p:spPr>
          <a:xfrm>
            <a:off x="7448550" y="5476875"/>
            <a:ext cx="3829051" cy="342900"/>
          </a:xfrm>
          <a:prstGeom prst="rect">
            <a:avLst/>
          </a:prstGeom>
          <a:noFill/>
          <a:ln w="0">
            <a:noFill/>
          </a:ln>
        </p:spPr>
        <p:txBody>
          <a:bodyPr anchor="t">
            <a:noAutofit/>
          </a:bodyPr>
          <a:lstStyle/>
          <a:p>
            <a:pPr algn="r">
              <a:buNone/>
              <a:defRPr sz="1125" b="0" i="0">
                <a:solidFill>
                  <a:srgbClr val="EDF2F7"/>
                </a:solidFill>
                <a:latin typeface="Arial"/>
                <a:ea typeface="Arial"/>
                <a:cs typeface="Arial"/>
              </a:defRPr>
            </a:pPr>
            <a:r>
              <a:rPr sz="1125" b="0" i="0" dirty="0">
                <a:solidFill>
                  <a:srgbClr val="EDF2F7"/>
                </a:solidFill>
                <a:latin typeface="Arial"/>
                <a:ea typeface="Arial"/>
                <a:cs typeface="Arial"/>
              </a:rPr>
              <a:t>Cierre: una </a:t>
            </a:r>
            <a:r>
              <a:rPr sz="1125" b="0" i="0" dirty="0" err="1">
                <a:solidFill>
                  <a:srgbClr val="EDF2F7"/>
                </a:solidFill>
                <a:latin typeface="Arial"/>
                <a:ea typeface="Arial"/>
                <a:cs typeface="Arial"/>
              </a:rPr>
              <a:t>señal</a:t>
            </a:r>
            <a:r>
              <a:rPr sz="1125" b="0" i="0" dirty="0">
                <a:solidFill>
                  <a:srgbClr val="EDF2F7"/>
                </a:solidFill>
                <a:latin typeface="Arial"/>
                <a:ea typeface="Arial"/>
                <a:cs typeface="Arial"/>
              </a:rPr>
              <a:t> </a:t>
            </a:r>
            <a:r>
              <a:rPr sz="1125" b="0" i="0" dirty="0" err="1">
                <a:solidFill>
                  <a:srgbClr val="EDF2F7"/>
                </a:solidFill>
                <a:latin typeface="Arial"/>
                <a:ea typeface="Arial"/>
                <a:cs typeface="Arial"/>
              </a:rPr>
              <a:t>temprana</a:t>
            </a:r>
            <a:r>
              <a:rPr sz="1125" b="0" i="0" dirty="0">
                <a:solidFill>
                  <a:srgbClr val="EDF2F7"/>
                </a:solidFill>
                <a:latin typeface="Arial"/>
                <a:ea typeface="Arial"/>
                <a:cs typeface="Arial"/>
              </a:rPr>
              <a:t> para </a:t>
            </a:r>
            <a:r>
              <a:rPr sz="1125" b="0" i="0" dirty="0" err="1">
                <a:solidFill>
                  <a:srgbClr val="EDF2F7"/>
                </a:solidFill>
                <a:latin typeface="Arial"/>
                <a:ea typeface="Arial"/>
                <a:cs typeface="Arial"/>
              </a:rPr>
              <a:t>priorizar</a:t>
            </a:r>
            <a:r>
              <a:rPr sz="1125" b="0" i="0" dirty="0">
                <a:solidFill>
                  <a:srgbClr val="EDF2F7"/>
                </a:solidFill>
                <a:latin typeface="Arial"/>
                <a:ea typeface="Arial"/>
                <a:cs typeface="Arial"/>
              </a:rPr>
              <a:t> </a:t>
            </a:r>
            <a:r>
              <a:rPr sz="1125" b="0" i="0" dirty="0" err="1">
                <a:solidFill>
                  <a:srgbClr val="EDF2F7"/>
                </a:solidFill>
                <a:latin typeface="Arial"/>
                <a:ea typeface="Arial"/>
                <a:cs typeface="Arial"/>
              </a:rPr>
              <a:t>revisión</a:t>
            </a:r>
            <a:r>
              <a:rPr sz="1125" b="0" i="0" dirty="0">
                <a:solidFill>
                  <a:srgbClr val="EDF2F7"/>
                </a:solidFill>
                <a:latin typeface="Arial"/>
                <a:ea typeface="Arial"/>
                <a:cs typeface="Arial"/>
              </a:rPr>
              <a:t> humana</a:t>
            </a:r>
          </a:p>
        </p:txBody>
      </p:sp>
    </p:spTree>
    <p:extLst>
      <p:ext uri="{BB962C8B-B14F-4D97-AF65-F5344CB8AC3E}">
        <p14:creationId xmlns:p14="http://schemas.microsoft.com/office/powerpoint/2010/main" val="1018350737"/>
      </p:ext>
    </p:extLst>
  </p:cSld>
  <p:clrMapOvr>
    <a:masterClrMapping/>
  </p:clrMapOvr>
</p:sld>
</file>

<file path=ppt/theme/theme1.xml><?xml version="1.0" encoding="utf-8"?>
<a:theme xmlns:a="http://schemas.openxmlformats.org/drawingml/2006/main" name="ChatGPT">
  <a:themeElements>
    <a:clrScheme name="GIAD Módulo 3">
      <a:dk1>
        <a:srgbClr val="000000"/>
      </a:dk1>
      <a:lt1>
        <a:srgbClr val="FFFFFF"/>
      </a:lt1>
      <a:dk2>
        <a:srgbClr val="1F3864"/>
      </a:dk2>
      <a:lt2>
        <a:srgbClr val="EDF2F7"/>
      </a:lt2>
      <a:accent1>
        <a:srgbClr val="2E5B8A"/>
      </a:accent1>
      <a:accent2>
        <a:srgbClr val="2E5B8A"/>
      </a:accent2>
      <a:accent3>
        <a:srgbClr val="2E5B8A"/>
      </a:accent3>
      <a:accent4>
        <a:srgbClr val="2E5B8A"/>
      </a:accent4>
      <a:accent5>
        <a:srgbClr val="1F3864"/>
      </a:accent5>
      <a:accent6>
        <a:srgbClr val="2E5B8A"/>
      </a:accent6>
      <a:hlink>
        <a:srgbClr val="2E5B8A"/>
      </a:hlink>
      <a:folHlink>
        <a:srgbClr val="2E5B8A"/>
      </a:folHlink>
    </a:clrScheme>
    <a:fontScheme name="Office">
      <a:majorFont>
        <a:latin typeface="Arial"/>
        <a:ea typeface="Arial"/>
        <a:cs typeface="Arial"/>
      </a:majorFont>
      <a:minorFont>
        <a:latin typeface="Arial"/>
        <a:ea typeface="Arial"/>
        <a:cs typeface="Arial"/>
      </a:minorFont>
    </a:fontScheme>
    <a:fmtScheme name="GIAD Módulo 3">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GIAD Módulo 3">
      <a:dk1>
        <a:srgbClr val="000000"/>
      </a:dk1>
      <a:lt1>
        <a:srgbClr val="FFFFFF"/>
      </a:lt1>
      <a:dk2>
        <a:srgbClr val="1F3864"/>
      </a:dk2>
      <a:lt2>
        <a:srgbClr val="EDF2F7"/>
      </a:lt2>
      <a:accent1>
        <a:srgbClr val="2E5B8A"/>
      </a:accent1>
      <a:accent2>
        <a:srgbClr val="2E5B8A"/>
      </a:accent2>
      <a:accent3>
        <a:srgbClr val="2E5B8A"/>
      </a:accent3>
      <a:accent4>
        <a:srgbClr val="2E5B8A"/>
      </a:accent4>
      <a:accent5>
        <a:srgbClr val="1F3864"/>
      </a:accent5>
      <a:accent6>
        <a:srgbClr val="2E5B8A"/>
      </a:accent6>
      <a:hlink>
        <a:srgbClr val="2E5B8A"/>
      </a:hlink>
      <a:folHlink>
        <a:srgbClr val="2E5B8A"/>
      </a:folHlink>
    </a:clrScheme>
    <a:fontScheme name="Office">
      <a:majorFont>
        <a:latin typeface="Arial"/>
        <a:ea typeface="Arial"/>
        <a:cs typeface="Arial"/>
      </a:majorFont>
      <a:minorFont>
        <a:latin typeface="Arial"/>
        <a:ea typeface="Arial"/>
        <a:cs typeface="Arial"/>
      </a:minorFont>
    </a:fontScheme>
    <a:fmtScheme name="GIAD Módulo 3">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1737</Words>
  <Application>Microsoft Office PowerPoint</Application>
  <DocSecurity>0</DocSecurity>
  <PresentationFormat>Widescreen</PresentationFormat>
  <Paragraphs>290</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Rembert Rodrigo Tucuman Alarcon</cp:lastModifiedBy>
  <cp:revision>1</cp:revision>
  <dcterms:created xsi:type="dcterms:W3CDTF">2026-09-28T18:26:17Z</dcterms:created>
  <dcterms:modified xsi:type="dcterms:W3CDTF">2026-09-28T21:53:30Z</dcterms:modified>
</cp:coreProperties>
</file>